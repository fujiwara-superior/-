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プランA 学科オンライン</c:v>
                </c:pt>
              </c:strCache>
            </c:strRef>
          </c:tx>
          <c:spPr>
            <a:solidFill>
              <a:srgbClr val="16324F"/>
            </a:solidFill>
            <a:effectLst/>
          </c:spPr>
          <c:invertIfNegative val="0"/>
          <c:dLbls>
            <c:numFmt formatCode="#,##0&quot;万円&quot;" sourceLinked="0"/>
            <c:txPr>
              <a:bodyPr/>
              <a:lstStyle/>
              <a:p>
                <a:pPr>
                  <a:defRPr b="0" i="0" strike="noStrike" sz="1100" u="none">
                    <a:solidFill>
                      <a:srgbClr val="FFFFFF"/>
                    </a:solidFill>
                    <a:latin typeface="Meiryo"/>
                  </a:defRPr>
                </a:pPr>
              </a:p>
            </c:txPr>
            <c:dLblPos val="ctr"/>
            <c:showLegendKey val="0"/>
            <c:showVal val="1"/>
            <c:showCatName val="0"/>
            <c:showSerName val="0"/>
            <c:showPercent val="0"/>
            <c:showBubbleSize val="0"/>
            <c:showLeaderLines val="0"/>
          </c:dLbls>
          <c:cat>
            <c:multiLvlStrRef>
              <c:f>Sheet1!$A$2:$A$4</c:f>
              <c:multiLvlStrCache>
                <c:ptCount val="3"/>
                <c:lvl>
                  <c:pt idx="0">
                    <c:v>1年目</c:v>
                  </c:pt>
                  <c:pt idx="1">
                    <c:v>2年目</c:v>
                  </c:pt>
                  <c:pt idx="2">
                    <c:v>3年目</c:v>
                  </c:pt>
                </c:lvl>
              </c:multiLvlStrCache>
            </c:multiLvlStrRef>
          </c:cat>
          <c:val>
            <c:numRef>
              <c:f>Sheet1!$B$2:$B$4</c:f>
              <c:numCache>
                <c:formatCode>General</c:formatCode>
                <c:ptCount val="3"/>
                <c:pt idx="0">
                  <c:v>250</c:v>
                </c:pt>
                <c:pt idx="1">
                  <c:v>600</c:v>
                </c:pt>
                <c:pt idx="2">
                  <c:v>1100</c:v>
                </c:pt>
              </c:numCache>
            </c:numRef>
          </c:val>
        </c:ser>
        <c:ser>
          <c:idx val="1"/>
          <c:order val="1"/>
          <c:tx>
            <c:strRef>
              <c:f>Sheet1!$C$1</c:f>
              <c:strCache>
                <c:ptCount val="1"/>
                <c:pt idx="0">
                  <c:v>プランB 学科＋実技</c:v>
                </c:pt>
              </c:strCache>
            </c:strRef>
          </c:tx>
          <c:spPr>
            <a:solidFill>
              <a:srgbClr val="3E6B8C"/>
            </a:solidFill>
            <a:effectLst/>
          </c:spPr>
          <c:invertIfNegative val="0"/>
          <c:dLbls>
            <c:numFmt formatCode="#,##0&quot;万円&quot;" sourceLinked="0"/>
            <c:txPr>
              <a:bodyPr/>
              <a:lstStyle/>
              <a:p>
                <a:pPr>
                  <a:defRPr b="0" i="0" strike="noStrike" sz="1100" u="none">
                    <a:solidFill>
                      <a:srgbClr val="FFFFFF"/>
                    </a:solidFill>
                    <a:latin typeface="Meiryo"/>
                  </a:defRPr>
                </a:pPr>
              </a:p>
            </c:txPr>
            <c:dLblPos val="ctr"/>
            <c:showLegendKey val="0"/>
            <c:showVal val="1"/>
            <c:showCatName val="0"/>
            <c:showSerName val="0"/>
            <c:showPercent val="0"/>
            <c:showBubbleSize val="0"/>
            <c:showLeaderLines val="0"/>
          </c:dLbls>
          <c:cat>
            <c:multiLvlStrRef>
              <c:f>Sheet1!$A$2:$A$4</c:f>
              <c:multiLvlStrCache>
                <c:ptCount val="3"/>
                <c:lvl>
                  <c:pt idx="0">
                    <c:v>1年目</c:v>
                  </c:pt>
                  <c:pt idx="1">
                    <c:v>2年目</c:v>
                  </c:pt>
                  <c:pt idx="2">
                    <c:v>3年目</c:v>
                  </c:pt>
                </c:lvl>
              </c:multiLvlStrCache>
            </c:multiLvlStrRef>
          </c:cat>
          <c:val>
            <c:numRef>
              <c:f>Sheet1!$C$2:$C$4</c:f>
              <c:numCache>
                <c:formatCode>General</c:formatCode>
                <c:ptCount val="3"/>
                <c:pt idx="0">
                  <c:v>90</c:v>
                </c:pt>
                <c:pt idx="1">
                  <c:v>360</c:v>
                </c:pt>
                <c:pt idx="2">
                  <c:v>720</c:v>
                </c:pt>
              </c:numCache>
            </c:numRef>
          </c:val>
        </c:ser>
        <c:dLbls>
          <c:numFmt formatCode="#,##0&quot;万円&quot;" sourceLinked="0"/>
          <c:txPr>
            <a:bodyPr/>
            <a:lstStyle/>
            <a:p>
              <a:pPr>
                <a:defRPr b="0" i="0" strike="noStrike" sz="1100" u="none">
                  <a:solidFill>
                    <a:srgbClr val="FFFFFF"/>
                  </a:solidFill>
                  <a:latin typeface="Meiryo"/>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C2A38"/>
                </a:solidFill>
                <a:latin typeface="Meiryo"/>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8EC"/>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6B7B8A"/>
                </a:solidFill>
                <a:latin typeface="Meiryo"/>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C2A38"/>
              </a:solidFill>
              <a:latin typeface="Meiryo"/>
              <a:cs typeface="Meiryo"/>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本日は、聖建様が新規事業として建設業の特別教育をオンライン提供するための仕組みをご提案します。結論から申し上げると、実現可能です。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4点に要約しています。特に03が今回の肝で、お困りごととして挙がった本人確認が、そのまま商品の差別化要素になります。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まず認識のズレがないか確認させてください。ご回答はすべて本提案に反映しています。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市場は十分にあります。特にテールゲートリフターは2024年に義務化されたばかりで、まだ受講が行き渡っていません。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技能講習と混同されがちですが、特別教育は登録不要です。ここが参入できる根拠であり、同時に競合も入りやすい領域だという意味でもあります。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この3つがクリアできれば、法令上は問題なく提供できます。3番目の記録保存はご相談時に未定とのことでしたので、システム側で自動化する前提で設計しています。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ここが本提案の中核です。お困りごととして挙げられた本人確認と受講確認は、法令要件そのものであり、同時に商品の価値でもあります。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聖建様の運営負荷を下げることを重視しています。特に本人確認の承認と実技日程の管理は、日々の運用で最も手間がかかる部分です。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プランAを用意することで、実技会場のキャパシティに売上が縛られなくなります。これは事業の伸ばし方として重要な設計です。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企業管理ポータルがあると、発注企業のご担当者が自分で進捗を見られるため、聖建様への問い合わせ対応が大きく減ります。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ここは営業トークとしてそのまま使える部分です。他社が価格を下げてきても、証明力で差をつけられます。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C案は一見安く見えますが、外販が前提の今回のモデルでは契約上使えない可能性が高いです。ここは必ず確認が必要な論点です。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結論はB案スタートです。ただし講師の当てがすでにあるならA案から始めても構いません。当日ご相談させてください。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プランCのストック化が、事業を安定させる鍵です。単発の受講販売だけだと、毎年ゼロから営業することになります。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あくまで仮試算です。ここは当日、聖建様の営業リソースや既存の取引先の数を伺ったうえで、現実的な数字に置き換えたいと考えています。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一括で作り切らず、フェーズごとに判断できる形にしています。予算が未定という状況では、この進め方が最もリスクが小さいと考えます。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金額は概算です。まずフェーズ0で要件を固めてから、正式なお見積りをお出しします。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特に1番目の個人情報は、社内利用と外部提供では求められる水準が違います。ここは最初に固めておくべき部分です。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補助金ありきで事業を設計するのは危険ですが、フェーズ1の初期投資を軽くする手段としては有効です。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当日は、右側の5点を中心に議論できればと思います。特に1番目の科目選定と2番目の実技会場は、事業の形を決める部分です。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本日はありがとうございました。ご質問をお受けします。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D2E"/>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16324F"/>
          </a:solidFill>
          <a:ln/>
        </p:spPr>
      </p:sp>
      <p:sp>
        <p:nvSpPr>
          <p:cNvPr id="3" name="Shape 1"/>
          <p:cNvSpPr/>
          <p:nvPr/>
        </p:nvSpPr>
        <p:spPr>
          <a:xfrm>
            <a:off x="10881360" y="4846320"/>
            <a:ext cx="2377440" cy="2377440"/>
          </a:xfrm>
          <a:prstGeom prst="ellipse">
            <a:avLst/>
          </a:prstGeom>
          <a:solidFill>
            <a:srgbClr val="16324F"/>
          </a:solidFill>
          <a:ln/>
        </p:spPr>
      </p:sp>
      <p:sp>
        <p:nvSpPr>
          <p:cNvPr id="4" name="Shape 2"/>
          <p:cNvSpPr/>
          <p:nvPr/>
        </p:nvSpPr>
        <p:spPr>
          <a:xfrm>
            <a:off x="822960" y="932688"/>
            <a:ext cx="2377440" cy="365760"/>
          </a:xfrm>
          <a:prstGeom prst="roundRect">
            <a:avLst>
              <a:gd name="adj" fmla="val 50000"/>
            </a:avLst>
          </a:prstGeom>
          <a:solidFill>
            <a:srgbClr val="E8960C"/>
          </a:solidFill>
          <a:ln/>
        </p:spPr>
      </p:sp>
      <p:sp>
        <p:nvSpPr>
          <p:cNvPr id="5" name="Text 3"/>
          <p:cNvSpPr txBox="1"/>
          <p:nvPr/>
        </p:nvSpPr>
        <p:spPr>
          <a:xfrm>
            <a:off x="822960" y="932688"/>
            <a:ext cx="2377440" cy="365760"/>
          </a:xfrm>
          <a:prstGeom prst="rect">
            <a:avLst/>
          </a:prstGeom>
          <a:noFill/>
          <a:ln/>
        </p:spPr>
        <p:txBody>
          <a:bodyPr wrap="square" lIns="0" tIns="0" rIns="0" bIns="0" rtlCol="0" anchor="ctr"/>
          <a:lstStyle/>
          <a:p>
            <a:pPr algn="ctr" indent="0" marL="0">
              <a:buNone/>
            </a:pPr>
            <a:r>
              <a:rPr lang="en-US" sz="1200" b="1" dirty="0">
                <a:solidFill>
                  <a:srgbClr val="0C1D2E"/>
                </a:solidFill>
                <a:latin typeface="Meiryo" pitchFamily="34" charset="0"/>
                <a:ea typeface="Meiryo" pitchFamily="34" charset="-122"/>
                <a:cs typeface="Meiryo" pitchFamily="34" charset="-120"/>
              </a:rPr>
              <a:t>株式会社聖建 御中</a:t>
            </a:r>
            <a:endParaRPr lang="en-US" sz="1200" dirty="0"/>
          </a:p>
        </p:txBody>
      </p:sp>
      <p:sp>
        <p:nvSpPr>
          <p:cNvPr id="6" name="Text 4"/>
          <p:cNvSpPr txBox="1"/>
          <p:nvPr/>
        </p:nvSpPr>
        <p:spPr>
          <a:xfrm>
            <a:off x="822960" y="1691640"/>
            <a:ext cx="9601200" cy="868680"/>
          </a:xfrm>
          <a:prstGeom prst="rect">
            <a:avLst/>
          </a:prstGeom>
          <a:noFill/>
          <a:ln/>
        </p:spPr>
        <p:txBody>
          <a:bodyPr wrap="square" lIns="0" tIns="0" rIns="0" bIns="0" rtlCol="0" anchor="ctr"/>
          <a:lstStyle/>
          <a:p>
            <a:pPr indent="0" marL="0">
              <a:buNone/>
            </a:pPr>
            <a:r>
              <a:rPr lang="en-US" sz="4400" b="1" dirty="0">
                <a:solidFill>
                  <a:srgbClr val="FFFFFF"/>
                </a:solidFill>
                <a:latin typeface="Meiryo" pitchFamily="34" charset="0"/>
                <a:ea typeface="Meiryo" pitchFamily="34" charset="-122"/>
                <a:cs typeface="Meiryo" pitchFamily="34" charset="-120"/>
              </a:rPr>
              <a:t>建設業 特別教育</a:t>
            </a:r>
            <a:endParaRPr lang="en-US" sz="4400" dirty="0"/>
          </a:p>
        </p:txBody>
      </p:sp>
      <p:sp>
        <p:nvSpPr>
          <p:cNvPr id="7" name="Text 5"/>
          <p:cNvSpPr txBox="1"/>
          <p:nvPr/>
        </p:nvSpPr>
        <p:spPr>
          <a:xfrm>
            <a:off x="822960" y="2578608"/>
            <a:ext cx="9875520" cy="731520"/>
          </a:xfrm>
          <a:prstGeom prst="rect">
            <a:avLst/>
          </a:prstGeom>
          <a:noFill/>
          <a:ln/>
        </p:spPr>
        <p:txBody>
          <a:bodyPr wrap="square" lIns="0" tIns="0" rIns="0" bIns="0" rtlCol="0" anchor="ctr"/>
          <a:lstStyle/>
          <a:p>
            <a:pPr indent="0" marL="0">
              <a:buNone/>
            </a:pPr>
            <a:r>
              <a:rPr lang="en-US" sz="3000" b="1" dirty="0">
                <a:solidFill>
                  <a:srgbClr val="E8960C"/>
                </a:solidFill>
                <a:latin typeface="Meiryo" pitchFamily="34" charset="0"/>
                <a:ea typeface="Meiryo" pitchFamily="34" charset="-122"/>
                <a:cs typeface="Meiryo" pitchFamily="34" charset="-120"/>
              </a:rPr>
              <a:t>オンライン受講プラットフォーム 構築のご提案</a:t>
            </a:r>
            <a:endParaRPr lang="en-US" sz="3000" dirty="0"/>
          </a:p>
        </p:txBody>
      </p:sp>
      <p:sp>
        <p:nvSpPr>
          <p:cNvPr id="8" name="Text 6"/>
          <p:cNvSpPr txBox="1"/>
          <p:nvPr/>
        </p:nvSpPr>
        <p:spPr>
          <a:xfrm>
            <a:off x="822960" y="3611880"/>
            <a:ext cx="9601200" cy="365760"/>
          </a:xfrm>
          <a:prstGeom prst="rect">
            <a:avLst/>
          </a:prstGeom>
          <a:noFill/>
          <a:ln/>
        </p:spPr>
        <p:txBody>
          <a:bodyPr wrap="square" lIns="0" tIns="0" rIns="0" bIns="0" rtlCol="0" anchor="ctr"/>
          <a:lstStyle/>
          <a:p>
            <a:pPr indent="0" marL="0">
              <a:buNone/>
            </a:pPr>
            <a:r>
              <a:rPr lang="en-US" sz="1500" dirty="0">
                <a:solidFill>
                  <a:srgbClr val="C3D2DF"/>
                </a:solidFill>
                <a:latin typeface="Meiryo" pitchFamily="34" charset="0"/>
                <a:ea typeface="Meiryo" pitchFamily="34" charset="-122"/>
                <a:cs typeface="Meiryo" pitchFamily="34" charset="-120"/>
              </a:rPr>
              <a:t>学科eラーニング  ×  本人確認  ×  実技対面 ─ 新規事業としての立ち上げ</a:t>
            </a:r>
            <a:endParaRPr lang="en-US" sz="1500" dirty="0"/>
          </a:p>
        </p:txBody>
      </p:sp>
      <p:sp>
        <p:nvSpPr>
          <p:cNvPr id="9" name="Shape 7"/>
          <p:cNvSpPr/>
          <p:nvPr/>
        </p:nvSpPr>
        <p:spPr>
          <a:xfrm>
            <a:off x="822960" y="4315968"/>
            <a:ext cx="3200400" cy="566928"/>
          </a:xfrm>
          <a:prstGeom prst="roundRect">
            <a:avLst>
              <a:gd name="adj" fmla="val 8065"/>
            </a:avLst>
          </a:prstGeom>
          <a:solidFill>
            <a:srgbClr val="16324F"/>
          </a:solidFill>
          <a:ln/>
        </p:spPr>
      </p:sp>
      <p:sp>
        <p:nvSpPr>
          <p:cNvPr id="10" name="Text 8"/>
          <p:cNvSpPr txBox="1"/>
          <p:nvPr/>
        </p:nvSpPr>
        <p:spPr>
          <a:xfrm>
            <a:off x="960120" y="4315968"/>
            <a:ext cx="2926080" cy="566928"/>
          </a:xfrm>
          <a:prstGeom prst="rect">
            <a:avLst/>
          </a:prstGeom>
          <a:noFill/>
          <a:ln/>
        </p:spPr>
        <p:txBody>
          <a:bodyPr wrap="square" lIns="0" tIns="0" rIns="0" bIns="0" rtlCol="0" anchor="ctr"/>
          <a:lstStyle/>
          <a:p>
            <a:pPr indent="0" marL="0">
              <a:buNone/>
            </a:pPr>
            <a:r>
              <a:rPr lang="en-US" sz="1150" dirty="0">
                <a:solidFill>
                  <a:srgbClr val="E8F0F7"/>
                </a:solidFill>
                <a:latin typeface="Meiryo" pitchFamily="34" charset="0"/>
                <a:ea typeface="Meiryo" pitchFamily="34" charset="-122"/>
                <a:cs typeface="Meiryo" pitchFamily="34" charset="-120"/>
              </a:rPr>
              <a:t>受講の事実を証明できる仕組み</a:t>
            </a:r>
            <a:endParaRPr lang="en-US" sz="1150" dirty="0"/>
          </a:p>
        </p:txBody>
      </p:sp>
      <p:sp>
        <p:nvSpPr>
          <p:cNvPr id="11" name="Shape 9"/>
          <p:cNvSpPr/>
          <p:nvPr/>
        </p:nvSpPr>
        <p:spPr>
          <a:xfrm>
            <a:off x="4251960" y="4315968"/>
            <a:ext cx="3200400" cy="566928"/>
          </a:xfrm>
          <a:prstGeom prst="roundRect">
            <a:avLst>
              <a:gd name="adj" fmla="val 8065"/>
            </a:avLst>
          </a:prstGeom>
          <a:solidFill>
            <a:srgbClr val="16324F"/>
          </a:solidFill>
          <a:ln/>
        </p:spPr>
      </p:sp>
      <p:sp>
        <p:nvSpPr>
          <p:cNvPr id="12" name="Text 10"/>
          <p:cNvSpPr txBox="1"/>
          <p:nvPr/>
        </p:nvSpPr>
        <p:spPr>
          <a:xfrm>
            <a:off x="4389120" y="4315968"/>
            <a:ext cx="2926080" cy="566928"/>
          </a:xfrm>
          <a:prstGeom prst="rect">
            <a:avLst/>
          </a:prstGeom>
          <a:noFill/>
          <a:ln/>
        </p:spPr>
        <p:txBody>
          <a:bodyPr wrap="square" lIns="0" tIns="0" rIns="0" bIns="0" rtlCol="0" anchor="ctr"/>
          <a:lstStyle/>
          <a:p>
            <a:pPr indent="0" marL="0">
              <a:buNone/>
            </a:pPr>
            <a:r>
              <a:rPr lang="en-US" sz="1150" dirty="0">
                <a:solidFill>
                  <a:srgbClr val="E8F0F7"/>
                </a:solidFill>
                <a:latin typeface="Meiryo" pitchFamily="34" charset="0"/>
                <a:ea typeface="Meiryo" pitchFamily="34" charset="-122"/>
                <a:cs typeface="Meiryo" pitchFamily="34" charset="-120"/>
              </a:rPr>
              <a:t>法令要件を運用でなく仕組みで担保</a:t>
            </a:r>
            <a:endParaRPr lang="en-US" sz="1150" dirty="0"/>
          </a:p>
        </p:txBody>
      </p:sp>
      <p:sp>
        <p:nvSpPr>
          <p:cNvPr id="13" name="Shape 11"/>
          <p:cNvSpPr/>
          <p:nvPr/>
        </p:nvSpPr>
        <p:spPr>
          <a:xfrm>
            <a:off x="7680960" y="4315968"/>
            <a:ext cx="3200400" cy="566928"/>
          </a:xfrm>
          <a:prstGeom prst="roundRect">
            <a:avLst>
              <a:gd name="adj" fmla="val 8065"/>
            </a:avLst>
          </a:prstGeom>
          <a:solidFill>
            <a:srgbClr val="16324F"/>
          </a:solidFill>
          <a:ln/>
        </p:spPr>
      </p:sp>
      <p:sp>
        <p:nvSpPr>
          <p:cNvPr id="14" name="Text 12"/>
          <p:cNvSpPr txBox="1"/>
          <p:nvPr/>
        </p:nvSpPr>
        <p:spPr>
          <a:xfrm>
            <a:off x="7818120" y="4315968"/>
            <a:ext cx="2926080" cy="566928"/>
          </a:xfrm>
          <a:prstGeom prst="rect">
            <a:avLst/>
          </a:prstGeom>
          <a:noFill/>
          <a:ln/>
        </p:spPr>
        <p:txBody>
          <a:bodyPr wrap="square" lIns="0" tIns="0" rIns="0" bIns="0" rtlCol="0" anchor="ctr"/>
          <a:lstStyle/>
          <a:p>
            <a:pPr indent="0" marL="0">
              <a:buNone/>
            </a:pPr>
            <a:r>
              <a:rPr lang="en-US" sz="1150" dirty="0">
                <a:solidFill>
                  <a:srgbClr val="E8F0F7"/>
                </a:solidFill>
                <a:latin typeface="Meiryo" pitchFamily="34" charset="0"/>
                <a:ea typeface="Meiryo" pitchFamily="34" charset="-122"/>
                <a:cs typeface="Meiryo" pitchFamily="34" charset="-120"/>
              </a:rPr>
              <a:t>段階投資で始める新規事業</a:t>
            </a:r>
            <a:endParaRPr lang="en-US" sz="1150" dirty="0"/>
          </a:p>
        </p:txBody>
      </p:sp>
      <p:sp>
        <p:nvSpPr>
          <p:cNvPr id="15" name="Text 13"/>
          <p:cNvSpPr txBox="1"/>
          <p:nvPr/>
        </p:nvSpPr>
        <p:spPr>
          <a:xfrm>
            <a:off x="822960" y="5623560"/>
            <a:ext cx="4572000" cy="274320"/>
          </a:xfrm>
          <a:prstGeom prst="rect">
            <a:avLst/>
          </a:prstGeom>
          <a:noFill/>
          <a:ln/>
        </p:spPr>
        <p:txBody>
          <a:bodyPr wrap="square" lIns="0" tIns="0" rIns="0" bIns="0" rtlCol="0" anchor="ctr"/>
          <a:lstStyle/>
          <a:p>
            <a:pPr indent="0" marL="0">
              <a:buNone/>
            </a:pPr>
            <a:r>
              <a:rPr lang="en-US" sz="1200" dirty="0">
                <a:solidFill>
                  <a:srgbClr val="8FA6BA"/>
                </a:solidFill>
                <a:latin typeface="Meiryo" pitchFamily="34" charset="0"/>
                <a:ea typeface="Meiryo" pitchFamily="34" charset="-122"/>
                <a:cs typeface="Meiryo" pitchFamily="34" charset="-120"/>
              </a:rPr>
              <a:t>2026年8月30日</a:t>
            </a:r>
            <a:endParaRPr lang="en-US" sz="1200" dirty="0"/>
          </a:p>
        </p:txBody>
      </p:sp>
      <p:sp>
        <p:nvSpPr>
          <p:cNvPr id="16" name="Text 14"/>
          <p:cNvSpPr txBox="1"/>
          <p:nvPr/>
        </p:nvSpPr>
        <p:spPr>
          <a:xfrm>
            <a:off x="822960" y="5925312"/>
            <a:ext cx="4572000" cy="32004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株式会社スペリオル</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7"/>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indent="0" marL="0">
              <a:buNone/>
            </a:pPr>
            <a:r>
              <a:rPr lang="en-US" sz="1100" b="1" spc="150" kern="0" dirty="0">
                <a:solidFill>
                  <a:srgbClr val="B87400"/>
                </a:solidFill>
                <a:latin typeface="Meiryo" pitchFamily="34" charset="0"/>
                <a:ea typeface="Meiryo" pitchFamily="34" charset="-122"/>
                <a:cs typeface="Meiryo" pitchFamily="34" charset="-120"/>
              </a:rPr>
              <a:t>EXECUTIVE SUMMARY</a:t>
            </a:r>
            <a:endParaRPr lang="en-US" sz="1100" dirty="0"/>
          </a:p>
        </p:txBody>
      </p:sp>
      <p:sp>
        <p:nvSpPr>
          <p:cNvPr id="3" name="Text 1"/>
          <p:cNvSpPr txBox="1"/>
          <p:nvPr/>
        </p:nvSpPr>
        <p:spPr>
          <a:xfrm>
            <a:off x="548640" y="603504"/>
            <a:ext cx="11094415" cy="548640"/>
          </a:xfrm>
          <a:prstGeom prst="rect">
            <a:avLst/>
          </a:prstGeom>
          <a:noFill/>
          <a:ln/>
        </p:spPr>
        <p:txBody>
          <a:bodyPr wrap="square" lIns="0" tIns="0" rIns="0" bIns="0" rtlCol="0" anchor="ctr"/>
          <a:lstStyle/>
          <a:p>
            <a:pPr indent="0" marL="0">
              <a:buNone/>
            </a:pPr>
            <a:r>
              <a:rPr lang="en-US" sz="2700" b="1" dirty="0">
                <a:solidFill>
                  <a:srgbClr val="16324F"/>
                </a:solidFill>
                <a:latin typeface="Meiryo" pitchFamily="34" charset="0"/>
                <a:ea typeface="Meiryo" pitchFamily="34" charset="-122"/>
                <a:cs typeface="Meiryo" pitchFamily="34" charset="-120"/>
              </a:rPr>
              <a:t>ご提案の結論</a:t>
            </a:r>
            <a:endParaRPr lang="en-US" sz="2700" dirty="0"/>
          </a:p>
        </p:txBody>
      </p:sp>
      <p:sp>
        <p:nvSpPr>
          <p:cNvPr id="4" name="Text 2"/>
          <p:cNvSpPr txBox="1"/>
          <p:nvPr/>
        </p:nvSpPr>
        <p:spPr>
          <a:xfrm>
            <a:off x="548640" y="1188720"/>
            <a:ext cx="11094415" cy="329184"/>
          </a:xfrm>
          <a:prstGeom prst="rect">
            <a:avLst/>
          </a:prstGeom>
          <a:noFill/>
          <a:ln/>
        </p:spPr>
        <p:txBody>
          <a:bodyPr wrap="square" lIns="0" tIns="0" rIns="0" bIns="0" rtlCol="0" anchor="ctr"/>
          <a:lstStyle/>
          <a:p>
            <a:pPr indent="0" marL="0">
              <a:buNone/>
            </a:pPr>
            <a:r>
              <a:rPr lang="en-US" sz="1250" dirty="0">
                <a:solidFill>
                  <a:srgbClr val="6B7B8A"/>
                </a:solidFill>
                <a:latin typeface="Meiryo" pitchFamily="34" charset="0"/>
                <a:ea typeface="Meiryo" pitchFamily="34" charset="-122"/>
                <a:cs typeface="Meiryo" pitchFamily="34" charset="-120"/>
              </a:rPr>
              <a:t>いただいたご回答をもとに、実現可能な形へ落とし込みました。</a:t>
            </a:r>
            <a:endParaRPr lang="en-US" sz="1250" dirty="0"/>
          </a:p>
        </p:txBody>
      </p:sp>
      <p:sp>
        <p:nvSpPr>
          <p:cNvPr id="5" name="Text 3"/>
          <p:cNvSpPr txBox="1"/>
          <p:nvPr/>
        </p:nvSpPr>
        <p:spPr>
          <a:xfrm>
            <a:off x="548640" y="6382512"/>
            <a:ext cx="8686800" cy="256032"/>
          </a:xfrm>
          <a:prstGeom prst="rect">
            <a:avLst/>
          </a:prstGeom>
          <a:noFill/>
          <a:ln/>
        </p:spPr>
        <p:txBody>
          <a:bodyPr wrap="square" lIns="0" tIns="0" rIns="0" bIns="0" rtlCol="0" anchor="ctr"/>
          <a:lstStyle/>
          <a:p>
            <a:pPr indent="0" marL="0">
              <a:buNone/>
            </a:pPr>
            <a:r>
              <a:rPr lang="en-US" sz="900" dirty="0">
                <a:solidFill>
                  <a:srgbClr val="6B7B8A"/>
                </a:solidFill>
                <a:latin typeface="Meiryo" pitchFamily="34" charset="0"/>
                <a:ea typeface="Meiryo" pitchFamily="34" charset="-122"/>
                <a:cs typeface="Meiryo" pitchFamily="34" charset="-120"/>
              </a:rPr>
              <a:t>株式会社聖建 御中 ｜ 建設業 特別教育 オンライン受講プラットフォーム ご提案</a:t>
            </a:r>
            <a:endParaRPr lang="en-US" sz="900" dirty="0"/>
          </a:p>
        </p:txBody>
      </p:sp>
      <p:sp>
        <p:nvSpPr>
          <p:cNvPr id="6" name="Text 4"/>
          <p:cNvSpPr txBox="1"/>
          <p:nvPr/>
        </p:nvSpPr>
        <p:spPr>
          <a:xfrm>
            <a:off x="11002975" y="6382512"/>
            <a:ext cx="640080" cy="256032"/>
          </a:xfrm>
          <a:prstGeom prst="rect">
            <a:avLst/>
          </a:prstGeom>
          <a:noFill/>
          <a:ln/>
        </p:spPr>
        <p:txBody>
          <a:bodyPr wrap="square" lIns="0" tIns="0" rIns="0" bIns="0" rtlCol="0" anchor="ctr"/>
          <a:lstStyle/>
          <a:p>
            <a:pPr algn="r" indent="0" marL="0">
              <a:buNone/>
            </a:pPr>
            <a:r>
              <a:rPr lang="en-US" sz="1000" b="1" dirty="0">
                <a:solidFill>
                  <a:srgbClr val="3E6B8C"/>
                </a:solidFill>
                <a:latin typeface="Meiryo" pitchFamily="34" charset="0"/>
                <a:ea typeface="Meiryo" pitchFamily="34" charset="-122"/>
                <a:cs typeface="Meiryo" pitchFamily="34" charset="-120"/>
              </a:rPr>
              <a:t>2</a:t>
            </a:r>
            <a:endParaRPr lang="en-US" sz="1000" dirty="0"/>
          </a:p>
        </p:txBody>
      </p:sp>
      <p:sp>
        <p:nvSpPr>
          <p:cNvPr id="7" name="Shape 5"/>
          <p:cNvSpPr/>
          <p:nvPr/>
        </p:nvSpPr>
        <p:spPr>
          <a:xfrm>
            <a:off x="548640" y="1691640"/>
            <a:ext cx="5410048" cy="1691640"/>
          </a:xfrm>
          <a:prstGeom prst="roundRect">
            <a:avLst>
              <a:gd name="adj" fmla="val 2703"/>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8" name="Shape 6"/>
          <p:cNvSpPr/>
          <p:nvPr/>
        </p:nvSpPr>
        <p:spPr>
          <a:xfrm>
            <a:off x="804672" y="1965960"/>
            <a:ext cx="475488" cy="475488"/>
          </a:xfrm>
          <a:prstGeom prst="ellipse">
            <a:avLst/>
          </a:prstGeom>
          <a:solidFill>
            <a:srgbClr val="E8960C"/>
          </a:solidFill>
          <a:ln/>
        </p:spPr>
      </p:sp>
      <p:sp>
        <p:nvSpPr>
          <p:cNvPr id="9" name="Text 7"/>
          <p:cNvSpPr txBox="1"/>
          <p:nvPr/>
        </p:nvSpPr>
        <p:spPr>
          <a:xfrm>
            <a:off x="804672" y="196596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01</a:t>
            </a:r>
            <a:endParaRPr lang="en-US" sz="1300" dirty="0"/>
          </a:p>
        </p:txBody>
      </p:sp>
      <p:sp>
        <p:nvSpPr>
          <p:cNvPr id="10" name="Text 8"/>
          <p:cNvSpPr txBox="1"/>
          <p:nvPr/>
        </p:nvSpPr>
        <p:spPr>
          <a:xfrm>
            <a:off x="1417320" y="1947672"/>
            <a:ext cx="4267048" cy="384048"/>
          </a:xfrm>
          <a:prstGeom prst="rect">
            <a:avLst/>
          </a:prstGeom>
          <a:noFill/>
          <a:ln/>
        </p:spPr>
        <p:txBody>
          <a:bodyPr wrap="square" lIns="0" tIns="0" rIns="0" bIns="0" rtlCol="0" anchor="ctr"/>
          <a:lstStyle/>
          <a:p>
            <a:pPr indent="0" marL="0">
              <a:buNone/>
            </a:pPr>
            <a:r>
              <a:rPr lang="en-US" sz="1500" b="1" dirty="0">
                <a:solidFill>
                  <a:srgbClr val="16324F"/>
                </a:solidFill>
                <a:latin typeface="Meiryo" pitchFamily="34" charset="0"/>
                <a:ea typeface="Meiryo" pitchFamily="34" charset="-122"/>
                <a:cs typeface="Meiryo" pitchFamily="34" charset="-120"/>
              </a:rPr>
              <a:t>結論：実現できます</a:t>
            </a:r>
            <a:endParaRPr lang="en-US" sz="1500" dirty="0"/>
          </a:p>
        </p:txBody>
      </p:sp>
      <p:sp>
        <p:nvSpPr>
          <p:cNvPr id="11" name="Text 9"/>
          <p:cNvSpPr txBox="1"/>
          <p:nvPr/>
        </p:nvSpPr>
        <p:spPr>
          <a:xfrm>
            <a:off x="1417320" y="2368296"/>
            <a:ext cx="4267048" cy="868680"/>
          </a:xfrm>
          <a:prstGeom prst="rect">
            <a:avLst/>
          </a:prstGeom>
          <a:noFill/>
          <a:ln/>
        </p:spPr>
        <p:txBody>
          <a:bodyPr wrap="square" lIns="0" tIns="0" rIns="0" bIns="0" rtlCol="0" anchor="t"/>
          <a:lstStyle/>
          <a:p>
            <a:pPr indent="0" marL="0">
              <a:lnSpc>
                <a:spcPct val="125000"/>
              </a:lnSpc>
              <a:buNone/>
            </a:pPr>
            <a:r>
              <a:rPr lang="en-US" sz="1150" dirty="0">
                <a:solidFill>
                  <a:srgbClr val="1C2A38"/>
                </a:solidFill>
                <a:latin typeface="Meiryo" pitchFamily="34" charset="0"/>
                <a:ea typeface="Meiryo" pitchFamily="34" charset="-122"/>
                <a:cs typeface="Meiryo" pitchFamily="34" charset="-120"/>
              </a:rPr>
              <a:t>特別教育は、技能講習と違い行政の登録が不要です。聖建様が「教育を受ける側」から「教育を提供する側」へ回ることができます。</a:t>
            </a:r>
            <a:endParaRPr lang="en-US" sz="1150" dirty="0"/>
          </a:p>
        </p:txBody>
      </p:sp>
      <p:sp>
        <p:nvSpPr>
          <p:cNvPr id="12" name="Shape 10"/>
          <p:cNvSpPr/>
          <p:nvPr/>
        </p:nvSpPr>
        <p:spPr>
          <a:xfrm>
            <a:off x="6233008" y="1691640"/>
            <a:ext cx="5410048" cy="1691640"/>
          </a:xfrm>
          <a:prstGeom prst="roundRect">
            <a:avLst>
              <a:gd name="adj" fmla="val 2703"/>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13" name="Shape 11"/>
          <p:cNvSpPr/>
          <p:nvPr/>
        </p:nvSpPr>
        <p:spPr>
          <a:xfrm>
            <a:off x="6489040" y="1965960"/>
            <a:ext cx="475488" cy="475488"/>
          </a:xfrm>
          <a:prstGeom prst="ellipse">
            <a:avLst/>
          </a:prstGeom>
          <a:solidFill>
            <a:srgbClr val="E8960C"/>
          </a:solidFill>
          <a:ln/>
        </p:spPr>
      </p:sp>
      <p:sp>
        <p:nvSpPr>
          <p:cNvPr id="14" name="Text 12"/>
          <p:cNvSpPr txBox="1"/>
          <p:nvPr/>
        </p:nvSpPr>
        <p:spPr>
          <a:xfrm>
            <a:off x="6489040" y="196596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02</a:t>
            </a:r>
            <a:endParaRPr lang="en-US" sz="1300" dirty="0"/>
          </a:p>
        </p:txBody>
      </p:sp>
      <p:sp>
        <p:nvSpPr>
          <p:cNvPr id="15" name="Text 13"/>
          <p:cNvSpPr txBox="1"/>
          <p:nvPr/>
        </p:nvSpPr>
        <p:spPr>
          <a:xfrm>
            <a:off x="7101688" y="1947672"/>
            <a:ext cx="4267048" cy="384048"/>
          </a:xfrm>
          <a:prstGeom prst="rect">
            <a:avLst/>
          </a:prstGeom>
          <a:noFill/>
          <a:ln/>
        </p:spPr>
        <p:txBody>
          <a:bodyPr wrap="square" lIns="0" tIns="0" rIns="0" bIns="0" rtlCol="0" anchor="ctr"/>
          <a:lstStyle/>
          <a:p>
            <a:pPr indent="0" marL="0">
              <a:buNone/>
            </a:pPr>
            <a:r>
              <a:rPr lang="en-US" sz="1500" b="1" dirty="0">
                <a:solidFill>
                  <a:srgbClr val="16324F"/>
                </a:solidFill>
                <a:latin typeface="Meiryo" pitchFamily="34" charset="0"/>
                <a:ea typeface="Meiryo" pitchFamily="34" charset="-122"/>
                <a:cs typeface="Meiryo" pitchFamily="34" charset="-120"/>
              </a:rPr>
              <a:t>学科はオンライン、実技は対面</a:t>
            </a:r>
            <a:endParaRPr lang="en-US" sz="1500" dirty="0"/>
          </a:p>
        </p:txBody>
      </p:sp>
      <p:sp>
        <p:nvSpPr>
          <p:cNvPr id="16" name="Text 14"/>
          <p:cNvSpPr txBox="1"/>
          <p:nvPr/>
        </p:nvSpPr>
        <p:spPr>
          <a:xfrm>
            <a:off x="7101688" y="2368296"/>
            <a:ext cx="4267048" cy="868680"/>
          </a:xfrm>
          <a:prstGeom prst="rect">
            <a:avLst/>
          </a:prstGeom>
          <a:noFill/>
          <a:ln/>
        </p:spPr>
        <p:txBody>
          <a:bodyPr wrap="square" lIns="0" tIns="0" rIns="0" bIns="0" rtlCol="0" anchor="t"/>
          <a:lstStyle/>
          <a:p>
            <a:pPr indent="0" marL="0">
              <a:lnSpc>
                <a:spcPct val="125000"/>
              </a:lnSpc>
              <a:buNone/>
            </a:pPr>
            <a:r>
              <a:rPr lang="en-US" sz="1150" dirty="0">
                <a:solidFill>
                  <a:srgbClr val="1C2A38"/>
                </a:solidFill>
                <a:latin typeface="Meiryo" pitchFamily="34" charset="0"/>
                <a:ea typeface="Meiryo" pitchFamily="34" charset="-122"/>
                <a:cs typeface="Meiryo" pitchFamily="34" charset="-120"/>
              </a:rPr>
              <a:t>厚生労働省の通達により学科のeラーニング化は適法です。実技は半田市の自社会場で実施し、ワンストップで完結させます。</a:t>
            </a:r>
            <a:endParaRPr lang="en-US" sz="1150" dirty="0"/>
          </a:p>
        </p:txBody>
      </p:sp>
      <p:sp>
        <p:nvSpPr>
          <p:cNvPr id="17" name="Shape 15"/>
          <p:cNvSpPr/>
          <p:nvPr/>
        </p:nvSpPr>
        <p:spPr>
          <a:xfrm>
            <a:off x="548640" y="3639312"/>
            <a:ext cx="5410048" cy="1691640"/>
          </a:xfrm>
          <a:prstGeom prst="roundRect">
            <a:avLst>
              <a:gd name="adj" fmla="val 2703"/>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18" name="Shape 16"/>
          <p:cNvSpPr/>
          <p:nvPr/>
        </p:nvSpPr>
        <p:spPr>
          <a:xfrm>
            <a:off x="804672" y="3913632"/>
            <a:ext cx="475488" cy="475488"/>
          </a:xfrm>
          <a:prstGeom prst="ellipse">
            <a:avLst/>
          </a:prstGeom>
          <a:solidFill>
            <a:srgbClr val="E8960C"/>
          </a:solidFill>
          <a:ln/>
        </p:spPr>
      </p:sp>
      <p:sp>
        <p:nvSpPr>
          <p:cNvPr id="19" name="Text 17"/>
          <p:cNvSpPr txBox="1"/>
          <p:nvPr/>
        </p:nvSpPr>
        <p:spPr>
          <a:xfrm>
            <a:off x="804672" y="391363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03</a:t>
            </a:r>
            <a:endParaRPr lang="en-US" sz="1300" dirty="0"/>
          </a:p>
        </p:txBody>
      </p:sp>
      <p:sp>
        <p:nvSpPr>
          <p:cNvPr id="20" name="Text 18"/>
          <p:cNvSpPr txBox="1"/>
          <p:nvPr/>
        </p:nvSpPr>
        <p:spPr>
          <a:xfrm>
            <a:off x="1417320" y="3895344"/>
            <a:ext cx="4267048" cy="384048"/>
          </a:xfrm>
          <a:prstGeom prst="rect">
            <a:avLst/>
          </a:prstGeom>
          <a:noFill/>
          <a:ln/>
        </p:spPr>
        <p:txBody>
          <a:bodyPr wrap="square" lIns="0" tIns="0" rIns="0" bIns="0" rtlCol="0" anchor="ctr"/>
          <a:lstStyle/>
          <a:p>
            <a:pPr indent="0" marL="0">
              <a:buNone/>
            </a:pPr>
            <a:r>
              <a:rPr lang="en-US" sz="1500" b="1" dirty="0">
                <a:solidFill>
                  <a:srgbClr val="16324F"/>
                </a:solidFill>
                <a:latin typeface="Meiryo" pitchFamily="34" charset="0"/>
                <a:ea typeface="Meiryo" pitchFamily="34" charset="-122"/>
                <a:cs typeface="Meiryo" pitchFamily="34" charset="-120"/>
              </a:rPr>
              <a:t>本人確認そのものが商品価値</a:t>
            </a:r>
            <a:endParaRPr lang="en-US" sz="1500" dirty="0"/>
          </a:p>
        </p:txBody>
      </p:sp>
      <p:sp>
        <p:nvSpPr>
          <p:cNvPr id="21" name="Text 19"/>
          <p:cNvSpPr txBox="1"/>
          <p:nvPr/>
        </p:nvSpPr>
        <p:spPr>
          <a:xfrm>
            <a:off x="1417320" y="4315968"/>
            <a:ext cx="4267048" cy="868680"/>
          </a:xfrm>
          <a:prstGeom prst="rect">
            <a:avLst/>
          </a:prstGeom>
          <a:noFill/>
          <a:ln/>
        </p:spPr>
        <p:txBody>
          <a:bodyPr wrap="square" lIns="0" tIns="0" rIns="0" bIns="0" rtlCol="0" anchor="t"/>
          <a:lstStyle/>
          <a:p>
            <a:pPr indent="0" marL="0">
              <a:lnSpc>
                <a:spcPct val="125000"/>
              </a:lnSpc>
              <a:buNone/>
            </a:pPr>
            <a:r>
              <a:rPr lang="en-US" sz="1150" dirty="0">
                <a:solidFill>
                  <a:srgbClr val="1C2A38"/>
                </a:solidFill>
                <a:latin typeface="Meiryo" pitchFamily="34" charset="0"/>
                <a:ea typeface="Meiryo" pitchFamily="34" charset="-122"/>
                <a:cs typeface="Meiryo" pitchFamily="34" charset="-120"/>
              </a:rPr>
              <a:t>「誰が・いつ・何時間・どの科目を受けたか」を証拠で示せること。それが、価格ではなく信頼で選ばれる理由になります。</a:t>
            </a:r>
            <a:endParaRPr lang="en-US" sz="1150" dirty="0"/>
          </a:p>
        </p:txBody>
      </p:sp>
      <p:sp>
        <p:nvSpPr>
          <p:cNvPr id="22" name="Shape 20"/>
          <p:cNvSpPr/>
          <p:nvPr/>
        </p:nvSpPr>
        <p:spPr>
          <a:xfrm>
            <a:off x="6233008" y="3639312"/>
            <a:ext cx="5410048" cy="1691640"/>
          </a:xfrm>
          <a:prstGeom prst="roundRect">
            <a:avLst>
              <a:gd name="adj" fmla="val 2703"/>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23" name="Shape 21"/>
          <p:cNvSpPr/>
          <p:nvPr/>
        </p:nvSpPr>
        <p:spPr>
          <a:xfrm>
            <a:off x="6489040" y="3913632"/>
            <a:ext cx="475488" cy="475488"/>
          </a:xfrm>
          <a:prstGeom prst="ellipse">
            <a:avLst/>
          </a:prstGeom>
          <a:solidFill>
            <a:srgbClr val="E8960C"/>
          </a:solidFill>
          <a:ln/>
        </p:spPr>
      </p:sp>
      <p:sp>
        <p:nvSpPr>
          <p:cNvPr id="24" name="Text 22"/>
          <p:cNvSpPr txBox="1"/>
          <p:nvPr/>
        </p:nvSpPr>
        <p:spPr>
          <a:xfrm>
            <a:off x="6489040" y="391363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04</a:t>
            </a:r>
            <a:endParaRPr lang="en-US" sz="1300" dirty="0"/>
          </a:p>
        </p:txBody>
      </p:sp>
      <p:sp>
        <p:nvSpPr>
          <p:cNvPr id="25" name="Text 23"/>
          <p:cNvSpPr txBox="1"/>
          <p:nvPr/>
        </p:nvSpPr>
        <p:spPr>
          <a:xfrm>
            <a:off x="7101688" y="3895344"/>
            <a:ext cx="4267048" cy="384048"/>
          </a:xfrm>
          <a:prstGeom prst="rect">
            <a:avLst/>
          </a:prstGeom>
          <a:noFill/>
          <a:ln/>
        </p:spPr>
        <p:txBody>
          <a:bodyPr wrap="square" lIns="0" tIns="0" rIns="0" bIns="0" rtlCol="0" anchor="ctr"/>
          <a:lstStyle/>
          <a:p>
            <a:pPr indent="0" marL="0">
              <a:buNone/>
            </a:pPr>
            <a:r>
              <a:rPr lang="en-US" sz="1500" b="1" dirty="0">
                <a:solidFill>
                  <a:srgbClr val="16324F"/>
                </a:solidFill>
                <a:latin typeface="Meiryo" pitchFamily="34" charset="0"/>
                <a:ea typeface="Meiryo" pitchFamily="34" charset="-122"/>
                <a:cs typeface="Meiryo" pitchFamily="34" charset="-120"/>
              </a:rPr>
              <a:t>小さく始めて、広げる</a:t>
            </a:r>
            <a:endParaRPr lang="en-US" sz="1500" dirty="0"/>
          </a:p>
        </p:txBody>
      </p:sp>
      <p:sp>
        <p:nvSpPr>
          <p:cNvPr id="26" name="Text 24"/>
          <p:cNvSpPr txBox="1"/>
          <p:nvPr/>
        </p:nvSpPr>
        <p:spPr>
          <a:xfrm>
            <a:off x="7101688" y="4315968"/>
            <a:ext cx="4267048" cy="868680"/>
          </a:xfrm>
          <a:prstGeom prst="rect">
            <a:avLst/>
          </a:prstGeom>
          <a:noFill/>
          <a:ln/>
        </p:spPr>
        <p:txBody>
          <a:bodyPr wrap="square" lIns="0" tIns="0" rIns="0" bIns="0" rtlCol="0" anchor="t"/>
          <a:lstStyle/>
          <a:p>
            <a:pPr indent="0" marL="0">
              <a:lnSpc>
                <a:spcPct val="125000"/>
              </a:lnSpc>
              <a:buNone/>
            </a:pPr>
            <a:r>
              <a:rPr lang="en-US" sz="1150" dirty="0">
                <a:solidFill>
                  <a:srgbClr val="1C2A38"/>
                </a:solidFill>
                <a:latin typeface="Meiryo" pitchFamily="34" charset="0"/>
                <a:ea typeface="Meiryo" pitchFamily="34" charset="-122"/>
                <a:cs typeface="Meiryo" pitchFamily="34" charset="-120"/>
              </a:rPr>
              <a:t>まず1科目・学科のみで開始し、実績を作ってから科目と実技会場を広げます。初期投資を抑えた段階導入を推奨します。</a:t>
            </a:r>
            <a:endParaRPr lang="en-US" sz="1150" dirty="0"/>
          </a:p>
        </p:txBody>
      </p:sp>
      <p:sp>
        <p:nvSpPr>
          <p:cNvPr id="27" name="Shape 25"/>
          <p:cNvSpPr/>
          <p:nvPr/>
        </p:nvSpPr>
        <p:spPr>
          <a:xfrm>
            <a:off x="548640" y="5532120"/>
            <a:ext cx="11094415" cy="685800"/>
          </a:xfrm>
          <a:prstGeom prst="roundRect">
            <a:avLst>
              <a:gd name="adj" fmla="val 6667"/>
            </a:avLst>
          </a:prstGeom>
          <a:solidFill>
            <a:srgbClr val="16324F"/>
          </a:solidFill>
          <a:ln/>
        </p:spPr>
      </p:sp>
      <p:sp>
        <p:nvSpPr>
          <p:cNvPr id="28" name="Text 26"/>
          <p:cNvSpPr txBox="1"/>
          <p:nvPr/>
        </p:nvSpPr>
        <p:spPr>
          <a:xfrm>
            <a:off x="777240" y="5532120"/>
            <a:ext cx="10637215" cy="685800"/>
          </a:xfrm>
          <a:prstGeom prst="rect">
            <a:avLst/>
          </a:prstGeom>
          <a:noFill/>
          <a:ln/>
        </p:spPr>
        <p:txBody>
          <a:bodyPr wrap="square" lIns="0" tIns="0" rIns="0" bIns="0" rtlCol="0" anchor="ctr"/>
          <a:lstStyle/>
          <a:p>
            <a:pPr indent="0" marL="0">
              <a:buNone/>
            </a:pPr>
            <a:r>
              <a:rPr lang="en-US" sz="1200" b="1" dirty="0">
                <a:solidFill>
                  <a:srgbClr val="E8960C"/>
                </a:solidFill>
                <a:latin typeface="Meiryo" pitchFamily="34" charset="0"/>
                <a:ea typeface="Meiryo" pitchFamily="34" charset="-122"/>
                <a:cs typeface="Meiryo" pitchFamily="34" charset="-120"/>
              </a:rPr>
              <a:t>推奨ロードマップ： </a:t>
            </a:r>
            <a:pPr indent="0" marL="0">
              <a:buNone/>
            </a:pPr>
            <a:r>
              <a:rPr lang="en-US" sz="1200" dirty="0">
                <a:solidFill>
                  <a:srgbClr val="FFFFFF"/>
                </a:solidFill>
                <a:latin typeface="Meiryo" pitchFamily="34" charset="0"/>
                <a:ea typeface="Meiryo" pitchFamily="34" charset="-122"/>
                <a:cs typeface="Meiryo" pitchFamily="34" charset="-120"/>
              </a:rPr>
              <a:t>「フルハーネス（またはテールゲートリフター）1科目・学科オンライン」から開始し、実技提供と科目追加で単価と継続率を上げていく</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7"/>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indent="0" marL="0">
              <a:buNone/>
            </a:pPr>
            <a:r>
              <a:rPr lang="en-US" sz="1100" b="1" spc="150" kern="0" dirty="0">
                <a:solidFill>
                  <a:srgbClr val="B87400"/>
                </a:solidFill>
                <a:latin typeface="Meiryo" pitchFamily="34" charset="0"/>
                <a:ea typeface="Meiryo" pitchFamily="34" charset="-122"/>
                <a:cs typeface="Meiryo" pitchFamily="34" charset="-120"/>
              </a:rPr>
              <a:t>STEP 0</a:t>
            </a:r>
            <a:endParaRPr lang="en-US" sz="1100" dirty="0"/>
          </a:p>
        </p:txBody>
      </p:sp>
      <p:sp>
        <p:nvSpPr>
          <p:cNvPr id="3" name="Text 1"/>
          <p:cNvSpPr txBox="1"/>
          <p:nvPr/>
        </p:nvSpPr>
        <p:spPr>
          <a:xfrm>
            <a:off x="548640" y="603504"/>
            <a:ext cx="11094415" cy="548640"/>
          </a:xfrm>
          <a:prstGeom prst="rect">
            <a:avLst/>
          </a:prstGeom>
          <a:noFill/>
          <a:ln/>
        </p:spPr>
        <p:txBody>
          <a:bodyPr wrap="square" lIns="0" tIns="0" rIns="0" bIns="0" rtlCol="0" anchor="ctr"/>
          <a:lstStyle/>
          <a:p>
            <a:pPr indent="0" marL="0">
              <a:buNone/>
            </a:pPr>
            <a:r>
              <a:rPr lang="en-US" sz="2700" b="1" dirty="0">
                <a:solidFill>
                  <a:srgbClr val="16324F"/>
                </a:solidFill>
                <a:latin typeface="Meiryo" pitchFamily="34" charset="0"/>
                <a:ea typeface="Meiryo" pitchFamily="34" charset="-122"/>
                <a:cs typeface="Meiryo" pitchFamily="34" charset="-120"/>
              </a:rPr>
              <a:t>ヒアリング結果の確認</a:t>
            </a:r>
            <a:endParaRPr lang="en-US" sz="2700" dirty="0"/>
          </a:p>
        </p:txBody>
      </p:sp>
      <p:sp>
        <p:nvSpPr>
          <p:cNvPr id="4" name="Text 2"/>
          <p:cNvSpPr txBox="1"/>
          <p:nvPr/>
        </p:nvSpPr>
        <p:spPr>
          <a:xfrm>
            <a:off x="548640" y="1188720"/>
            <a:ext cx="11094415" cy="329184"/>
          </a:xfrm>
          <a:prstGeom prst="rect">
            <a:avLst/>
          </a:prstGeom>
          <a:noFill/>
          <a:ln/>
        </p:spPr>
        <p:txBody>
          <a:bodyPr wrap="square" lIns="0" tIns="0" rIns="0" bIns="0" rtlCol="0" anchor="ctr"/>
          <a:lstStyle/>
          <a:p>
            <a:pPr indent="0" marL="0">
              <a:buNone/>
            </a:pPr>
            <a:r>
              <a:rPr lang="en-US" sz="1250" dirty="0">
                <a:solidFill>
                  <a:srgbClr val="6B7B8A"/>
                </a:solidFill>
                <a:latin typeface="Meiryo" pitchFamily="34" charset="0"/>
                <a:ea typeface="Meiryo" pitchFamily="34" charset="-122"/>
                <a:cs typeface="Meiryo" pitchFamily="34" charset="-120"/>
              </a:rPr>
              <a:t>8月30日にご回答いただいた内容と、本提案への反映箇所です。</a:t>
            </a:r>
            <a:endParaRPr lang="en-US" sz="1250" dirty="0"/>
          </a:p>
        </p:txBody>
      </p:sp>
      <p:sp>
        <p:nvSpPr>
          <p:cNvPr id="5" name="Text 3"/>
          <p:cNvSpPr txBox="1"/>
          <p:nvPr/>
        </p:nvSpPr>
        <p:spPr>
          <a:xfrm>
            <a:off x="548640" y="6382512"/>
            <a:ext cx="8686800" cy="256032"/>
          </a:xfrm>
          <a:prstGeom prst="rect">
            <a:avLst/>
          </a:prstGeom>
          <a:noFill/>
          <a:ln/>
        </p:spPr>
        <p:txBody>
          <a:bodyPr wrap="square" lIns="0" tIns="0" rIns="0" bIns="0" rtlCol="0" anchor="ctr"/>
          <a:lstStyle/>
          <a:p>
            <a:pPr indent="0" marL="0">
              <a:buNone/>
            </a:pPr>
            <a:r>
              <a:rPr lang="en-US" sz="900" dirty="0">
                <a:solidFill>
                  <a:srgbClr val="6B7B8A"/>
                </a:solidFill>
                <a:latin typeface="Meiryo" pitchFamily="34" charset="0"/>
                <a:ea typeface="Meiryo" pitchFamily="34" charset="-122"/>
                <a:cs typeface="Meiryo" pitchFamily="34" charset="-120"/>
              </a:rPr>
              <a:t>株式会社聖建 御中 ｜ 建設業 特別教育 オンライン受講プラットフォーム ご提案</a:t>
            </a:r>
            <a:endParaRPr lang="en-US" sz="900" dirty="0"/>
          </a:p>
        </p:txBody>
      </p:sp>
      <p:sp>
        <p:nvSpPr>
          <p:cNvPr id="6" name="Text 4"/>
          <p:cNvSpPr txBox="1"/>
          <p:nvPr/>
        </p:nvSpPr>
        <p:spPr>
          <a:xfrm>
            <a:off x="11002975" y="6382512"/>
            <a:ext cx="640080" cy="256032"/>
          </a:xfrm>
          <a:prstGeom prst="rect">
            <a:avLst/>
          </a:prstGeom>
          <a:noFill/>
          <a:ln/>
        </p:spPr>
        <p:txBody>
          <a:bodyPr wrap="square" lIns="0" tIns="0" rIns="0" bIns="0" rtlCol="0" anchor="ctr"/>
          <a:lstStyle/>
          <a:p>
            <a:pPr algn="r" indent="0" marL="0">
              <a:buNone/>
            </a:pPr>
            <a:r>
              <a:rPr lang="en-US" sz="1000" b="1" dirty="0">
                <a:solidFill>
                  <a:srgbClr val="3E6B8C"/>
                </a:solidFill>
                <a:latin typeface="Meiryo" pitchFamily="34" charset="0"/>
                <a:ea typeface="Meiryo" pitchFamily="34" charset="-122"/>
                <a:cs typeface="Meiryo" pitchFamily="34" charset="-120"/>
              </a:rPr>
              <a:t>3</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468880"/>
                <a:gridCol w="3657600"/>
                <a:gridCol w="4967935"/>
              </a:tblGrid>
              <a:tr h="384048">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ご確認事項</a:t>
                      </a:r>
                      <a:endParaRPr lang="en-US" sz="115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16324F"/>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聖建様のご回答</a:t>
                      </a:r>
                      <a:endParaRPr lang="en-US" sz="115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16324F"/>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本提案への反映</a:t>
                      </a:r>
                      <a:endParaRPr lang="en-US" sz="115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16324F"/>
                    </a:solidFill>
                  </a:tcPr>
                </a:tc>
              </a:tr>
              <a:tr h="713232">
                <a:tc>
                  <a:txBody>
                    <a:bodyPr/>
                    <a:lstStyle/>
                    <a:p>
                      <a:pPr indent="0" marL="0">
                        <a:buNone/>
                      </a:pPr>
                      <a:r>
                        <a:rPr lang="en-US" sz="1100" dirty="0">
                          <a:solidFill>
                            <a:srgbClr val="1C2A38"/>
                          </a:solidFill>
                          <a:latin typeface="Meiryo" pitchFamily="34" charset="0"/>
                          <a:ea typeface="Meiryo" pitchFamily="34" charset="-122"/>
                          <a:cs typeface="Meiryo" pitchFamily="34" charset="-120"/>
                        </a:rPr>
                        <a:t>受講される方の範囲</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100" b="1" dirty="0">
                          <a:solidFill>
                            <a:srgbClr val="16324F"/>
                          </a:solidFill>
                          <a:latin typeface="Meiryo" pitchFamily="34" charset="0"/>
                          <a:ea typeface="Meiryo" pitchFamily="34" charset="-122"/>
                          <a:cs typeface="Meiryo" pitchFamily="34" charset="-120"/>
                        </a:rPr>
                        <a:t>C. 外部の建設会社へ有料提供（新規事業）</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100" dirty="0">
                          <a:solidFill>
                            <a:srgbClr val="1C2A38"/>
                          </a:solidFill>
                          <a:latin typeface="Meiryo" pitchFamily="34" charset="0"/>
                          <a:ea typeface="Meiryo" pitchFamily="34" charset="-122"/>
                          <a:cs typeface="Meiryo" pitchFamily="34" charset="-120"/>
                        </a:rPr>
                        <a:t>決済・企業アカウント・修了証発行を含む「事業パッケージ」として設計（P.8・P.14）</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r>
              <a:tr h="713232">
                <a:tc>
                  <a:txBody>
                    <a:bodyPr/>
                    <a:lstStyle/>
                    <a:p>
                      <a:pPr indent="0" marL="0">
                        <a:buNone/>
                      </a:pPr>
                      <a:r>
                        <a:rPr lang="en-US" sz="1100" dirty="0">
                          <a:solidFill>
                            <a:srgbClr val="1C2A38"/>
                          </a:solidFill>
                          <a:latin typeface="Meiryo" pitchFamily="34" charset="0"/>
                          <a:ea typeface="Meiryo" pitchFamily="34" charset="-122"/>
                          <a:cs typeface="Meiryo" pitchFamily="34" charset="-120"/>
                        </a:rPr>
                        <a:t>講師と教材の確保</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100" b="1" dirty="0">
                          <a:solidFill>
                            <a:srgbClr val="16324F"/>
                          </a:solidFill>
                          <a:latin typeface="Meiryo" pitchFamily="34" charset="0"/>
                          <a:ea typeface="Meiryo" pitchFamily="34" charset="-122"/>
                          <a:cs typeface="Meiryo" pitchFamily="34" charset="-120"/>
                        </a:rPr>
                        <a:t>D. 未定。選択肢の比較から相談したい</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100" dirty="0">
                          <a:solidFill>
                            <a:srgbClr val="1C2A38"/>
                          </a:solidFill>
                          <a:latin typeface="Meiryo" pitchFamily="34" charset="0"/>
                          <a:ea typeface="Meiryo" pitchFamily="34" charset="-122"/>
                          <a:cs typeface="Meiryo" pitchFamily="34" charset="-120"/>
                        </a:rPr>
                        <a:t>3案を費用・利益率・リスクで比較し、推奨シナリオをご提示（P.12・P.13）</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r>
              <a:tr h="713232">
                <a:tc>
                  <a:txBody>
                    <a:bodyPr/>
                    <a:lstStyle/>
                    <a:p>
                      <a:pPr indent="0" marL="0">
                        <a:buNone/>
                      </a:pPr>
                      <a:r>
                        <a:rPr lang="en-US" sz="1100" dirty="0">
                          <a:solidFill>
                            <a:srgbClr val="1C2A38"/>
                          </a:solidFill>
                          <a:latin typeface="Meiryo" pitchFamily="34" charset="0"/>
                          <a:ea typeface="Meiryo" pitchFamily="34" charset="-122"/>
                          <a:cs typeface="Meiryo" pitchFamily="34" charset="-120"/>
                        </a:rPr>
                        <a:t>本人確認・受講確認の水準</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100" b="1" dirty="0">
                          <a:solidFill>
                            <a:srgbClr val="16324F"/>
                          </a:solidFill>
                          <a:latin typeface="Meiryo" pitchFamily="34" charset="0"/>
                          <a:ea typeface="Meiryo" pitchFamily="34" charset="-122"/>
                          <a:cs typeface="Meiryo" pitchFamily="34" charset="-120"/>
                        </a:rPr>
                        <a:t>A. 標準案（書類＋顔写真＋ランダム撮影＋テスト）</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100" dirty="0">
                          <a:solidFill>
                            <a:srgbClr val="1C2A38"/>
                          </a:solidFill>
                          <a:latin typeface="Meiryo" pitchFamily="34" charset="0"/>
                          <a:ea typeface="Meiryo" pitchFamily="34" charset="-122"/>
                          <a:cs typeface="Meiryo" pitchFamily="34" charset="-120"/>
                        </a:rPr>
                        <a:t>5層の受講確認モデルとして具体化。法令要件との対応も明示（P.7）</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r>
              <a:tr h="713232">
                <a:tc>
                  <a:txBody>
                    <a:bodyPr/>
                    <a:lstStyle/>
                    <a:p>
                      <a:pPr indent="0" marL="0">
                        <a:buNone/>
                      </a:pPr>
                      <a:r>
                        <a:rPr lang="en-US" sz="1100" dirty="0">
                          <a:solidFill>
                            <a:srgbClr val="1C2A38"/>
                          </a:solidFill>
                          <a:latin typeface="Meiryo" pitchFamily="34" charset="0"/>
                          <a:ea typeface="Meiryo" pitchFamily="34" charset="-122"/>
                          <a:cs typeface="Meiryo" pitchFamily="34" charset="-120"/>
                        </a:rPr>
                        <a:t>対象とする講習科目</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100" b="1" dirty="0">
                          <a:solidFill>
                            <a:srgbClr val="16324F"/>
                          </a:solidFill>
                          <a:latin typeface="Meiryo" pitchFamily="34" charset="0"/>
                          <a:ea typeface="Meiryo" pitchFamily="34" charset="-122"/>
                          <a:cs typeface="Meiryo" pitchFamily="34" charset="-120"/>
                        </a:rPr>
                        <a:t>B. 学科はオンライン、実技は自社で対面実施</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100" dirty="0">
                          <a:solidFill>
                            <a:srgbClr val="1C2A38"/>
                          </a:solidFill>
                          <a:latin typeface="Meiryo" pitchFamily="34" charset="0"/>
                          <a:ea typeface="Meiryo" pitchFamily="34" charset="-122"/>
                          <a:cs typeface="Meiryo" pitchFamily="34" charset="-120"/>
                        </a:rPr>
                        <a:t>学科と実技を分離した2プラン構成。商圏の広さと単価を両立（P.14）</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r>
              <a:tr h="713232">
                <a:tc>
                  <a:txBody>
                    <a:bodyPr/>
                    <a:lstStyle/>
                    <a:p>
                      <a:pPr indent="0" marL="0">
                        <a:buNone/>
                      </a:pPr>
                      <a:r>
                        <a:rPr lang="en-US" sz="1100" dirty="0">
                          <a:solidFill>
                            <a:srgbClr val="1C2A38"/>
                          </a:solidFill>
                          <a:latin typeface="Meiryo" pitchFamily="34" charset="0"/>
                          <a:ea typeface="Meiryo" pitchFamily="34" charset="-122"/>
                          <a:cs typeface="Meiryo" pitchFamily="34" charset="-120"/>
                        </a:rPr>
                        <a:t>予算・稼働時期・記録管理</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100" b="1" dirty="0">
                          <a:solidFill>
                            <a:srgbClr val="6B7B8A"/>
                          </a:solidFill>
                          <a:latin typeface="Meiryo" pitchFamily="34" charset="0"/>
                          <a:ea typeface="Meiryo" pitchFamily="34" charset="-122"/>
                          <a:cs typeface="Meiryo" pitchFamily="34" charset="-120"/>
                        </a:rPr>
                        <a:t>いずれも未定</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100" dirty="0">
                          <a:solidFill>
                            <a:srgbClr val="1C2A38"/>
                          </a:solidFill>
                          <a:latin typeface="Meiryo" pitchFamily="34" charset="0"/>
                          <a:ea typeface="Meiryo" pitchFamily="34" charset="-122"/>
                          <a:cs typeface="Meiryo" pitchFamily="34" charset="-120"/>
                        </a:rPr>
                        <a:t>段階投資型のフェーズ計画（P.16）と補助金の活用可能性（P.19）をご提示</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5806440"/>
            <a:ext cx="11094415" cy="274320"/>
          </a:xfrm>
          <a:prstGeom prst="rect">
            <a:avLst/>
          </a:prstGeom>
          <a:noFill/>
          <a:ln/>
        </p:spPr>
        <p:txBody>
          <a:bodyPr wrap="square" lIns="0" tIns="0" rIns="0" bIns="0" rtlCol="0" anchor="ctr"/>
          <a:lstStyle/>
          <a:p>
            <a:pPr indent="0" marL="0">
              <a:buNone/>
            </a:pPr>
            <a:r>
              <a:rPr lang="en-US" sz="1050" dirty="0">
                <a:solidFill>
                  <a:srgbClr val="6B7B8A"/>
                </a:solidFill>
                <a:latin typeface="Meiryo" pitchFamily="34" charset="0"/>
                <a:ea typeface="Meiryo" pitchFamily="34" charset="-122"/>
                <a:cs typeface="Meiryo" pitchFamily="34" charset="-120"/>
              </a:rPr>
              <a:t>※ 「弊社でも調べたうえで当日ご質問したい」とのご連絡をいただいております。想定される論点はP.20にまとめました。</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7"/>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indent="0" marL="0">
              <a:buNone/>
            </a:pPr>
            <a:r>
              <a:rPr lang="en-US" sz="1100" b="1" spc="150" kern="0" dirty="0">
                <a:solidFill>
                  <a:srgbClr val="B87400"/>
                </a:solidFill>
                <a:latin typeface="Meiryo" pitchFamily="34" charset="0"/>
                <a:ea typeface="Meiryo" pitchFamily="34" charset="-122"/>
                <a:cs typeface="Meiryo" pitchFamily="34" charset="-120"/>
              </a:rPr>
              <a:t>MARKET</a:t>
            </a:r>
            <a:endParaRPr lang="en-US" sz="1100" dirty="0"/>
          </a:p>
        </p:txBody>
      </p:sp>
      <p:sp>
        <p:nvSpPr>
          <p:cNvPr id="3" name="Text 1"/>
          <p:cNvSpPr txBox="1"/>
          <p:nvPr/>
        </p:nvSpPr>
        <p:spPr>
          <a:xfrm>
            <a:off x="548640" y="603504"/>
            <a:ext cx="11094415" cy="548640"/>
          </a:xfrm>
          <a:prstGeom prst="rect">
            <a:avLst/>
          </a:prstGeom>
          <a:noFill/>
          <a:ln/>
        </p:spPr>
        <p:txBody>
          <a:bodyPr wrap="square" lIns="0" tIns="0" rIns="0" bIns="0" rtlCol="0" anchor="ctr"/>
          <a:lstStyle/>
          <a:p>
            <a:pPr indent="0" marL="0">
              <a:buNone/>
            </a:pPr>
            <a:r>
              <a:rPr lang="en-US" sz="2700" b="1" dirty="0">
                <a:solidFill>
                  <a:srgbClr val="16324F"/>
                </a:solidFill>
                <a:latin typeface="Meiryo" pitchFamily="34" charset="0"/>
                <a:ea typeface="Meiryo" pitchFamily="34" charset="-122"/>
                <a:cs typeface="Meiryo" pitchFamily="34" charset="-120"/>
              </a:rPr>
              <a:t>なぜ、いま参入できるのか</a:t>
            </a:r>
            <a:endParaRPr lang="en-US" sz="2700" dirty="0"/>
          </a:p>
        </p:txBody>
      </p:sp>
      <p:sp>
        <p:nvSpPr>
          <p:cNvPr id="4" name="Text 2"/>
          <p:cNvSpPr txBox="1"/>
          <p:nvPr/>
        </p:nvSpPr>
        <p:spPr>
          <a:xfrm>
            <a:off x="548640" y="1188720"/>
            <a:ext cx="11094415" cy="329184"/>
          </a:xfrm>
          <a:prstGeom prst="rect">
            <a:avLst/>
          </a:prstGeom>
          <a:noFill/>
          <a:ln/>
        </p:spPr>
        <p:txBody>
          <a:bodyPr wrap="square" lIns="0" tIns="0" rIns="0" bIns="0" rtlCol="0" anchor="ctr"/>
          <a:lstStyle/>
          <a:p>
            <a:pPr indent="0" marL="0">
              <a:buNone/>
            </a:pPr>
            <a:r>
              <a:rPr lang="en-US" sz="1250" dirty="0">
                <a:solidFill>
                  <a:srgbClr val="6B7B8A"/>
                </a:solidFill>
                <a:latin typeface="Meiryo" pitchFamily="34" charset="0"/>
                <a:ea typeface="Meiryo" pitchFamily="34" charset="-122"/>
                <a:cs typeface="Meiryo" pitchFamily="34" charset="-120"/>
              </a:rPr>
              <a:t>商圏と需要は、すでに数字で確認できます。</a:t>
            </a:r>
            <a:endParaRPr lang="en-US" sz="1250" dirty="0"/>
          </a:p>
        </p:txBody>
      </p:sp>
      <p:sp>
        <p:nvSpPr>
          <p:cNvPr id="5" name="Text 3"/>
          <p:cNvSpPr txBox="1"/>
          <p:nvPr/>
        </p:nvSpPr>
        <p:spPr>
          <a:xfrm>
            <a:off x="548640" y="6382512"/>
            <a:ext cx="8686800" cy="256032"/>
          </a:xfrm>
          <a:prstGeom prst="rect">
            <a:avLst/>
          </a:prstGeom>
          <a:noFill/>
          <a:ln/>
        </p:spPr>
        <p:txBody>
          <a:bodyPr wrap="square" lIns="0" tIns="0" rIns="0" bIns="0" rtlCol="0" anchor="ctr"/>
          <a:lstStyle/>
          <a:p>
            <a:pPr indent="0" marL="0">
              <a:buNone/>
            </a:pPr>
            <a:r>
              <a:rPr lang="en-US" sz="900" dirty="0">
                <a:solidFill>
                  <a:srgbClr val="6B7B8A"/>
                </a:solidFill>
                <a:latin typeface="Meiryo" pitchFamily="34" charset="0"/>
                <a:ea typeface="Meiryo" pitchFamily="34" charset="-122"/>
                <a:cs typeface="Meiryo" pitchFamily="34" charset="-120"/>
              </a:rPr>
              <a:t>株式会社聖建 御中 ｜ 建設業 特別教育 オンライン受講プラットフォーム ご提案</a:t>
            </a:r>
            <a:endParaRPr lang="en-US" sz="900" dirty="0"/>
          </a:p>
        </p:txBody>
      </p:sp>
      <p:sp>
        <p:nvSpPr>
          <p:cNvPr id="6" name="Text 4"/>
          <p:cNvSpPr txBox="1"/>
          <p:nvPr/>
        </p:nvSpPr>
        <p:spPr>
          <a:xfrm>
            <a:off x="11002975" y="6382512"/>
            <a:ext cx="640080" cy="256032"/>
          </a:xfrm>
          <a:prstGeom prst="rect">
            <a:avLst/>
          </a:prstGeom>
          <a:noFill/>
          <a:ln/>
        </p:spPr>
        <p:txBody>
          <a:bodyPr wrap="square" lIns="0" tIns="0" rIns="0" bIns="0" rtlCol="0" anchor="ctr"/>
          <a:lstStyle/>
          <a:p>
            <a:pPr algn="r" indent="0" marL="0">
              <a:buNone/>
            </a:pPr>
            <a:r>
              <a:rPr lang="en-US" sz="1000" b="1" dirty="0">
                <a:solidFill>
                  <a:srgbClr val="3E6B8C"/>
                </a:solidFill>
                <a:latin typeface="Meiryo" pitchFamily="34" charset="0"/>
                <a:ea typeface="Meiryo" pitchFamily="34" charset="-122"/>
                <a:cs typeface="Meiryo" pitchFamily="34" charset="-120"/>
              </a:rPr>
              <a:t>4</a:t>
            </a:r>
            <a:endParaRPr lang="en-US" sz="1000" dirty="0"/>
          </a:p>
        </p:txBody>
      </p:sp>
      <p:sp>
        <p:nvSpPr>
          <p:cNvPr id="7" name="Shape 5"/>
          <p:cNvSpPr/>
          <p:nvPr/>
        </p:nvSpPr>
        <p:spPr>
          <a:xfrm>
            <a:off x="548640" y="1691640"/>
            <a:ext cx="3545738" cy="1828800"/>
          </a:xfrm>
          <a:prstGeom prst="roundRect">
            <a:avLst>
              <a:gd name="adj" fmla="val 2500"/>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8" name="Text 6"/>
          <p:cNvSpPr txBox="1"/>
          <p:nvPr/>
        </p:nvSpPr>
        <p:spPr>
          <a:xfrm>
            <a:off x="804672" y="1874520"/>
            <a:ext cx="3033674" cy="566928"/>
          </a:xfrm>
          <a:prstGeom prst="rect">
            <a:avLst/>
          </a:prstGeom>
          <a:noFill/>
          <a:ln/>
        </p:spPr>
        <p:txBody>
          <a:bodyPr wrap="square" lIns="0" tIns="0" rIns="0" bIns="0" rtlCol="0" anchor="ctr"/>
          <a:lstStyle/>
          <a:p>
            <a:pPr indent="0" marL="0">
              <a:buNone/>
            </a:pPr>
            <a:r>
              <a:rPr lang="en-US" sz="2600" b="1" dirty="0">
                <a:solidFill>
                  <a:srgbClr val="B87400"/>
                </a:solidFill>
                <a:latin typeface="Meiryo" pitchFamily="34" charset="0"/>
                <a:ea typeface="Meiryo" pitchFamily="34" charset="-122"/>
                <a:cs typeface="Meiryo" pitchFamily="34" charset="-120"/>
              </a:rPr>
              <a:t>28,423者</a:t>
            </a:r>
            <a:endParaRPr lang="en-US" sz="2600" dirty="0"/>
          </a:p>
        </p:txBody>
      </p:sp>
      <p:sp>
        <p:nvSpPr>
          <p:cNvPr id="9" name="Text 7"/>
          <p:cNvSpPr txBox="1"/>
          <p:nvPr/>
        </p:nvSpPr>
        <p:spPr>
          <a:xfrm>
            <a:off x="804672" y="2542032"/>
            <a:ext cx="3033674" cy="548640"/>
          </a:xfrm>
          <a:prstGeom prst="rect">
            <a:avLst/>
          </a:prstGeom>
          <a:noFill/>
          <a:ln/>
        </p:spPr>
        <p:txBody>
          <a:bodyPr wrap="square" lIns="0" tIns="0" rIns="0" bIns="0" rtlCol="0" anchor="ctr"/>
          <a:lstStyle/>
          <a:p>
            <a:pPr indent="0" marL="0">
              <a:buNone/>
            </a:pPr>
            <a:r>
              <a:rPr lang="en-US" sz="1250" b="1" dirty="0">
                <a:solidFill>
                  <a:srgbClr val="16324F"/>
                </a:solidFill>
                <a:latin typeface="Meiryo" pitchFamily="34" charset="0"/>
                <a:ea typeface="Meiryo" pitchFamily="34" charset="-122"/>
                <a:cs typeface="Meiryo" pitchFamily="34" charset="-120"/>
              </a:rPr>
              <a:t>愛知県内の建設業許可業者数</a:t>
            </a:r>
            <a:endParaRPr lang="en-US" sz="1250" dirty="0"/>
          </a:p>
        </p:txBody>
      </p:sp>
      <p:sp>
        <p:nvSpPr>
          <p:cNvPr id="10" name="Text 8"/>
          <p:cNvSpPr txBox="1"/>
          <p:nvPr/>
        </p:nvSpPr>
        <p:spPr>
          <a:xfrm>
            <a:off x="804672" y="3090672"/>
            <a:ext cx="3033674" cy="365760"/>
          </a:xfrm>
          <a:prstGeom prst="rect">
            <a:avLst/>
          </a:prstGeom>
          <a:noFill/>
          <a:ln/>
        </p:spPr>
        <p:txBody>
          <a:bodyPr wrap="square" lIns="0" tIns="0" rIns="0" bIns="0" rtlCol="0" anchor="ctr"/>
          <a:lstStyle/>
          <a:p>
            <a:pPr indent="0" marL="0">
              <a:buNone/>
            </a:pPr>
            <a:r>
              <a:rPr lang="en-US" sz="1000" dirty="0">
                <a:solidFill>
                  <a:srgbClr val="6B7B8A"/>
                </a:solidFill>
                <a:latin typeface="Meiryo" pitchFamily="34" charset="0"/>
                <a:ea typeface="Meiryo" pitchFamily="34" charset="-122"/>
                <a:cs typeface="Meiryo" pitchFamily="34" charset="-120"/>
              </a:rPr>
              <a:t>2026年3月末時点。前年比 +0.8% と増加傾向</a:t>
            </a:r>
            <a:endParaRPr lang="en-US" sz="1000" dirty="0"/>
          </a:p>
        </p:txBody>
      </p:sp>
      <p:sp>
        <p:nvSpPr>
          <p:cNvPr id="11" name="Shape 9"/>
          <p:cNvSpPr/>
          <p:nvPr/>
        </p:nvSpPr>
        <p:spPr>
          <a:xfrm>
            <a:off x="4322978" y="1691640"/>
            <a:ext cx="3545738" cy="1828800"/>
          </a:xfrm>
          <a:prstGeom prst="roundRect">
            <a:avLst>
              <a:gd name="adj" fmla="val 2500"/>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12" name="Text 10"/>
          <p:cNvSpPr txBox="1"/>
          <p:nvPr/>
        </p:nvSpPr>
        <p:spPr>
          <a:xfrm>
            <a:off x="4579010" y="1874520"/>
            <a:ext cx="3033674" cy="566928"/>
          </a:xfrm>
          <a:prstGeom prst="rect">
            <a:avLst/>
          </a:prstGeom>
          <a:noFill/>
          <a:ln/>
        </p:spPr>
        <p:txBody>
          <a:bodyPr wrap="square" lIns="0" tIns="0" rIns="0" bIns="0" rtlCol="0" anchor="ctr"/>
          <a:lstStyle/>
          <a:p>
            <a:pPr indent="0" marL="0">
              <a:buNone/>
            </a:pPr>
            <a:r>
              <a:rPr lang="en-US" sz="2000" b="1" dirty="0">
                <a:solidFill>
                  <a:srgbClr val="B87400"/>
                </a:solidFill>
                <a:latin typeface="Meiryo" pitchFamily="34" charset="0"/>
                <a:ea typeface="Meiryo" pitchFamily="34" charset="-122"/>
                <a:cs typeface="Meiryo" pitchFamily="34" charset="-120"/>
              </a:rPr>
              <a:t>8,000〜15,000円</a:t>
            </a:r>
            <a:endParaRPr lang="en-US" sz="2000" dirty="0"/>
          </a:p>
        </p:txBody>
      </p:sp>
      <p:sp>
        <p:nvSpPr>
          <p:cNvPr id="13" name="Text 11"/>
          <p:cNvSpPr txBox="1"/>
          <p:nvPr/>
        </p:nvSpPr>
        <p:spPr>
          <a:xfrm>
            <a:off x="4579010" y="2542032"/>
            <a:ext cx="3033674" cy="548640"/>
          </a:xfrm>
          <a:prstGeom prst="rect">
            <a:avLst/>
          </a:prstGeom>
          <a:noFill/>
          <a:ln/>
        </p:spPr>
        <p:txBody>
          <a:bodyPr wrap="square" lIns="0" tIns="0" rIns="0" bIns="0" rtlCol="0" anchor="ctr"/>
          <a:lstStyle/>
          <a:p>
            <a:pPr indent="0" marL="0">
              <a:buNone/>
            </a:pPr>
            <a:r>
              <a:rPr lang="en-US" sz="1250" b="1" dirty="0">
                <a:solidFill>
                  <a:srgbClr val="16324F"/>
                </a:solidFill>
                <a:latin typeface="Meiryo" pitchFamily="34" charset="0"/>
                <a:ea typeface="Meiryo" pitchFamily="34" charset="-122"/>
                <a:cs typeface="Meiryo" pitchFamily="34" charset="-120"/>
              </a:rPr>
              <a:t>特別教育1科目あたりの受講料相場</a:t>
            </a:r>
            <a:endParaRPr lang="en-US" sz="1250" dirty="0"/>
          </a:p>
        </p:txBody>
      </p:sp>
      <p:sp>
        <p:nvSpPr>
          <p:cNvPr id="14" name="Text 12"/>
          <p:cNvSpPr txBox="1"/>
          <p:nvPr/>
        </p:nvSpPr>
        <p:spPr>
          <a:xfrm>
            <a:off x="4579010" y="3090672"/>
            <a:ext cx="3033674" cy="365760"/>
          </a:xfrm>
          <a:prstGeom prst="rect">
            <a:avLst/>
          </a:prstGeom>
          <a:noFill/>
          <a:ln/>
        </p:spPr>
        <p:txBody>
          <a:bodyPr wrap="square" lIns="0" tIns="0" rIns="0" bIns="0" rtlCol="0" anchor="ctr"/>
          <a:lstStyle/>
          <a:p>
            <a:pPr indent="0" marL="0">
              <a:buNone/>
            </a:pPr>
            <a:r>
              <a:rPr lang="en-US" sz="1000" dirty="0">
                <a:solidFill>
                  <a:srgbClr val="6B7B8A"/>
                </a:solidFill>
                <a:latin typeface="Meiryo" pitchFamily="34" charset="0"/>
                <a:ea typeface="Meiryo" pitchFamily="34" charset="-122"/>
                <a:cs typeface="Meiryo" pitchFamily="34" charset="-120"/>
              </a:rPr>
              <a:t>1名あたり。科目・実施形態により変動</a:t>
            </a:r>
            <a:endParaRPr lang="en-US" sz="1000" dirty="0"/>
          </a:p>
        </p:txBody>
      </p:sp>
      <p:sp>
        <p:nvSpPr>
          <p:cNvPr id="15" name="Shape 13"/>
          <p:cNvSpPr/>
          <p:nvPr/>
        </p:nvSpPr>
        <p:spPr>
          <a:xfrm>
            <a:off x="8097317" y="1691640"/>
            <a:ext cx="3545738" cy="1828800"/>
          </a:xfrm>
          <a:prstGeom prst="roundRect">
            <a:avLst>
              <a:gd name="adj" fmla="val 2500"/>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16" name="Text 14"/>
          <p:cNvSpPr txBox="1"/>
          <p:nvPr/>
        </p:nvSpPr>
        <p:spPr>
          <a:xfrm>
            <a:off x="8353349" y="1874520"/>
            <a:ext cx="3033674" cy="566928"/>
          </a:xfrm>
          <a:prstGeom prst="rect">
            <a:avLst/>
          </a:prstGeom>
          <a:noFill/>
          <a:ln/>
        </p:spPr>
        <p:txBody>
          <a:bodyPr wrap="square" lIns="0" tIns="0" rIns="0" bIns="0" rtlCol="0" anchor="ctr"/>
          <a:lstStyle/>
          <a:p>
            <a:pPr indent="0" marL="0">
              <a:buNone/>
            </a:pPr>
            <a:r>
              <a:rPr lang="en-US" sz="2600" b="1" dirty="0">
                <a:solidFill>
                  <a:srgbClr val="B87400"/>
                </a:solidFill>
                <a:latin typeface="Meiryo" pitchFamily="34" charset="0"/>
                <a:ea typeface="Meiryo" pitchFamily="34" charset="-122"/>
                <a:cs typeface="Meiryo" pitchFamily="34" charset="-120"/>
              </a:rPr>
              <a:t>2024年2月</a:t>
            </a:r>
            <a:endParaRPr lang="en-US" sz="2600" dirty="0"/>
          </a:p>
        </p:txBody>
      </p:sp>
      <p:sp>
        <p:nvSpPr>
          <p:cNvPr id="17" name="Text 15"/>
          <p:cNvSpPr txBox="1"/>
          <p:nvPr/>
        </p:nvSpPr>
        <p:spPr>
          <a:xfrm>
            <a:off x="8353349" y="2542032"/>
            <a:ext cx="3033674" cy="548640"/>
          </a:xfrm>
          <a:prstGeom prst="rect">
            <a:avLst/>
          </a:prstGeom>
          <a:noFill/>
          <a:ln/>
        </p:spPr>
        <p:txBody>
          <a:bodyPr wrap="square" lIns="0" tIns="0" rIns="0" bIns="0" rtlCol="0" anchor="ctr"/>
          <a:lstStyle/>
          <a:p>
            <a:pPr indent="0" marL="0">
              <a:buNone/>
            </a:pPr>
            <a:r>
              <a:rPr lang="en-US" sz="1250" b="1" dirty="0">
                <a:solidFill>
                  <a:srgbClr val="16324F"/>
                </a:solidFill>
                <a:latin typeface="Meiryo" pitchFamily="34" charset="0"/>
                <a:ea typeface="Meiryo" pitchFamily="34" charset="-122"/>
                <a:cs typeface="Meiryo" pitchFamily="34" charset="-120"/>
              </a:rPr>
              <a:t>テールゲートリフター特別教育が義務化</a:t>
            </a:r>
            <a:endParaRPr lang="en-US" sz="1250" dirty="0"/>
          </a:p>
        </p:txBody>
      </p:sp>
      <p:sp>
        <p:nvSpPr>
          <p:cNvPr id="18" name="Text 16"/>
          <p:cNvSpPr txBox="1"/>
          <p:nvPr/>
        </p:nvSpPr>
        <p:spPr>
          <a:xfrm>
            <a:off x="8353349" y="3090672"/>
            <a:ext cx="3033674" cy="365760"/>
          </a:xfrm>
          <a:prstGeom prst="rect">
            <a:avLst/>
          </a:prstGeom>
          <a:noFill/>
          <a:ln/>
        </p:spPr>
        <p:txBody>
          <a:bodyPr wrap="square" lIns="0" tIns="0" rIns="0" bIns="0" rtlCol="0" anchor="ctr"/>
          <a:lstStyle/>
          <a:p>
            <a:pPr indent="0" marL="0">
              <a:buNone/>
            </a:pPr>
            <a:r>
              <a:rPr lang="en-US" sz="1000" dirty="0">
                <a:solidFill>
                  <a:srgbClr val="6B7B8A"/>
                </a:solidFill>
                <a:latin typeface="Meiryo" pitchFamily="34" charset="0"/>
                <a:ea typeface="Meiryo" pitchFamily="34" charset="-122"/>
                <a:cs typeface="Meiryo" pitchFamily="34" charset="-120"/>
              </a:rPr>
              <a:t>学科4時間＋実技2時間。新たな受講需要が発生</a:t>
            </a:r>
            <a:endParaRPr lang="en-US" sz="1000" dirty="0"/>
          </a:p>
        </p:txBody>
      </p:sp>
      <p:sp>
        <p:nvSpPr>
          <p:cNvPr id="19" name="Shape 17"/>
          <p:cNvSpPr/>
          <p:nvPr/>
        </p:nvSpPr>
        <p:spPr>
          <a:xfrm>
            <a:off x="548640" y="3749040"/>
            <a:ext cx="11094415" cy="2194560"/>
          </a:xfrm>
          <a:prstGeom prst="roundRect">
            <a:avLst>
              <a:gd name="adj" fmla="val 2083"/>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20" name="Text 18"/>
          <p:cNvSpPr txBox="1"/>
          <p:nvPr/>
        </p:nvSpPr>
        <p:spPr>
          <a:xfrm>
            <a:off x="868680" y="3913632"/>
            <a:ext cx="5486400" cy="365760"/>
          </a:xfrm>
          <a:prstGeom prst="rect">
            <a:avLst/>
          </a:prstGeom>
          <a:noFill/>
          <a:ln/>
        </p:spPr>
        <p:txBody>
          <a:bodyPr wrap="square" lIns="0" tIns="0" rIns="0" bIns="0" rtlCol="0" anchor="ctr"/>
          <a:lstStyle/>
          <a:p>
            <a:pPr indent="0" marL="0">
              <a:buNone/>
            </a:pPr>
            <a:r>
              <a:rPr lang="en-US" sz="1500" b="1" dirty="0">
                <a:solidFill>
                  <a:srgbClr val="16324F"/>
                </a:solidFill>
                <a:latin typeface="Meiryo" pitchFamily="34" charset="0"/>
                <a:ea typeface="Meiryo" pitchFamily="34" charset="-122"/>
                <a:cs typeface="Meiryo" pitchFamily="34" charset="-120"/>
              </a:rPr>
              <a:t>外部委託のニーズが生まれる構造</a:t>
            </a:r>
            <a:endParaRPr lang="en-US" sz="1500" dirty="0"/>
          </a:p>
        </p:txBody>
      </p:sp>
      <p:sp>
        <p:nvSpPr>
          <p:cNvPr id="21" name="Shape 19"/>
          <p:cNvSpPr/>
          <p:nvPr/>
        </p:nvSpPr>
        <p:spPr>
          <a:xfrm>
            <a:off x="914400" y="4471416"/>
            <a:ext cx="118872" cy="118872"/>
          </a:xfrm>
          <a:prstGeom prst="ellipse">
            <a:avLst/>
          </a:prstGeom>
          <a:solidFill>
            <a:srgbClr val="E8960C"/>
          </a:solidFill>
          <a:ln/>
        </p:spPr>
      </p:sp>
      <p:sp>
        <p:nvSpPr>
          <p:cNvPr id="22" name="Text 20"/>
          <p:cNvSpPr txBox="1"/>
          <p:nvPr/>
        </p:nvSpPr>
        <p:spPr>
          <a:xfrm>
            <a:off x="1170432" y="4370832"/>
            <a:ext cx="10088575" cy="329184"/>
          </a:xfrm>
          <a:prstGeom prst="rect">
            <a:avLst/>
          </a:prstGeom>
          <a:noFill/>
          <a:ln/>
        </p:spPr>
        <p:txBody>
          <a:bodyPr wrap="square" lIns="0" tIns="0" rIns="0" bIns="0" rtlCol="0" anchor="ctr"/>
          <a:lstStyle/>
          <a:p>
            <a:pPr indent="0" marL="0">
              <a:buNone/>
            </a:pPr>
            <a:r>
              <a:rPr lang="en-US" sz="1150" dirty="0">
                <a:solidFill>
                  <a:srgbClr val="1C2A38"/>
                </a:solidFill>
                <a:latin typeface="Meiryo" pitchFamily="34" charset="0"/>
                <a:ea typeface="Meiryo" pitchFamily="34" charset="-122"/>
                <a:cs typeface="Meiryo" pitchFamily="34" charset="-120"/>
              </a:rPr>
              <a:t>特別教育の実施義務は「事業者」にあり、未実施の場合の罰則も事業者に科されます</a:t>
            </a:r>
            <a:endParaRPr lang="en-US" sz="1150" dirty="0"/>
          </a:p>
        </p:txBody>
      </p:sp>
      <p:sp>
        <p:nvSpPr>
          <p:cNvPr id="23" name="Shape 21"/>
          <p:cNvSpPr/>
          <p:nvPr/>
        </p:nvSpPr>
        <p:spPr>
          <a:xfrm>
            <a:off x="914400" y="4837176"/>
            <a:ext cx="118872" cy="118872"/>
          </a:xfrm>
          <a:prstGeom prst="ellipse">
            <a:avLst/>
          </a:prstGeom>
          <a:solidFill>
            <a:srgbClr val="E8960C"/>
          </a:solidFill>
          <a:ln/>
        </p:spPr>
      </p:sp>
      <p:sp>
        <p:nvSpPr>
          <p:cNvPr id="24" name="Text 22"/>
          <p:cNvSpPr txBox="1"/>
          <p:nvPr/>
        </p:nvSpPr>
        <p:spPr>
          <a:xfrm>
            <a:off x="1170432" y="4736592"/>
            <a:ext cx="10088575" cy="329184"/>
          </a:xfrm>
          <a:prstGeom prst="rect">
            <a:avLst/>
          </a:prstGeom>
          <a:noFill/>
          <a:ln/>
        </p:spPr>
        <p:txBody>
          <a:bodyPr wrap="square" lIns="0" tIns="0" rIns="0" bIns="0" rtlCol="0" anchor="ctr"/>
          <a:lstStyle/>
          <a:p>
            <a:pPr indent="0" marL="0">
              <a:buNone/>
            </a:pPr>
            <a:r>
              <a:rPr lang="en-US" sz="1150" dirty="0">
                <a:solidFill>
                  <a:srgbClr val="1C2A38"/>
                </a:solidFill>
                <a:latin typeface="Meiryo" pitchFamily="34" charset="0"/>
                <a:ea typeface="Meiryo" pitchFamily="34" charset="-122"/>
                <a:cs typeface="Meiryo" pitchFamily="34" charset="-120"/>
              </a:rPr>
              <a:t>一方で、従業員1〜29名規模の事業者が講師・教材・記録管理を自前で整えるのは負担が大きい</a:t>
            </a:r>
            <a:endParaRPr lang="en-US" sz="1150" dirty="0"/>
          </a:p>
        </p:txBody>
      </p:sp>
      <p:sp>
        <p:nvSpPr>
          <p:cNvPr id="25" name="Shape 23"/>
          <p:cNvSpPr/>
          <p:nvPr/>
        </p:nvSpPr>
        <p:spPr>
          <a:xfrm>
            <a:off x="914400" y="5202936"/>
            <a:ext cx="118872" cy="118872"/>
          </a:xfrm>
          <a:prstGeom prst="ellipse">
            <a:avLst/>
          </a:prstGeom>
          <a:solidFill>
            <a:srgbClr val="E8960C"/>
          </a:solidFill>
          <a:ln/>
        </p:spPr>
      </p:sp>
      <p:sp>
        <p:nvSpPr>
          <p:cNvPr id="26" name="Text 24"/>
          <p:cNvSpPr txBox="1"/>
          <p:nvPr/>
        </p:nvSpPr>
        <p:spPr>
          <a:xfrm>
            <a:off x="1170432" y="5102352"/>
            <a:ext cx="10088575" cy="329184"/>
          </a:xfrm>
          <a:prstGeom prst="rect">
            <a:avLst/>
          </a:prstGeom>
          <a:noFill/>
          <a:ln/>
        </p:spPr>
        <p:txBody>
          <a:bodyPr wrap="square" lIns="0" tIns="0" rIns="0" bIns="0" rtlCol="0" anchor="ctr"/>
          <a:lstStyle/>
          <a:p>
            <a:pPr indent="0" marL="0">
              <a:buNone/>
            </a:pPr>
            <a:r>
              <a:rPr lang="en-US" sz="1150" dirty="0">
                <a:solidFill>
                  <a:srgbClr val="1C2A38"/>
                </a:solidFill>
                <a:latin typeface="Meiryo" pitchFamily="34" charset="0"/>
                <a:ea typeface="Meiryo" pitchFamily="34" charset="-122"/>
                <a:cs typeface="Meiryo" pitchFamily="34" charset="-120"/>
              </a:rPr>
              <a:t>半田市は知多半島・名古屋港臨海部・中部国際空港圏を商圏に持ち、建設・物流の需要が厚い</a:t>
            </a:r>
            <a:endParaRPr lang="en-US" sz="1150" dirty="0"/>
          </a:p>
        </p:txBody>
      </p:sp>
      <p:sp>
        <p:nvSpPr>
          <p:cNvPr id="27" name="Shape 25"/>
          <p:cNvSpPr/>
          <p:nvPr/>
        </p:nvSpPr>
        <p:spPr>
          <a:xfrm>
            <a:off x="914400" y="5568696"/>
            <a:ext cx="118872" cy="118872"/>
          </a:xfrm>
          <a:prstGeom prst="ellipse">
            <a:avLst/>
          </a:prstGeom>
          <a:solidFill>
            <a:srgbClr val="E8960C"/>
          </a:solidFill>
          <a:ln/>
        </p:spPr>
      </p:sp>
      <p:sp>
        <p:nvSpPr>
          <p:cNvPr id="28" name="Text 26"/>
          <p:cNvSpPr txBox="1"/>
          <p:nvPr/>
        </p:nvSpPr>
        <p:spPr>
          <a:xfrm>
            <a:off x="1170432" y="5468112"/>
            <a:ext cx="10088575" cy="329184"/>
          </a:xfrm>
          <a:prstGeom prst="rect">
            <a:avLst/>
          </a:prstGeom>
          <a:noFill/>
          <a:ln/>
        </p:spPr>
        <p:txBody>
          <a:bodyPr wrap="square" lIns="0" tIns="0" rIns="0" bIns="0" rtlCol="0" anchor="ctr"/>
          <a:lstStyle/>
          <a:p>
            <a:pPr indent="0" marL="0">
              <a:buNone/>
            </a:pPr>
            <a:r>
              <a:rPr lang="en-US" sz="1150" dirty="0">
                <a:solidFill>
                  <a:srgbClr val="1C2A38"/>
                </a:solidFill>
                <a:latin typeface="Meiryo" pitchFamily="34" charset="0"/>
                <a:ea typeface="Meiryo" pitchFamily="34" charset="-122"/>
                <a:cs typeface="Meiryo" pitchFamily="34" charset="-120"/>
              </a:rPr>
              <a:t>学科をオンライン化すれば商圏は全国へ。実技は東海圏の来場需要を単価の高い商品として取り込める</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7"/>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indent="0" marL="0">
              <a:buNone/>
            </a:pPr>
            <a:r>
              <a:rPr lang="en-US" sz="1100" b="1" spc="150" kern="0" dirty="0">
                <a:solidFill>
                  <a:srgbClr val="B87400"/>
                </a:solidFill>
                <a:latin typeface="Meiryo" pitchFamily="34" charset="0"/>
                <a:ea typeface="Meiryo" pitchFamily="34" charset="-122"/>
                <a:cs typeface="Meiryo" pitchFamily="34" charset="-120"/>
              </a:rPr>
              <a:t>LEGAL BASIS</a:t>
            </a:r>
            <a:endParaRPr lang="en-US" sz="1100" dirty="0"/>
          </a:p>
        </p:txBody>
      </p:sp>
      <p:sp>
        <p:nvSpPr>
          <p:cNvPr id="3" name="Text 1"/>
          <p:cNvSpPr txBox="1"/>
          <p:nvPr/>
        </p:nvSpPr>
        <p:spPr>
          <a:xfrm>
            <a:off x="548640" y="603504"/>
            <a:ext cx="11094415" cy="548640"/>
          </a:xfrm>
          <a:prstGeom prst="rect">
            <a:avLst/>
          </a:prstGeom>
          <a:noFill/>
          <a:ln/>
        </p:spPr>
        <p:txBody>
          <a:bodyPr wrap="square" lIns="0" tIns="0" rIns="0" bIns="0" rtlCol="0" anchor="ctr"/>
          <a:lstStyle/>
          <a:p>
            <a:pPr indent="0" marL="0">
              <a:buNone/>
            </a:pPr>
            <a:r>
              <a:rPr lang="en-US" sz="2700" b="1" dirty="0">
                <a:solidFill>
                  <a:srgbClr val="16324F"/>
                </a:solidFill>
                <a:latin typeface="Meiryo" pitchFamily="34" charset="0"/>
                <a:ea typeface="Meiryo" pitchFamily="34" charset="-122"/>
                <a:cs typeface="Meiryo" pitchFamily="34" charset="-120"/>
              </a:rPr>
              <a:t>特別教育は「登録なし」で提供できます</a:t>
            </a:r>
            <a:endParaRPr lang="en-US" sz="2700" dirty="0"/>
          </a:p>
        </p:txBody>
      </p:sp>
      <p:sp>
        <p:nvSpPr>
          <p:cNvPr id="4" name="Text 2"/>
          <p:cNvSpPr txBox="1"/>
          <p:nvPr/>
        </p:nvSpPr>
        <p:spPr>
          <a:xfrm>
            <a:off x="548640" y="1188720"/>
            <a:ext cx="11094415" cy="329184"/>
          </a:xfrm>
          <a:prstGeom prst="rect">
            <a:avLst/>
          </a:prstGeom>
          <a:noFill/>
          <a:ln/>
        </p:spPr>
        <p:txBody>
          <a:bodyPr wrap="square" lIns="0" tIns="0" rIns="0" bIns="0" rtlCol="0" anchor="ctr"/>
          <a:lstStyle/>
          <a:p>
            <a:pPr indent="0" marL="0">
              <a:buNone/>
            </a:pPr>
            <a:r>
              <a:rPr lang="en-US" sz="1250" dirty="0">
                <a:solidFill>
                  <a:srgbClr val="6B7B8A"/>
                </a:solidFill>
                <a:latin typeface="Meiryo" pitchFamily="34" charset="0"/>
                <a:ea typeface="Meiryo" pitchFamily="34" charset="-122"/>
                <a:cs typeface="Meiryo" pitchFamily="34" charset="-120"/>
              </a:rPr>
              <a:t>免許・技能講習との決定的な違いが、聖建様の参入余地です。</a:t>
            </a:r>
            <a:endParaRPr lang="en-US" sz="1250" dirty="0"/>
          </a:p>
        </p:txBody>
      </p:sp>
      <p:sp>
        <p:nvSpPr>
          <p:cNvPr id="5" name="Text 3"/>
          <p:cNvSpPr txBox="1"/>
          <p:nvPr/>
        </p:nvSpPr>
        <p:spPr>
          <a:xfrm>
            <a:off x="548640" y="6382512"/>
            <a:ext cx="8686800" cy="256032"/>
          </a:xfrm>
          <a:prstGeom prst="rect">
            <a:avLst/>
          </a:prstGeom>
          <a:noFill/>
          <a:ln/>
        </p:spPr>
        <p:txBody>
          <a:bodyPr wrap="square" lIns="0" tIns="0" rIns="0" bIns="0" rtlCol="0" anchor="ctr"/>
          <a:lstStyle/>
          <a:p>
            <a:pPr indent="0" marL="0">
              <a:buNone/>
            </a:pPr>
            <a:r>
              <a:rPr lang="en-US" sz="900" dirty="0">
                <a:solidFill>
                  <a:srgbClr val="6B7B8A"/>
                </a:solidFill>
                <a:latin typeface="Meiryo" pitchFamily="34" charset="0"/>
                <a:ea typeface="Meiryo" pitchFamily="34" charset="-122"/>
                <a:cs typeface="Meiryo" pitchFamily="34" charset="-120"/>
              </a:rPr>
              <a:t>株式会社聖建 御中 ｜ 建設業 特別教育 オンライン受講プラットフォーム ご提案</a:t>
            </a:r>
            <a:endParaRPr lang="en-US" sz="900" dirty="0"/>
          </a:p>
        </p:txBody>
      </p:sp>
      <p:sp>
        <p:nvSpPr>
          <p:cNvPr id="6" name="Text 4"/>
          <p:cNvSpPr txBox="1"/>
          <p:nvPr/>
        </p:nvSpPr>
        <p:spPr>
          <a:xfrm>
            <a:off x="11002975" y="6382512"/>
            <a:ext cx="640080" cy="256032"/>
          </a:xfrm>
          <a:prstGeom prst="rect">
            <a:avLst/>
          </a:prstGeom>
          <a:noFill/>
          <a:ln/>
        </p:spPr>
        <p:txBody>
          <a:bodyPr wrap="square" lIns="0" tIns="0" rIns="0" bIns="0" rtlCol="0" anchor="ctr"/>
          <a:lstStyle/>
          <a:p>
            <a:pPr algn="r" indent="0" marL="0">
              <a:buNone/>
            </a:pPr>
            <a:r>
              <a:rPr lang="en-US" sz="1000" b="1" dirty="0">
                <a:solidFill>
                  <a:srgbClr val="3E6B8C"/>
                </a:solidFill>
                <a:latin typeface="Meiryo" pitchFamily="34" charset="0"/>
                <a:ea typeface="Meiryo" pitchFamily="34" charset="-122"/>
                <a:cs typeface="Meiryo"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011680"/>
                <a:gridCol w="2377440"/>
                <a:gridCol w="2926080"/>
                <a:gridCol w="3779215"/>
              </a:tblGrid>
              <a:tr h="365760">
                <a:tc>
                  <a:txBody>
                    <a:bodyPr/>
                    <a:lstStyle/>
                    <a:p>
                      <a:pPr algn="ctr" indent="0" marL="0">
                        <a:buNone/>
                      </a:pPr>
                      <a:endParaRPr lang="en-US" sz="115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16324F"/>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免許</a:t>
                      </a:r>
                      <a:endParaRPr lang="en-US" sz="115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16324F"/>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技能講習</a:t>
                      </a:r>
                      <a:endParaRPr lang="en-US" sz="115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16324F"/>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特別教育（今回の対象）</a:t>
                      </a:r>
                      <a:endParaRPr lang="en-US" sz="115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16324F"/>
                    </a:solidFill>
                  </a:tcPr>
                </a:tc>
              </a:tr>
              <a:tr h="658368">
                <a:tc>
                  <a:txBody>
                    <a:bodyPr/>
                    <a:lstStyle/>
                    <a:p>
                      <a:pPr indent="0" marL="0">
                        <a:buNone/>
                      </a:pPr>
                      <a:r>
                        <a:rPr lang="en-US" sz="1100" b="1" dirty="0">
                          <a:solidFill>
                            <a:srgbClr val="1C2A38"/>
                          </a:solidFill>
                          <a:latin typeface="Meiryo" pitchFamily="34" charset="0"/>
                          <a:ea typeface="Meiryo" pitchFamily="34" charset="-122"/>
                          <a:cs typeface="Meiryo" pitchFamily="34" charset="-120"/>
                        </a:rPr>
                        <a:t>実施できる者</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3F5F7"/>
                    </a:solidFill>
                  </a:tcPr>
                </a:tc>
                <a:tc>
                  <a:txBody>
                    <a:bodyPr/>
                    <a:lstStyle/>
                    <a:p>
                      <a:pPr indent="0" marL="0">
                        <a:buNone/>
                      </a:pPr>
                      <a:r>
                        <a:rPr lang="en-US" sz="1100" dirty="0">
                          <a:solidFill>
                            <a:srgbClr val="1C2A38"/>
                          </a:solidFill>
                          <a:latin typeface="Meiryo" pitchFamily="34" charset="0"/>
                          <a:ea typeface="Meiryo" pitchFamily="34" charset="-122"/>
                          <a:cs typeface="Meiryo" pitchFamily="34" charset="-120"/>
                        </a:rPr>
                        <a:t>都道府県労働局が試験を実施</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100" dirty="0">
                          <a:solidFill>
                            <a:srgbClr val="1C2A38"/>
                          </a:solidFill>
                          <a:latin typeface="Meiryo" pitchFamily="34" charset="0"/>
                          <a:ea typeface="Meiryo" pitchFamily="34" charset="-122"/>
                          <a:cs typeface="Meiryo" pitchFamily="34" charset="-120"/>
                        </a:rPr>
                        <a:t>労働局長の登録を受けた登録教習機関のみ</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100" b="1" dirty="0">
                          <a:solidFill>
                            <a:srgbClr val="16324F"/>
                          </a:solidFill>
                          <a:latin typeface="Meiryo" pitchFamily="34" charset="0"/>
                          <a:ea typeface="Meiryo" pitchFamily="34" charset="-122"/>
                          <a:cs typeface="Meiryo" pitchFamily="34" charset="-120"/>
                        </a:rPr>
                        <a:t>事業者、または事業者から委託を受けた者</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CF1DC"/>
                    </a:solidFill>
                  </a:tcPr>
                </a:tc>
              </a:tr>
              <a:tr h="502920">
                <a:tc>
                  <a:txBody>
                    <a:bodyPr/>
                    <a:lstStyle/>
                    <a:p>
                      <a:pPr indent="0" marL="0">
                        <a:buNone/>
                      </a:pPr>
                      <a:r>
                        <a:rPr lang="en-US" sz="1100" b="1" dirty="0">
                          <a:solidFill>
                            <a:srgbClr val="1C2A38"/>
                          </a:solidFill>
                          <a:latin typeface="Meiryo" pitchFamily="34" charset="0"/>
                          <a:ea typeface="Meiryo" pitchFamily="34" charset="-122"/>
                          <a:cs typeface="Meiryo" pitchFamily="34" charset="-120"/>
                        </a:rPr>
                        <a:t>行政への登録</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3F5F7"/>
                    </a:solidFill>
                  </a:tcPr>
                </a:tc>
                <a:tc>
                  <a:txBody>
                    <a:bodyPr/>
                    <a:lstStyle/>
                    <a:p>
                      <a:pPr indent="0" marL="0">
                        <a:buNone/>
                      </a:pPr>
                      <a:r>
                        <a:rPr lang="en-US" sz="1100" dirty="0">
                          <a:solidFill>
                            <a:srgbClr val="1C2A38"/>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100" dirty="0">
                          <a:solidFill>
                            <a:srgbClr val="1C2A38"/>
                          </a:solidFill>
                          <a:latin typeface="Meiryo" pitchFamily="34" charset="0"/>
                          <a:ea typeface="Meiryo" pitchFamily="34" charset="-122"/>
                          <a:cs typeface="Meiryo" pitchFamily="34" charset="-120"/>
                        </a:rPr>
                        <a:t>必要（登録教習機関）</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100" b="1" dirty="0">
                          <a:solidFill>
                            <a:srgbClr val="2E7D5B"/>
                          </a:solidFill>
                          <a:latin typeface="Meiryo" pitchFamily="34" charset="0"/>
                          <a:ea typeface="Meiryo" pitchFamily="34" charset="-122"/>
                          <a:cs typeface="Meiryo" pitchFamily="34" charset="-120"/>
                        </a:rPr>
                        <a:t>不要</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CF1DC"/>
                    </a:solidFill>
                  </a:tcPr>
                </a:tc>
              </a:tr>
              <a:tr h="777240">
                <a:tc>
                  <a:txBody>
                    <a:bodyPr/>
                    <a:lstStyle/>
                    <a:p>
                      <a:pPr indent="0" marL="0">
                        <a:buNone/>
                      </a:pPr>
                      <a:r>
                        <a:rPr lang="en-US" sz="1100" b="1" dirty="0">
                          <a:solidFill>
                            <a:srgbClr val="1C2A38"/>
                          </a:solidFill>
                          <a:latin typeface="Meiryo" pitchFamily="34" charset="0"/>
                          <a:ea typeface="Meiryo" pitchFamily="34" charset="-122"/>
                          <a:cs typeface="Meiryo" pitchFamily="34" charset="-120"/>
                        </a:rPr>
                        <a:t>講師の要件</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3F5F7"/>
                    </a:solidFill>
                  </a:tcPr>
                </a:tc>
                <a:tc>
                  <a:txBody>
                    <a:bodyPr/>
                    <a:lstStyle/>
                    <a:p>
                      <a:pPr indent="0" marL="0">
                        <a:buNone/>
                      </a:pPr>
                      <a:r>
                        <a:rPr lang="en-US" sz="1100" dirty="0">
                          <a:solidFill>
                            <a:srgbClr val="1C2A38"/>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100" dirty="0">
                          <a:solidFill>
                            <a:srgbClr val="1C2A38"/>
                          </a:solidFill>
                          <a:latin typeface="Meiryo" pitchFamily="34" charset="0"/>
                          <a:ea typeface="Meiryo" pitchFamily="34" charset="-122"/>
                          <a:cs typeface="Meiryo" pitchFamily="34" charset="-120"/>
                        </a:rPr>
                        <a:t>法令で定める要件あり</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100" dirty="0">
                          <a:solidFill>
                            <a:srgbClr val="16324F"/>
                          </a:solidFill>
                          <a:latin typeface="Meiryo" pitchFamily="34" charset="0"/>
                          <a:ea typeface="Meiryo" pitchFamily="34" charset="-122"/>
                          <a:cs typeface="Meiryo" pitchFamily="34" charset="-120"/>
                        </a:rPr>
                        <a:t>法定の資格要件なし。ただし「十分な知識と経験を有する者」であることが必要</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CF1DC"/>
                    </a:solidFill>
                  </a:tcPr>
                </a:tc>
              </a:tr>
              <a:tr h="502920">
                <a:tc>
                  <a:txBody>
                    <a:bodyPr/>
                    <a:lstStyle/>
                    <a:p>
                      <a:pPr indent="0" marL="0">
                        <a:buNone/>
                      </a:pPr>
                      <a:r>
                        <a:rPr lang="en-US" sz="1100" b="1" dirty="0">
                          <a:solidFill>
                            <a:srgbClr val="1C2A38"/>
                          </a:solidFill>
                          <a:latin typeface="Meiryo" pitchFamily="34" charset="0"/>
                          <a:ea typeface="Meiryo" pitchFamily="34" charset="-122"/>
                          <a:cs typeface="Meiryo" pitchFamily="34" charset="-120"/>
                        </a:rPr>
                        <a:t>聖建様の参入</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3F5F7"/>
                    </a:solidFill>
                  </a:tcPr>
                </a:tc>
                <a:tc>
                  <a:txBody>
                    <a:bodyPr/>
                    <a:lstStyle/>
                    <a:p>
                      <a:pPr indent="0" marL="0">
                        <a:buNone/>
                      </a:pPr>
                      <a:r>
                        <a:rPr lang="en-US" sz="1100" dirty="0">
                          <a:solidFill>
                            <a:srgbClr val="6B7B8A"/>
                          </a:solidFill>
                          <a:latin typeface="Meiryo" pitchFamily="34" charset="0"/>
                          <a:ea typeface="Meiryo" pitchFamily="34" charset="-122"/>
                          <a:cs typeface="Meiryo" pitchFamily="34" charset="-120"/>
                        </a:rPr>
                        <a:t>参入不可</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100" dirty="0">
                          <a:solidFill>
                            <a:srgbClr val="6B7B8A"/>
                          </a:solidFill>
                          <a:latin typeface="Meiryo" pitchFamily="34" charset="0"/>
                          <a:ea typeface="Meiryo" pitchFamily="34" charset="-122"/>
                          <a:cs typeface="Meiryo" pitchFamily="34" charset="-120"/>
                        </a:rPr>
                        <a:t>登録のハードルが高い</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100" b="1" dirty="0">
                          <a:solidFill>
                            <a:srgbClr val="2E7D5B"/>
                          </a:solidFill>
                          <a:latin typeface="Meiryo" pitchFamily="34" charset="0"/>
                          <a:ea typeface="Meiryo" pitchFamily="34" charset="-122"/>
                          <a:cs typeface="Meiryo" pitchFamily="34" charset="-120"/>
                        </a:rPr>
                        <a:t>参入できます</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CF1DC"/>
                    </a:solidFill>
                  </a:tcPr>
                </a:tc>
              </a:tr>
            </a:tbl>
          </a:graphicData>
        </a:graphic>
      </p:graphicFrame>
      <p:sp>
        <p:nvSpPr>
          <p:cNvPr id="8" name="Shape 5"/>
          <p:cNvSpPr/>
          <p:nvPr/>
        </p:nvSpPr>
        <p:spPr>
          <a:xfrm>
            <a:off x="548640" y="4754880"/>
            <a:ext cx="11094415" cy="1115568"/>
          </a:xfrm>
          <a:prstGeom prst="roundRect">
            <a:avLst>
              <a:gd name="adj" fmla="val 4098"/>
            </a:avLst>
          </a:prstGeom>
          <a:solidFill>
            <a:srgbClr val="16324F"/>
          </a:solidFill>
          <a:ln/>
        </p:spPr>
      </p:sp>
      <p:sp>
        <p:nvSpPr>
          <p:cNvPr id="9" name="Shape 6"/>
          <p:cNvSpPr/>
          <p:nvPr/>
        </p:nvSpPr>
        <p:spPr>
          <a:xfrm>
            <a:off x="822960" y="5029200"/>
            <a:ext cx="548640" cy="548640"/>
          </a:xfrm>
          <a:prstGeom prst="ellipse">
            <a:avLst/>
          </a:prstGeom>
          <a:solidFill>
            <a:srgbClr val="E8960C"/>
          </a:solidFill>
          <a:ln/>
        </p:spPr>
      </p:sp>
      <p:sp>
        <p:nvSpPr>
          <p:cNvPr id="10" name="Text 7"/>
          <p:cNvSpPr txBox="1"/>
          <p:nvPr/>
        </p:nvSpPr>
        <p:spPr>
          <a:xfrm>
            <a:off x="822960" y="5029200"/>
            <a:ext cx="548640" cy="548640"/>
          </a:xfrm>
          <a:prstGeom prst="rect">
            <a:avLst/>
          </a:prstGeom>
          <a:noFill/>
          <a:ln/>
        </p:spPr>
        <p:txBody>
          <a:bodyPr wrap="square" lIns="0" tIns="0" rIns="0" bIns="0" rtlCol="0" anchor="ctr"/>
          <a:lstStyle/>
          <a:p>
            <a:pPr algn="ctr" indent="0" marL="0">
              <a:buNone/>
            </a:pPr>
            <a:r>
              <a:rPr lang="en-US" sz="2000" b="1" dirty="0">
                <a:solidFill>
                  <a:srgbClr val="0C1D2E"/>
                </a:solidFill>
                <a:latin typeface="Meiryo" pitchFamily="34" charset="0"/>
                <a:ea typeface="Meiryo" pitchFamily="34" charset="-122"/>
                <a:cs typeface="Meiryo" pitchFamily="34" charset="-120"/>
              </a:rPr>
              <a:t>!</a:t>
            </a:r>
            <a:endParaRPr lang="en-US" sz="2000" dirty="0"/>
          </a:p>
        </p:txBody>
      </p:sp>
      <p:sp>
        <p:nvSpPr>
          <p:cNvPr id="11" name="Text 8"/>
          <p:cNvSpPr txBox="1"/>
          <p:nvPr/>
        </p:nvSpPr>
        <p:spPr>
          <a:xfrm>
            <a:off x="1554480" y="4919472"/>
            <a:ext cx="9722815" cy="347472"/>
          </a:xfrm>
          <a:prstGeom prst="rect">
            <a:avLst/>
          </a:prstGeom>
          <a:noFill/>
          <a:ln/>
        </p:spPr>
        <p:txBody>
          <a:bodyPr wrap="square" lIns="0" tIns="0" rIns="0" bIns="0" rtlCol="0" anchor="ctr"/>
          <a:lstStyle/>
          <a:p>
            <a:pPr indent="0" marL="0">
              <a:buNone/>
            </a:pPr>
            <a:r>
              <a:rPr lang="en-US" sz="1450" b="1" dirty="0">
                <a:solidFill>
                  <a:srgbClr val="E8960C"/>
                </a:solidFill>
                <a:latin typeface="Meiryo" pitchFamily="34" charset="0"/>
                <a:ea typeface="Meiryo" pitchFamily="34" charset="-122"/>
                <a:cs typeface="Meiryo" pitchFamily="34" charset="-120"/>
              </a:rPr>
              <a:t>登録制度がない領域だからこそ、「証明できること」が競争軸になります</a:t>
            </a:r>
            <a:endParaRPr lang="en-US" sz="1450" dirty="0"/>
          </a:p>
        </p:txBody>
      </p:sp>
      <p:sp>
        <p:nvSpPr>
          <p:cNvPr id="12" name="Text 9"/>
          <p:cNvSpPr txBox="1"/>
          <p:nvPr/>
        </p:nvSpPr>
        <p:spPr>
          <a:xfrm>
            <a:off x="1554480" y="5285232"/>
            <a:ext cx="9722815" cy="502920"/>
          </a:xfrm>
          <a:prstGeom prst="rect">
            <a:avLst/>
          </a:prstGeom>
          <a:noFill/>
          <a:ln/>
        </p:spPr>
        <p:txBody>
          <a:bodyPr wrap="square" lIns="0" tIns="0" rIns="0" bIns="0" rtlCol="0" anchor="ctr"/>
          <a:lstStyle/>
          <a:p>
            <a:pPr indent="0" marL="0">
              <a:lnSpc>
                <a:spcPct val="120000"/>
              </a:lnSpc>
              <a:buNone/>
            </a:pPr>
            <a:r>
              <a:rPr lang="en-US" sz="1150" dirty="0">
                <a:solidFill>
                  <a:srgbClr val="D6E2EC"/>
                </a:solidFill>
                <a:latin typeface="Meiryo" pitchFamily="34" charset="0"/>
                <a:ea typeface="Meiryo" pitchFamily="34" charset="-122"/>
                <a:cs typeface="Meiryo" pitchFamily="34" charset="-120"/>
              </a:rPr>
              <a:t>誰でも名乗れる以上、発注元や監督機関から「本当に受講させたのか」を問われた際に即答できるかどうかが、選ばれる事業者との分かれ目になります。</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7"/>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indent="0" marL="0">
              <a:buNone/>
            </a:pPr>
            <a:r>
              <a:rPr lang="en-US" sz="1100" b="1" spc="150" kern="0" dirty="0">
                <a:solidFill>
                  <a:srgbClr val="B87400"/>
                </a:solidFill>
                <a:latin typeface="Meiryo" pitchFamily="34" charset="0"/>
                <a:ea typeface="Meiryo" pitchFamily="34" charset="-122"/>
                <a:cs typeface="Meiryo" pitchFamily="34" charset="-120"/>
              </a:rPr>
              <a:t>REQUIREMENTS</a:t>
            </a:r>
            <a:endParaRPr lang="en-US" sz="1100" dirty="0"/>
          </a:p>
        </p:txBody>
      </p:sp>
      <p:sp>
        <p:nvSpPr>
          <p:cNvPr id="3" name="Text 1"/>
          <p:cNvSpPr txBox="1"/>
          <p:nvPr/>
        </p:nvSpPr>
        <p:spPr>
          <a:xfrm>
            <a:off x="548640" y="603504"/>
            <a:ext cx="11094415" cy="548640"/>
          </a:xfrm>
          <a:prstGeom prst="rect">
            <a:avLst/>
          </a:prstGeom>
          <a:noFill/>
          <a:ln/>
        </p:spPr>
        <p:txBody>
          <a:bodyPr wrap="square" lIns="0" tIns="0" rIns="0" bIns="0" rtlCol="0" anchor="ctr"/>
          <a:lstStyle/>
          <a:p>
            <a:pPr indent="0" marL="0">
              <a:buNone/>
            </a:pPr>
            <a:r>
              <a:rPr lang="en-US" sz="2700" b="1" dirty="0">
                <a:solidFill>
                  <a:srgbClr val="16324F"/>
                </a:solidFill>
                <a:latin typeface="Meiryo" pitchFamily="34" charset="0"/>
                <a:ea typeface="Meiryo" pitchFamily="34" charset="-122"/>
                <a:cs typeface="Meiryo" pitchFamily="34" charset="-120"/>
              </a:rPr>
              <a:t>越えるべき法令上の3つの要件</a:t>
            </a:r>
            <a:endParaRPr lang="en-US" sz="2700" dirty="0"/>
          </a:p>
        </p:txBody>
      </p:sp>
      <p:sp>
        <p:nvSpPr>
          <p:cNvPr id="4" name="Text 2"/>
          <p:cNvSpPr txBox="1"/>
          <p:nvPr/>
        </p:nvSpPr>
        <p:spPr>
          <a:xfrm>
            <a:off x="548640" y="1188720"/>
            <a:ext cx="11094415" cy="329184"/>
          </a:xfrm>
          <a:prstGeom prst="rect">
            <a:avLst/>
          </a:prstGeom>
          <a:noFill/>
          <a:ln/>
        </p:spPr>
        <p:txBody>
          <a:bodyPr wrap="square" lIns="0" tIns="0" rIns="0" bIns="0" rtlCol="0" anchor="ctr"/>
          <a:lstStyle/>
          <a:p>
            <a:pPr indent="0" marL="0">
              <a:buNone/>
            </a:pPr>
            <a:r>
              <a:rPr lang="en-US" sz="1250" dirty="0">
                <a:solidFill>
                  <a:srgbClr val="6B7B8A"/>
                </a:solidFill>
                <a:latin typeface="Meiryo" pitchFamily="34" charset="0"/>
                <a:ea typeface="Meiryo" pitchFamily="34" charset="-122"/>
                <a:cs typeface="Meiryo" pitchFamily="34" charset="-120"/>
              </a:rPr>
              <a:t>この3つを、担当者の努力ではなく「仕組み」で満たします。</a:t>
            </a:r>
            <a:endParaRPr lang="en-US" sz="1250" dirty="0"/>
          </a:p>
        </p:txBody>
      </p:sp>
      <p:sp>
        <p:nvSpPr>
          <p:cNvPr id="5" name="Text 3"/>
          <p:cNvSpPr txBox="1"/>
          <p:nvPr/>
        </p:nvSpPr>
        <p:spPr>
          <a:xfrm>
            <a:off x="548640" y="6382512"/>
            <a:ext cx="8686800" cy="256032"/>
          </a:xfrm>
          <a:prstGeom prst="rect">
            <a:avLst/>
          </a:prstGeom>
          <a:noFill/>
          <a:ln/>
        </p:spPr>
        <p:txBody>
          <a:bodyPr wrap="square" lIns="0" tIns="0" rIns="0" bIns="0" rtlCol="0" anchor="ctr"/>
          <a:lstStyle/>
          <a:p>
            <a:pPr indent="0" marL="0">
              <a:buNone/>
            </a:pPr>
            <a:r>
              <a:rPr lang="en-US" sz="900" dirty="0">
                <a:solidFill>
                  <a:srgbClr val="6B7B8A"/>
                </a:solidFill>
                <a:latin typeface="Meiryo" pitchFamily="34" charset="0"/>
                <a:ea typeface="Meiryo" pitchFamily="34" charset="-122"/>
                <a:cs typeface="Meiryo" pitchFamily="34" charset="-120"/>
              </a:rPr>
              <a:t>株式会社聖建 御中 ｜ 建設業 特別教育 オンライン受講プラットフォーム ご提案</a:t>
            </a:r>
            <a:endParaRPr lang="en-US" sz="900" dirty="0"/>
          </a:p>
        </p:txBody>
      </p:sp>
      <p:sp>
        <p:nvSpPr>
          <p:cNvPr id="6" name="Text 4"/>
          <p:cNvSpPr txBox="1"/>
          <p:nvPr/>
        </p:nvSpPr>
        <p:spPr>
          <a:xfrm>
            <a:off x="11002975" y="6382512"/>
            <a:ext cx="640080" cy="256032"/>
          </a:xfrm>
          <a:prstGeom prst="rect">
            <a:avLst/>
          </a:prstGeom>
          <a:noFill/>
          <a:ln/>
        </p:spPr>
        <p:txBody>
          <a:bodyPr wrap="square" lIns="0" tIns="0" rIns="0" bIns="0" rtlCol="0" anchor="ctr"/>
          <a:lstStyle/>
          <a:p>
            <a:pPr algn="r" indent="0" marL="0">
              <a:buNone/>
            </a:pPr>
            <a:r>
              <a:rPr lang="en-US" sz="1000" b="1" dirty="0">
                <a:solidFill>
                  <a:srgbClr val="3E6B8C"/>
                </a:solidFill>
                <a:latin typeface="Meiryo" pitchFamily="34" charset="0"/>
                <a:ea typeface="Meiryo" pitchFamily="34" charset="-122"/>
                <a:cs typeface="Meiryo" pitchFamily="34" charset="-120"/>
              </a:rPr>
              <a:t>6</a:t>
            </a:r>
            <a:endParaRPr lang="en-US" sz="1000" dirty="0"/>
          </a:p>
        </p:txBody>
      </p:sp>
      <p:sp>
        <p:nvSpPr>
          <p:cNvPr id="7" name="Shape 5"/>
          <p:cNvSpPr/>
          <p:nvPr/>
        </p:nvSpPr>
        <p:spPr>
          <a:xfrm>
            <a:off x="548640" y="1691640"/>
            <a:ext cx="3545738" cy="4160520"/>
          </a:xfrm>
          <a:prstGeom prst="roundRect">
            <a:avLst>
              <a:gd name="adj" fmla="val 1289"/>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8" name="Shape 6"/>
          <p:cNvSpPr/>
          <p:nvPr/>
        </p:nvSpPr>
        <p:spPr>
          <a:xfrm>
            <a:off x="822960" y="1920240"/>
            <a:ext cx="512064" cy="512064"/>
          </a:xfrm>
          <a:prstGeom prst="ellipse">
            <a:avLst/>
          </a:prstGeom>
          <a:solidFill>
            <a:srgbClr val="16324F"/>
          </a:solidFill>
          <a:ln/>
        </p:spPr>
      </p:sp>
      <p:sp>
        <p:nvSpPr>
          <p:cNvPr id="9" name="Text 7"/>
          <p:cNvSpPr txBox="1"/>
          <p:nvPr/>
        </p:nvSpPr>
        <p:spPr>
          <a:xfrm>
            <a:off x="822960" y="1920240"/>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01</a:t>
            </a:r>
            <a:endParaRPr lang="en-US" sz="1400" dirty="0"/>
          </a:p>
        </p:txBody>
      </p:sp>
      <p:sp>
        <p:nvSpPr>
          <p:cNvPr id="10" name="Text 8"/>
          <p:cNvSpPr txBox="1"/>
          <p:nvPr/>
        </p:nvSpPr>
        <p:spPr>
          <a:xfrm>
            <a:off x="822960" y="2578608"/>
            <a:ext cx="2997098" cy="548640"/>
          </a:xfrm>
          <a:prstGeom prst="rect">
            <a:avLst/>
          </a:prstGeom>
          <a:noFill/>
          <a:ln/>
        </p:spPr>
        <p:txBody>
          <a:bodyPr wrap="square" lIns="0" tIns="0" rIns="0" bIns="0" rtlCol="0" anchor="ctr"/>
          <a:lstStyle/>
          <a:p>
            <a:pPr indent="0" marL="0">
              <a:buNone/>
            </a:pPr>
            <a:r>
              <a:rPr lang="en-US" sz="1450" b="1" dirty="0">
                <a:solidFill>
                  <a:srgbClr val="16324F"/>
                </a:solidFill>
                <a:latin typeface="Meiryo" pitchFamily="34" charset="0"/>
                <a:ea typeface="Meiryo" pitchFamily="34" charset="-122"/>
                <a:cs typeface="Meiryo" pitchFamily="34" charset="-120"/>
              </a:rPr>
              <a:t>学科をeラーニングで行う要件</a:t>
            </a:r>
            <a:endParaRPr lang="en-US" sz="1450" dirty="0"/>
          </a:p>
        </p:txBody>
      </p:sp>
      <p:sp>
        <p:nvSpPr>
          <p:cNvPr id="11" name="Text 9"/>
          <p:cNvSpPr txBox="1"/>
          <p:nvPr/>
        </p:nvSpPr>
        <p:spPr>
          <a:xfrm>
            <a:off x="822960" y="3145536"/>
            <a:ext cx="2997098" cy="457200"/>
          </a:xfrm>
          <a:prstGeom prst="rect">
            <a:avLst/>
          </a:prstGeom>
          <a:noFill/>
          <a:ln/>
        </p:spPr>
        <p:txBody>
          <a:bodyPr wrap="square" lIns="0" tIns="0" rIns="0" bIns="0" rtlCol="0" anchor="ctr"/>
          <a:lstStyle/>
          <a:p>
            <a:pPr indent="0" marL="0">
              <a:buNone/>
            </a:pPr>
            <a:r>
              <a:rPr lang="en-US" sz="950" dirty="0">
                <a:solidFill>
                  <a:srgbClr val="B87400"/>
                </a:solidFill>
                <a:latin typeface="Meiryo" pitchFamily="34" charset="0"/>
                <a:ea typeface="Meiryo" pitchFamily="34" charset="-122"/>
                <a:cs typeface="Meiryo" pitchFamily="34" charset="-120"/>
              </a:rPr>
              <a:t>令和3年1月25日 基安安発0125第2号 ほか</a:t>
            </a:r>
            <a:endParaRPr lang="en-US" sz="950" dirty="0"/>
          </a:p>
        </p:txBody>
      </p:sp>
      <p:sp>
        <p:nvSpPr>
          <p:cNvPr id="12" name="Text 10"/>
          <p:cNvSpPr txBox="1"/>
          <p:nvPr/>
        </p:nvSpPr>
        <p:spPr>
          <a:xfrm>
            <a:off x="841248" y="3657600"/>
            <a:ext cx="2978810" cy="2057400"/>
          </a:xfrm>
          <a:prstGeom prst="rect">
            <a:avLst/>
          </a:prstGeom>
          <a:noFill/>
          <a:ln/>
        </p:spPr>
        <p:txBody>
          <a:bodyPr wrap="square" lIns="0" tIns="0" rIns="0" bIns="0" rtlCol="0" anchor="t"/>
          <a:lstStyle/>
          <a:p>
            <a:pPr marL="342900" indent="-342900">
              <a:lnSpc>
                <a:spcPct val="115000"/>
              </a:lnSpc>
              <a:spcAft>
                <a:spcPts val="700"/>
              </a:spcAft>
              <a:buSzPct val="100000"/>
              <a:buChar char="•"/>
            </a:pPr>
            <a:r>
              <a:rPr lang="en-US" sz="1050" dirty="0">
                <a:solidFill>
                  <a:srgbClr val="1C2A38"/>
                </a:solidFill>
                <a:latin typeface="Meiryo" pitchFamily="34" charset="0"/>
                <a:ea typeface="Meiryo" pitchFamily="34" charset="-122"/>
                <a:cs typeface="Meiryo" pitchFamily="34" charset="-120"/>
              </a:rPr>
              <a:t>法定の科目の範囲・教育時間・講師要件を満たすこと</a:t>
            </a:r>
            <a:endParaRPr lang="en-US" sz="1050" dirty="0"/>
          </a:p>
          <a:p>
            <a:pPr marL="342900" indent="-342900">
              <a:lnSpc>
                <a:spcPct val="115000"/>
              </a:lnSpc>
              <a:spcAft>
                <a:spcPts val="700"/>
              </a:spcAft>
              <a:buSzPct val="100000"/>
              <a:buChar char="•"/>
            </a:pPr>
            <a:r>
              <a:rPr lang="en-US" sz="1050" dirty="0">
                <a:solidFill>
                  <a:srgbClr val="1C2A38"/>
                </a:solidFill>
                <a:latin typeface="Meiryo" pitchFamily="34" charset="0"/>
                <a:ea typeface="Meiryo" pitchFamily="34" charset="-122"/>
                <a:cs typeface="Meiryo" pitchFamily="34" charset="-120"/>
              </a:rPr>
              <a:t>教本等、必要な教材を用いて行うこと</a:t>
            </a:r>
            <a:endParaRPr lang="en-US" sz="1050" dirty="0"/>
          </a:p>
          <a:p>
            <a:pPr marL="342900" indent="-342900">
              <a:lnSpc>
                <a:spcPct val="115000"/>
              </a:lnSpc>
              <a:spcAft>
                <a:spcPts val="700"/>
              </a:spcAft>
              <a:buSzPct val="100000"/>
              <a:buChar char="•"/>
            </a:pPr>
            <a:r>
              <a:rPr lang="en-US" sz="1050" dirty="0">
                <a:solidFill>
                  <a:srgbClr val="1C2A38"/>
                </a:solidFill>
                <a:latin typeface="Meiryo" pitchFamily="34" charset="0"/>
                <a:ea typeface="Meiryo" pitchFamily="34" charset="-122"/>
                <a:cs typeface="Meiryo" pitchFamily="34" charset="-120"/>
              </a:rPr>
              <a:t>受講者が受講した事実を適切に確認すること</a:t>
            </a:r>
            <a:endParaRPr lang="en-US" sz="1050" dirty="0"/>
          </a:p>
          <a:p>
            <a:pPr marL="342900" indent="-342900">
              <a:lnSpc>
                <a:spcPct val="115000"/>
              </a:lnSpc>
              <a:spcAft>
                <a:spcPts val="700"/>
              </a:spcAft>
              <a:buSzPct val="100000"/>
              <a:buChar char="•"/>
            </a:pPr>
            <a:r>
              <a:rPr lang="en-US" sz="1050" dirty="0">
                <a:solidFill>
                  <a:srgbClr val="1C2A38"/>
                </a:solidFill>
                <a:latin typeface="Meiryo" pitchFamily="34" charset="0"/>
                <a:ea typeface="Meiryo" pitchFamily="34" charset="-122"/>
                <a:cs typeface="Meiryo" pitchFamily="34" charset="-120"/>
              </a:rPr>
              <a:t>受講者からの質問に対応できる体制を設けること（実務上の要請）</a:t>
            </a:r>
            <a:endParaRPr lang="en-US" sz="1050" dirty="0"/>
          </a:p>
        </p:txBody>
      </p:sp>
      <p:sp>
        <p:nvSpPr>
          <p:cNvPr id="13" name="Shape 11"/>
          <p:cNvSpPr/>
          <p:nvPr/>
        </p:nvSpPr>
        <p:spPr>
          <a:xfrm>
            <a:off x="4322978" y="1691640"/>
            <a:ext cx="3545738" cy="4160520"/>
          </a:xfrm>
          <a:prstGeom prst="roundRect">
            <a:avLst>
              <a:gd name="adj" fmla="val 1289"/>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14" name="Shape 12"/>
          <p:cNvSpPr/>
          <p:nvPr/>
        </p:nvSpPr>
        <p:spPr>
          <a:xfrm>
            <a:off x="4597298" y="1920240"/>
            <a:ext cx="512064" cy="512064"/>
          </a:xfrm>
          <a:prstGeom prst="ellipse">
            <a:avLst/>
          </a:prstGeom>
          <a:solidFill>
            <a:srgbClr val="16324F"/>
          </a:solidFill>
          <a:ln/>
        </p:spPr>
      </p:sp>
      <p:sp>
        <p:nvSpPr>
          <p:cNvPr id="15" name="Text 13"/>
          <p:cNvSpPr txBox="1"/>
          <p:nvPr/>
        </p:nvSpPr>
        <p:spPr>
          <a:xfrm>
            <a:off x="4597298" y="1920240"/>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02</a:t>
            </a:r>
            <a:endParaRPr lang="en-US" sz="1400" dirty="0"/>
          </a:p>
        </p:txBody>
      </p:sp>
      <p:sp>
        <p:nvSpPr>
          <p:cNvPr id="16" name="Text 14"/>
          <p:cNvSpPr txBox="1"/>
          <p:nvPr/>
        </p:nvSpPr>
        <p:spPr>
          <a:xfrm>
            <a:off x="4597298" y="2578608"/>
            <a:ext cx="2997098" cy="548640"/>
          </a:xfrm>
          <a:prstGeom prst="rect">
            <a:avLst/>
          </a:prstGeom>
          <a:noFill/>
          <a:ln/>
        </p:spPr>
        <p:txBody>
          <a:bodyPr wrap="square" lIns="0" tIns="0" rIns="0" bIns="0" rtlCol="0" anchor="ctr"/>
          <a:lstStyle/>
          <a:p>
            <a:pPr indent="0" marL="0">
              <a:buNone/>
            </a:pPr>
            <a:r>
              <a:rPr lang="en-US" sz="1450" b="1" dirty="0">
                <a:solidFill>
                  <a:srgbClr val="16324F"/>
                </a:solidFill>
                <a:latin typeface="Meiryo" pitchFamily="34" charset="0"/>
                <a:ea typeface="Meiryo" pitchFamily="34" charset="-122"/>
                <a:cs typeface="Meiryo" pitchFamily="34" charset="-120"/>
              </a:rPr>
              <a:t>実技は対面で実施</a:t>
            </a:r>
            <a:endParaRPr lang="en-US" sz="1450" dirty="0"/>
          </a:p>
        </p:txBody>
      </p:sp>
      <p:sp>
        <p:nvSpPr>
          <p:cNvPr id="17" name="Text 15"/>
          <p:cNvSpPr txBox="1"/>
          <p:nvPr/>
        </p:nvSpPr>
        <p:spPr>
          <a:xfrm>
            <a:off x="4597298" y="3145536"/>
            <a:ext cx="2997098" cy="457200"/>
          </a:xfrm>
          <a:prstGeom prst="rect">
            <a:avLst/>
          </a:prstGeom>
          <a:noFill/>
          <a:ln/>
        </p:spPr>
        <p:txBody>
          <a:bodyPr wrap="square" lIns="0" tIns="0" rIns="0" bIns="0" rtlCol="0" anchor="ctr"/>
          <a:lstStyle/>
          <a:p>
            <a:pPr indent="0" marL="0">
              <a:buNone/>
            </a:pPr>
            <a:r>
              <a:rPr lang="en-US" sz="950" dirty="0">
                <a:solidFill>
                  <a:srgbClr val="B87400"/>
                </a:solidFill>
                <a:latin typeface="Meiryo" pitchFamily="34" charset="0"/>
                <a:ea typeface="Meiryo" pitchFamily="34" charset="-122"/>
                <a:cs typeface="Meiryo" pitchFamily="34" charset="-120"/>
              </a:rPr>
              <a:t>聖建様のご選択：B（実技は自社で対面）</a:t>
            </a:r>
            <a:endParaRPr lang="en-US" sz="950" dirty="0"/>
          </a:p>
        </p:txBody>
      </p:sp>
      <p:sp>
        <p:nvSpPr>
          <p:cNvPr id="18" name="Text 16"/>
          <p:cNvSpPr txBox="1"/>
          <p:nvPr/>
        </p:nvSpPr>
        <p:spPr>
          <a:xfrm>
            <a:off x="4615586" y="3657600"/>
            <a:ext cx="2978810" cy="2057400"/>
          </a:xfrm>
          <a:prstGeom prst="rect">
            <a:avLst/>
          </a:prstGeom>
          <a:noFill/>
          <a:ln/>
        </p:spPr>
        <p:txBody>
          <a:bodyPr wrap="square" lIns="0" tIns="0" rIns="0" bIns="0" rtlCol="0" anchor="t"/>
          <a:lstStyle/>
          <a:p>
            <a:pPr marL="342900" indent="-342900">
              <a:lnSpc>
                <a:spcPct val="115000"/>
              </a:lnSpc>
              <a:spcAft>
                <a:spcPts val="700"/>
              </a:spcAft>
              <a:buSzPct val="100000"/>
              <a:buChar char="•"/>
            </a:pPr>
            <a:r>
              <a:rPr lang="en-US" sz="1050" dirty="0">
                <a:solidFill>
                  <a:srgbClr val="1C2A38"/>
                </a:solidFill>
                <a:latin typeface="Meiryo" pitchFamily="34" charset="0"/>
                <a:ea typeface="Meiryo" pitchFamily="34" charset="-122"/>
                <a:cs typeface="Meiryo" pitchFamily="34" charset="-120"/>
              </a:rPr>
              <a:t>実技科目はオンラインで代替できません</a:t>
            </a:r>
            <a:endParaRPr lang="en-US" sz="1050" dirty="0"/>
          </a:p>
          <a:p>
            <a:pPr marL="342900" indent="-342900">
              <a:lnSpc>
                <a:spcPct val="115000"/>
              </a:lnSpc>
              <a:spcAft>
                <a:spcPts val="700"/>
              </a:spcAft>
              <a:buSzPct val="100000"/>
              <a:buChar char="•"/>
            </a:pPr>
            <a:r>
              <a:rPr lang="en-US" sz="1050" dirty="0">
                <a:solidFill>
                  <a:srgbClr val="1C2A38"/>
                </a:solidFill>
                <a:latin typeface="Meiryo" pitchFamily="34" charset="0"/>
                <a:ea typeface="Meiryo" pitchFamily="34" charset="-122"/>
                <a:cs typeface="Meiryo" pitchFamily="34" charset="-120"/>
              </a:rPr>
              <a:t>実施日・場所・指導者・受講者を記録する必要があります</a:t>
            </a:r>
            <a:endParaRPr lang="en-US" sz="1050" dirty="0"/>
          </a:p>
          <a:p>
            <a:pPr marL="342900" indent="-342900">
              <a:lnSpc>
                <a:spcPct val="115000"/>
              </a:lnSpc>
              <a:spcAft>
                <a:spcPts val="700"/>
              </a:spcAft>
              <a:buSzPct val="100000"/>
              <a:buChar char="•"/>
            </a:pPr>
            <a:r>
              <a:rPr lang="en-US" sz="1050" dirty="0">
                <a:solidFill>
                  <a:srgbClr val="1C2A38"/>
                </a:solidFill>
                <a:latin typeface="Meiryo" pitchFamily="34" charset="0"/>
                <a:ea typeface="Meiryo" pitchFamily="34" charset="-122"/>
                <a:cs typeface="Meiryo" pitchFamily="34" charset="-120"/>
              </a:rPr>
              <a:t>半田市の自社会場で実施し、学科と紐づけて一元管理します</a:t>
            </a:r>
            <a:endParaRPr lang="en-US" sz="1050" dirty="0"/>
          </a:p>
          <a:p>
            <a:pPr marL="342900" indent="-342900">
              <a:lnSpc>
                <a:spcPct val="115000"/>
              </a:lnSpc>
              <a:spcAft>
                <a:spcPts val="700"/>
              </a:spcAft>
              <a:buSzPct val="100000"/>
              <a:buChar char="•"/>
            </a:pPr>
            <a:r>
              <a:rPr lang="en-US" sz="1050" dirty="0">
                <a:solidFill>
                  <a:srgbClr val="1C2A38"/>
                </a:solidFill>
                <a:latin typeface="Meiryo" pitchFamily="34" charset="0"/>
                <a:ea typeface="Meiryo" pitchFamily="34" charset="-122"/>
                <a:cs typeface="Meiryo" pitchFamily="34" charset="-120"/>
              </a:rPr>
              <a:t>遠方の受講者には「学科のみ」プランを用意して取りこぼしを防ぎます</a:t>
            </a:r>
            <a:endParaRPr lang="en-US" sz="1050" dirty="0"/>
          </a:p>
        </p:txBody>
      </p:sp>
      <p:sp>
        <p:nvSpPr>
          <p:cNvPr id="19" name="Shape 17"/>
          <p:cNvSpPr/>
          <p:nvPr/>
        </p:nvSpPr>
        <p:spPr>
          <a:xfrm>
            <a:off x="8097317" y="1691640"/>
            <a:ext cx="3545738" cy="4160520"/>
          </a:xfrm>
          <a:prstGeom prst="roundRect">
            <a:avLst>
              <a:gd name="adj" fmla="val 1289"/>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20" name="Shape 18"/>
          <p:cNvSpPr/>
          <p:nvPr/>
        </p:nvSpPr>
        <p:spPr>
          <a:xfrm>
            <a:off x="8371637" y="1920240"/>
            <a:ext cx="512064" cy="512064"/>
          </a:xfrm>
          <a:prstGeom prst="ellipse">
            <a:avLst/>
          </a:prstGeom>
          <a:solidFill>
            <a:srgbClr val="16324F"/>
          </a:solidFill>
          <a:ln/>
        </p:spPr>
      </p:sp>
      <p:sp>
        <p:nvSpPr>
          <p:cNvPr id="21" name="Text 19"/>
          <p:cNvSpPr txBox="1"/>
          <p:nvPr/>
        </p:nvSpPr>
        <p:spPr>
          <a:xfrm>
            <a:off x="8371637" y="1920240"/>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03</a:t>
            </a:r>
            <a:endParaRPr lang="en-US" sz="1400" dirty="0"/>
          </a:p>
        </p:txBody>
      </p:sp>
      <p:sp>
        <p:nvSpPr>
          <p:cNvPr id="22" name="Text 20"/>
          <p:cNvSpPr txBox="1"/>
          <p:nvPr/>
        </p:nvSpPr>
        <p:spPr>
          <a:xfrm>
            <a:off x="8371637" y="2578608"/>
            <a:ext cx="2997098" cy="548640"/>
          </a:xfrm>
          <a:prstGeom prst="rect">
            <a:avLst/>
          </a:prstGeom>
          <a:noFill/>
          <a:ln/>
        </p:spPr>
        <p:txBody>
          <a:bodyPr wrap="square" lIns="0" tIns="0" rIns="0" bIns="0" rtlCol="0" anchor="ctr"/>
          <a:lstStyle/>
          <a:p>
            <a:pPr indent="0" marL="0">
              <a:buNone/>
            </a:pPr>
            <a:r>
              <a:rPr lang="en-US" sz="1450" b="1" dirty="0">
                <a:solidFill>
                  <a:srgbClr val="16324F"/>
                </a:solidFill>
                <a:latin typeface="Meiryo" pitchFamily="34" charset="0"/>
                <a:ea typeface="Meiryo" pitchFamily="34" charset="-122"/>
                <a:cs typeface="Meiryo" pitchFamily="34" charset="-120"/>
              </a:rPr>
              <a:t>記録を3年間保存</a:t>
            </a:r>
            <a:endParaRPr lang="en-US" sz="1450" dirty="0"/>
          </a:p>
        </p:txBody>
      </p:sp>
      <p:sp>
        <p:nvSpPr>
          <p:cNvPr id="23" name="Text 21"/>
          <p:cNvSpPr txBox="1"/>
          <p:nvPr/>
        </p:nvSpPr>
        <p:spPr>
          <a:xfrm>
            <a:off x="8371637" y="3145536"/>
            <a:ext cx="2997098" cy="457200"/>
          </a:xfrm>
          <a:prstGeom prst="rect">
            <a:avLst/>
          </a:prstGeom>
          <a:noFill/>
          <a:ln/>
        </p:spPr>
        <p:txBody>
          <a:bodyPr wrap="square" lIns="0" tIns="0" rIns="0" bIns="0" rtlCol="0" anchor="ctr"/>
          <a:lstStyle/>
          <a:p>
            <a:pPr indent="0" marL="0">
              <a:buNone/>
            </a:pPr>
            <a:r>
              <a:rPr lang="en-US" sz="950" dirty="0">
                <a:solidFill>
                  <a:srgbClr val="B87400"/>
                </a:solidFill>
                <a:latin typeface="Meiryo" pitchFamily="34" charset="0"/>
                <a:ea typeface="Meiryo" pitchFamily="34" charset="-122"/>
                <a:cs typeface="Meiryo" pitchFamily="34" charset="-120"/>
              </a:rPr>
              <a:t>労働安全衛生規則 第38条</a:t>
            </a:r>
            <a:endParaRPr lang="en-US" sz="950" dirty="0"/>
          </a:p>
        </p:txBody>
      </p:sp>
      <p:sp>
        <p:nvSpPr>
          <p:cNvPr id="24" name="Text 22"/>
          <p:cNvSpPr txBox="1"/>
          <p:nvPr/>
        </p:nvSpPr>
        <p:spPr>
          <a:xfrm>
            <a:off x="8389925" y="3657600"/>
            <a:ext cx="2978810" cy="2057400"/>
          </a:xfrm>
          <a:prstGeom prst="rect">
            <a:avLst/>
          </a:prstGeom>
          <a:noFill/>
          <a:ln/>
        </p:spPr>
        <p:txBody>
          <a:bodyPr wrap="square" lIns="0" tIns="0" rIns="0" bIns="0" rtlCol="0" anchor="t"/>
          <a:lstStyle/>
          <a:p>
            <a:pPr marL="342900" indent="-342900">
              <a:lnSpc>
                <a:spcPct val="115000"/>
              </a:lnSpc>
              <a:spcAft>
                <a:spcPts val="700"/>
              </a:spcAft>
              <a:buSzPct val="100000"/>
              <a:buChar char="•"/>
            </a:pPr>
            <a:r>
              <a:rPr lang="en-US" sz="1050" dirty="0">
                <a:solidFill>
                  <a:srgbClr val="1C2A38"/>
                </a:solidFill>
                <a:latin typeface="Meiryo" pitchFamily="34" charset="0"/>
                <a:ea typeface="Meiryo" pitchFamily="34" charset="-122"/>
                <a:cs typeface="Meiryo" pitchFamily="34" charset="-120"/>
              </a:rPr>
              <a:t>受講者氏名・科目・実施日・講師名などを記録</a:t>
            </a:r>
            <a:endParaRPr lang="en-US" sz="1050" dirty="0"/>
          </a:p>
          <a:p>
            <a:pPr marL="342900" indent="-342900">
              <a:lnSpc>
                <a:spcPct val="115000"/>
              </a:lnSpc>
              <a:spcAft>
                <a:spcPts val="700"/>
              </a:spcAft>
              <a:buSzPct val="100000"/>
              <a:buChar char="•"/>
            </a:pPr>
            <a:r>
              <a:rPr lang="en-US" sz="1050" dirty="0">
                <a:solidFill>
                  <a:srgbClr val="1C2A38"/>
                </a:solidFill>
                <a:latin typeface="Meiryo" pitchFamily="34" charset="0"/>
                <a:ea typeface="Meiryo" pitchFamily="34" charset="-122"/>
                <a:cs typeface="Meiryo" pitchFamily="34" charset="-120"/>
              </a:rPr>
              <a:t>保存義務は事業者側にありますが、教育機関の記録が実務上の証明になります</a:t>
            </a:r>
            <a:endParaRPr lang="en-US" sz="1050" dirty="0"/>
          </a:p>
          <a:p>
            <a:pPr marL="342900" indent="-342900">
              <a:lnSpc>
                <a:spcPct val="115000"/>
              </a:lnSpc>
              <a:spcAft>
                <a:spcPts val="700"/>
              </a:spcAft>
              <a:buSzPct val="100000"/>
              <a:buChar char="•"/>
            </a:pPr>
            <a:r>
              <a:rPr lang="en-US" sz="1050" dirty="0">
                <a:solidFill>
                  <a:srgbClr val="1C2A38"/>
                </a:solidFill>
                <a:latin typeface="Meiryo" pitchFamily="34" charset="0"/>
                <a:ea typeface="Meiryo" pitchFamily="34" charset="-122"/>
                <a:cs typeface="Meiryo" pitchFamily="34" charset="-120"/>
              </a:rPr>
              <a:t>システムで自動保存し、いつでもCSV／PDFで出力できるようにします</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7"/>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indent="0" marL="0">
              <a:buNone/>
            </a:pPr>
            <a:r>
              <a:rPr lang="en-US" sz="1100" b="1" spc="150" kern="0" dirty="0">
                <a:solidFill>
                  <a:srgbClr val="B87400"/>
                </a:solidFill>
                <a:latin typeface="Meiryo" pitchFamily="34" charset="0"/>
                <a:ea typeface="Meiryo" pitchFamily="34" charset="-122"/>
                <a:cs typeface="Meiryo" pitchFamily="34" charset="-120"/>
              </a:rPr>
              <a:t>CORE</a:t>
            </a:r>
            <a:endParaRPr lang="en-US" sz="1100" dirty="0"/>
          </a:p>
        </p:txBody>
      </p:sp>
      <p:sp>
        <p:nvSpPr>
          <p:cNvPr id="3" name="Text 1"/>
          <p:cNvSpPr txBox="1"/>
          <p:nvPr/>
        </p:nvSpPr>
        <p:spPr>
          <a:xfrm>
            <a:off x="548640" y="603504"/>
            <a:ext cx="11094415" cy="548640"/>
          </a:xfrm>
          <a:prstGeom prst="rect">
            <a:avLst/>
          </a:prstGeom>
          <a:noFill/>
          <a:ln/>
        </p:spPr>
        <p:txBody>
          <a:bodyPr wrap="square" lIns="0" tIns="0" rIns="0" bIns="0" rtlCol="0" anchor="ctr"/>
          <a:lstStyle/>
          <a:p>
            <a:pPr indent="0" marL="0">
              <a:buNone/>
            </a:pPr>
            <a:r>
              <a:rPr lang="en-US" sz="2700" b="1" dirty="0">
                <a:solidFill>
                  <a:srgbClr val="16324F"/>
                </a:solidFill>
                <a:latin typeface="Meiryo" pitchFamily="34" charset="0"/>
                <a:ea typeface="Meiryo" pitchFamily="34" charset="-122"/>
                <a:cs typeface="Meiryo" pitchFamily="34" charset="-120"/>
              </a:rPr>
              <a:t>本人確認・受講確認の5層モデル</a:t>
            </a:r>
            <a:endParaRPr lang="en-US" sz="2700" dirty="0"/>
          </a:p>
        </p:txBody>
      </p:sp>
      <p:sp>
        <p:nvSpPr>
          <p:cNvPr id="4" name="Text 2"/>
          <p:cNvSpPr txBox="1"/>
          <p:nvPr/>
        </p:nvSpPr>
        <p:spPr>
          <a:xfrm>
            <a:off x="548640" y="1188720"/>
            <a:ext cx="11094415" cy="329184"/>
          </a:xfrm>
          <a:prstGeom prst="rect">
            <a:avLst/>
          </a:prstGeom>
          <a:noFill/>
          <a:ln/>
        </p:spPr>
        <p:txBody>
          <a:bodyPr wrap="square" lIns="0" tIns="0" rIns="0" bIns="0" rtlCol="0" anchor="ctr"/>
          <a:lstStyle/>
          <a:p>
            <a:pPr indent="0" marL="0">
              <a:buNone/>
            </a:pPr>
            <a:r>
              <a:rPr lang="en-US" sz="1250" dirty="0">
                <a:solidFill>
                  <a:srgbClr val="6B7B8A"/>
                </a:solidFill>
                <a:latin typeface="Meiryo" pitchFamily="34" charset="0"/>
                <a:ea typeface="Meiryo" pitchFamily="34" charset="-122"/>
                <a:cs typeface="Meiryo" pitchFamily="34" charset="-120"/>
              </a:rPr>
              <a:t>ご選択いただいた「標準案A」を、具体的な仕組みに落とし込みました。</a:t>
            </a:r>
            <a:endParaRPr lang="en-US" sz="1250" dirty="0"/>
          </a:p>
        </p:txBody>
      </p:sp>
      <p:sp>
        <p:nvSpPr>
          <p:cNvPr id="5" name="Text 3"/>
          <p:cNvSpPr txBox="1"/>
          <p:nvPr/>
        </p:nvSpPr>
        <p:spPr>
          <a:xfrm>
            <a:off x="548640" y="6382512"/>
            <a:ext cx="8686800" cy="256032"/>
          </a:xfrm>
          <a:prstGeom prst="rect">
            <a:avLst/>
          </a:prstGeom>
          <a:noFill/>
          <a:ln/>
        </p:spPr>
        <p:txBody>
          <a:bodyPr wrap="square" lIns="0" tIns="0" rIns="0" bIns="0" rtlCol="0" anchor="ctr"/>
          <a:lstStyle/>
          <a:p>
            <a:pPr indent="0" marL="0">
              <a:buNone/>
            </a:pPr>
            <a:r>
              <a:rPr lang="en-US" sz="900" dirty="0">
                <a:solidFill>
                  <a:srgbClr val="6B7B8A"/>
                </a:solidFill>
                <a:latin typeface="Meiryo" pitchFamily="34" charset="0"/>
                <a:ea typeface="Meiryo" pitchFamily="34" charset="-122"/>
                <a:cs typeface="Meiryo" pitchFamily="34" charset="-120"/>
              </a:rPr>
              <a:t>株式会社聖建 御中 ｜ 建設業 特別教育 オンライン受講プラットフォーム ご提案</a:t>
            </a:r>
            <a:endParaRPr lang="en-US" sz="900" dirty="0"/>
          </a:p>
        </p:txBody>
      </p:sp>
      <p:sp>
        <p:nvSpPr>
          <p:cNvPr id="6" name="Text 4"/>
          <p:cNvSpPr txBox="1"/>
          <p:nvPr/>
        </p:nvSpPr>
        <p:spPr>
          <a:xfrm>
            <a:off x="11002975" y="6382512"/>
            <a:ext cx="640080" cy="256032"/>
          </a:xfrm>
          <a:prstGeom prst="rect">
            <a:avLst/>
          </a:prstGeom>
          <a:noFill/>
          <a:ln/>
        </p:spPr>
        <p:txBody>
          <a:bodyPr wrap="square" lIns="0" tIns="0" rIns="0" bIns="0" rtlCol="0" anchor="ctr"/>
          <a:lstStyle/>
          <a:p>
            <a:pPr algn="r" indent="0" marL="0">
              <a:buNone/>
            </a:pPr>
            <a:r>
              <a:rPr lang="en-US" sz="1000" b="1" dirty="0">
                <a:solidFill>
                  <a:srgbClr val="3E6B8C"/>
                </a:solidFill>
                <a:latin typeface="Meiryo" pitchFamily="34" charset="0"/>
                <a:ea typeface="Meiryo" pitchFamily="34" charset="-122"/>
                <a:cs typeface="Meiryo" pitchFamily="34" charset="-120"/>
              </a:rPr>
              <a:t>7</a:t>
            </a:r>
            <a:endParaRPr lang="en-US" sz="1000" dirty="0"/>
          </a:p>
        </p:txBody>
      </p:sp>
      <p:sp>
        <p:nvSpPr>
          <p:cNvPr id="7" name="Shape 5"/>
          <p:cNvSpPr/>
          <p:nvPr/>
        </p:nvSpPr>
        <p:spPr>
          <a:xfrm>
            <a:off x="548640" y="1691640"/>
            <a:ext cx="6903720" cy="749808"/>
          </a:xfrm>
          <a:prstGeom prst="roundRect">
            <a:avLst>
              <a:gd name="adj" fmla="val 6098"/>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8" name="Shape 6"/>
          <p:cNvSpPr/>
          <p:nvPr/>
        </p:nvSpPr>
        <p:spPr>
          <a:xfrm>
            <a:off x="731520" y="1837944"/>
            <a:ext cx="457200" cy="457200"/>
          </a:xfrm>
          <a:prstGeom prst="ellipse">
            <a:avLst/>
          </a:prstGeom>
          <a:solidFill>
            <a:srgbClr val="E8960C"/>
          </a:solidFill>
          <a:ln/>
        </p:spPr>
      </p:sp>
      <p:sp>
        <p:nvSpPr>
          <p:cNvPr id="9" name="Text 7"/>
          <p:cNvSpPr txBox="1"/>
          <p:nvPr/>
        </p:nvSpPr>
        <p:spPr>
          <a:xfrm>
            <a:off x="731520" y="18379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10" name="Shape 8"/>
          <p:cNvSpPr/>
          <p:nvPr/>
        </p:nvSpPr>
        <p:spPr>
          <a:xfrm>
            <a:off x="1298448" y="1819656"/>
            <a:ext cx="713232" cy="256032"/>
          </a:xfrm>
          <a:prstGeom prst="roundRect">
            <a:avLst>
              <a:gd name="adj" fmla="val 50000"/>
            </a:avLst>
          </a:prstGeom>
          <a:solidFill>
            <a:srgbClr val="F3F5F7"/>
          </a:solidFill>
          <a:ln/>
        </p:spPr>
      </p:sp>
      <p:sp>
        <p:nvSpPr>
          <p:cNvPr id="11" name="Text 9"/>
          <p:cNvSpPr txBox="1"/>
          <p:nvPr/>
        </p:nvSpPr>
        <p:spPr>
          <a:xfrm>
            <a:off x="1298448" y="1819656"/>
            <a:ext cx="713232" cy="256032"/>
          </a:xfrm>
          <a:prstGeom prst="rect">
            <a:avLst/>
          </a:prstGeom>
          <a:noFill/>
          <a:ln/>
        </p:spPr>
        <p:txBody>
          <a:bodyPr wrap="square" lIns="0" tIns="0" rIns="0" bIns="0" rtlCol="0" anchor="ctr"/>
          <a:lstStyle/>
          <a:p>
            <a:pPr algn="ctr" indent="0" marL="0">
              <a:buNone/>
            </a:pPr>
            <a:r>
              <a:rPr lang="en-US" sz="900" b="1" dirty="0">
                <a:solidFill>
                  <a:srgbClr val="3E6B8C"/>
                </a:solidFill>
                <a:latin typeface="Meiryo" pitchFamily="34" charset="0"/>
                <a:ea typeface="Meiryo" pitchFamily="34" charset="-122"/>
                <a:cs typeface="Meiryo" pitchFamily="34" charset="-120"/>
              </a:rPr>
              <a:t>受講前</a:t>
            </a:r>
            <a:endParaRPr lang="en-US" sz="900" dirty="0"/>
          </a:p>
        </p:txBody>
      </p:sp>
      <p:sp>
        <p:nvSpPr>
          <p:cNvPr id="12" name="Text 10"/>
          <p:cNvSpPr txBox="1"/>
          <p:nvPr/>
        </p:nvSpPr>
        <p:spPr>
          <a:xfrm>
            <a:off x="2103120" y="1792224"/>
            <a:ext cx="5166360" cy="292608"/>
          </a:xfrm>
          <a:prstGeom prst="rect">
            <a:avLst/>
          </a:prstGeom>
          <a:noFill/>
          <a:ln/>
        </p:spPr>
        <p:txBody>
          <a:bodyPr wrap="square" lIns="0" tIns="0" rIns="0" bIns="0" rtlCol="0" anchor="ctr"/>
          <a:lstStyle/>
          <a:p>
            <a:pPr indent="0" marL="0">
              <a:buNone/>
            </a:pPr>
            <a:r>
              <a:rPr lang="en-US" sz="1250" b="1" dirty="0">
                <a:solidFill>
                  <a:srgbClr val="16324F"/>
                </a:solidFill>
                <a:latin typeface="Meiryo" pitchFamily="34" charset="0"/>
                <a:ea typeface="Meiryo" pitchFamily="34" charset="-122"/>
                <a:cs typeface="Meiryo" pitchFamily="34" charset="-120"/>
              </a:rPr>
              <a:t>本人確認書類＋顔写真の登録</a:t>
            </a:r>
            <a:endParaRPr lang="en-US" sz="1250" dirty="0"/>
          </a:p>
        </p:txBody>
      </p:sp>
      <p:sp>
        <p:nvSpPr>
          <p:cNvPr id="13" name="Text 11"/>
          <p:cNvSpPr txBox="1"/>
          <p:nvPr/>
        </p:nvSpPr>
        <p:spPr>
          <a:xfrm>
            <a:off x="1316736" y="2093976"/>
            <a:ext cx="5943600" cy="292608"/>
          </a:xfrm>
          <a:prstGeom prst="rect">
            <a:avLst/>
          </a:prstGeom>
          <a:noFill/>
          <a:ln/>
        </p:spPr>
        <p:txBody>
          <a:bodyPr wrap="square" lIns="0" tIns="0" rIns="0" bIns="0" rtlCol="0" anchor="ctr"/>
          <a:lstStyle/>
          <a:p>
            <a:pPr indent="0" marL="0">
              <a:buNone/>
            </a:pPr>
            <a:r>
              <a:rPr lang="en-US" sz="1000" dirty="0">
                <a:solidFill>
                  <a:srgbClr val="1C2A38"/>
                </a:solidFill>
                <a:latin typeface="Meiryo" pitchFamily="34" charset="0"/>
                <a:ea typeface="Meiryo" pitchFamily="34" charset="-122"/>
                <a:cs typeface="Meiryo" pitchFamily="34" charset="-120"/>
              </a:rPr>
              <a:t>運転免許証等をアップロード。顔写真と照合し、運営が承認するまで受講を開始できません。</a:t>
            </a:r>
            <a:endParaRPr lang="en-US" sz="1000" dirty="0"/>
          </a:p>
        </p:txBody>
      </p:sp>
      <p:sp>
        <p:nvSpPr>
          <p:cNvPr id="14" name="Shape 12"/>
          <p:cNvSpPr/>
          <p:nvPr/>
        </p:nvSpPr>
        <p:spPr>
          <a:xfrm>
            <a:off x="548640" y="2542032"/>
            <a:ext cx="6903720" cy="749808"/>
          </a:xfrm>
          <a:prstGeom prst="roundRect">
            <a:avLst>
              <a:gd name="adj" fmla="val 6098"/>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15" name="Shape 13"/>
          <p:cNvSpPr/>
          <p:nvPr/>
        </p:nvSpPr>
        <p:spPr>
          <a:xfrm>
            <a:off x="731520" y="2688336"/>
            <a:ext cx="457200" cy="457200"/>
          </a:xfrm>
          <a:prstGeom prst="ellipse">
            <a:avLst/>
          </a:prstGeom>
          <a:solidFill>
            <a:srgbClr val="E8960C"/>
          </a:solidFill>
          <a:ln/>
        </p:spPr>
      </p:sp>
      <p:sp>
        <p:nvSpPr>
          <p:cNvPr id="16" name="Text 14"/>
          <p:cNvSpPr txBox="1"/>
          <p:nvPr/>
        </p:nvSpPr>
        <p:spPr>
          <a:xfrm>
            <a:off x="731520" y="268833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2</a:t>
            </a:r>
            <a:endParaRPr lang="en-US" sz="1400" dirty="0"/>
          </a:p>
        </p:txBody>
      </p:sp>
      <p:sp>
        <p:nvSpPr>
          <p:cNvPr id="17" name="Shape 15"/>
          <p:cNvSpPr/>
          <p:nvPr/>
        </p:nvSpPr>
        <p:spPr>
          <a:xfrm>
            <a:off x="1298448" y="2670048"/>
            <a:ext cx="713232" cy="256032"/>
          </a:xfrm>
          <a:prstGeom prst="roundRect">
            <a:avLst>
              <a:gd name="adj" fmla="val 50000"/>
            </a:avLst>
          </a:prstGeom>
          <a:solidFill>
            <a:srgbClr val="F3F5F7"/>
          </a:solidFill>
          <a:ln/>
        </p:spPr>
      </p:sp>
      <p:sp>
        <p:nvSpPr>
          <p:cNvPr id="18" name="Text 16"/>
          <p:cNvSpPr txBox="1"/>
          <p:nvPr/>
        </p:nvSpPr>
        <p:spPr>
          <a:xfrm>
            <a:off x="1298448" y="2670048"/>
            <a:ext cx="713232" cy="256032"/>
          </a:xfrm>
          <a:prstGeom prst="rect">
            <a:avLst/>
          </a:prstGeom>
          <a:noFill/>
          <a:ln/>
        </p:spPr>
        <p:txBody>
          <a:bodyPr wrap="square" lIns="0" tIns="0" rIns="0" bIns="0" rtlCol="0" anchor="ctr"/>
          <a:lstStyle/>
          <a:p>
            <a:pPr algn="ctr" indent="0" marL="0">
              <a:buNone/>
            </a:pPr>
            <a:r>
              <a:rPr lang="en-US" sz="900" b="1" dirty="0">
                <a:solidFill>
                  <a:srgbClr val="3E6B8C"/>
                </a:solidFill>
                <a:latin typeface="Meiryo" pitchFamily="34" charset="0"/>
                <a:ea typeface="Meiryo" pitchFamily="34" charset="-122"/>
                <a:cs typeface="Meiryo" pitchFamily="34" charset="-120"/>
              </a:rPr>
              <a:t>受講中</a:t>
            </a:r>
            <a:endParaRPr lang="en-US" sz="900" dirty="0"/>
          </a:p>
        </p:txBody>
      </p:sp>
      <p:sp>
        <p:nvSpPr>
          <p:cNvPr id="19" name="Text 17"/>
          <p:cNvSpPr txBox="1"/>
          <p:nvPr/>
        </p:nvSpPr>
        <p:spPr>
          <a:xfrm>
            <a:off x="2103120" y="2642616"/>
            <a:ext cx="5166360" cy="292608"/>
          </a:xfrm>
          <a:prstGeom prst="rect">
            <a:avLst/>
          </a:prstGeom>
          <a:noFill/>
          <a:ln/>
        </p:spPr>
        <p:txBody>
          <a:bodyPr wrap="square" lIns="0" tIns="0" rIns="0" bIns="0" rtlCol="0" anchor="ctr"/>
          <a:lstStyle/>
          <a:p>
            <a:pPr indent="0" marL="0">
              <a:buNone/>
            </a:pPr>
            <a:r>
              <a:rPr lang="en-US" sz="1250" b="1" dirty="0">
                <a:solidFill>
                  <a:srgbClr val="16324F"/>
                </a:solidFill>
                <a:latin typeface="Meiryo" pitchFamily="34" charset="0"/>
                <a:ea typeface="Meiryo" pitchFamily="34" charset="-122"/>
                <a:cs typeface="Meiryo" pitchFamily="34" charset="-120"/>
              </a:rPr>
              <a:t>ランダムなタイミングでの自撮り撮影</a:t>
            </a:r>
            <a:endParaRPr lang="en-US" sz="1250" dirty="0"/>
          </a:p>
        </p:txBody>
      </p:sp>
      <p:sp>
        <p:nvSpPr>
          <p:cNvPr id="20" name="Text 18"/>
          <p:cNvSpPr txBox="1"/>
          <p:nvPr/>
        </p:nvSpPr>
        <p:spPr>
          <a:xfrm>
            <a:off x="1316736" y="2944368"/>
            <a:ext cx="5943600" cy="292608"/>
          </a:xfrm>
          <a:prstGeom prst="rect">
            <a:avLst/>
          </a:prstGeom>
          <a:noFill/>
          <a:ln/>
        </p:spPr>
        <p:txBody>
          <a:bodyPr wrap="square" lIns="0" tIns="0" rIns="0" bIns="0" rtlCol="0" anchor="ctr"/>
          <a:lstStyle/>
          <a:p>
            <a:pPr indent="0" marL="0">
              <a:buNone/>
            </a:pPr>
            <a:r>
              <a:rPr lang="en-US" sz="1000" dirty="0">
                <a:solidFill>
                  <a:srgbClr val="1C2A38"/>
                </a:solidFill>
                <a:latin typeface="Meiryo" pitchFamily="34" charset="0"/>
                <a:ea typeface="Meiryo" pitchFamily="34" charset="-122"/>
                <a:cs typeface="Meiryo" pitchFamily="34" charset="-120"/>
              </a:rPr>
              <a:t>学科視聴中、予告なくカメラ撮影。登録顔写真と照合し、離席・交代を検知します。</a:t>
            </a:r>
            <a:endParaRPr lang="en-US" sz="1000" dirty="0"/>
          </a:p>
        </p:txBody>
      </p:sp>
      <p:sp>
        <p:nvSpPr>
          <p:cNvPr id="21" name="Shape 19"/>
          <p:cNvSpPr/>
          <p:nvPr/>
        </p:nvSpPr>
        <p:spPr>
          <a:xfrm>
            <a:off x="548640" y="3392424"/>
            <a:ext cx="6903720" cy="749808"/>
          </a:xfrm>
          <a:prstGeom prst="roundRect">
            <a:avLst>
              <a:gd name="adj" fmla="val 6098"/>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22" name="Shape 20"/>
          <p:cNvSpPr/>
          <p:nvPr/>
        </p:nvSpPr>
        <p:spPr>
          <a:xfrm>
            <a:off x="731520" y="3538728"/>
            <a:ext cx="457200" cy="457200"/>
          </a:xfrm>
          <a:prstGeom prst="ellipse">
            <a:avLst/>
          </a:prstGeom>
          <a:solidFill>
            <a:srgbClr val="E8960C"/>
          </a:solidFill>
          <a:ln/>
        </p:spPr>
      </p:sp>
      <p:sp>
        <p:nvSpPr>
          <p:cNvPr id="23" name="Text 21"/>
          <p:cNvSpPr txBox="1"/>
          <p:nvPr/>
        </p:nvSpPr>
        <p:spPr>
          <a:xfrm>
            <a:off x="731520" y="35387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24" name="Shape 22"/>
          <p:cNvSpPr/>
          <p:nvPr/>
        </p:nvSpPr>
        <p:spPr>
          <a:xfrm>
            <a:off x="1298448" y="3520440"/>
            <a:ext cx="713232" cy="256032"/>
          </a:xfrm>
          <a:prstGeom prst="roundRect">
            <a:avLst>
              <a:gd name="adj" fmla="val 50000"/>
            </a:avLst>
          </a:prstGeom>
          <a:solidFill>
            <a:srgbClr val="F3F5F7"/>
          </a:solidFill>
          <a:ln/>
        </p:spPr>
      </p:sp>
      <p:sp>
        <p:nvSpPr>
          <p:cNvPr id="25" name="Text 23"/>
          <p:cNvSpPr txBox="1"/>
          <p:nvPr/>
        </p:nvSpPr>
        <p:spPr>
          <a:xfrm>
            <a:off x="1298448" y="3520440"/>
            <a:ext cx="713232" cy="256032"/>
          </a:xfrm>
          <a:prstGeom prst="rect">
            <a:avLst/>
          </a:prstGeom>
          <a:noFill/>
          <a:ln/>
        </p:spPr>
        <p:txBody>
          <a:bodyPr wrap="square" lIns="0" tIns="0" rIns="0" bIns="0" rtlCol="0" anchor="ctr"/>
          <a:lstStyle/>
          <a:p>
            <a:pPr algn="ctr" indent="0" marL="0">
              <a:buNone/>
            </a:pPr>
            <a:r>
              <a:rPr lang="en-US" sz="900" b="1" dirty="0">
                <a:solidFill>
                  <a:srgbClr val="3E6B8C"/>
                </a:solidFill>
                <a:latin typeface="Meiryo" pitchFamily="34" charset="0"/>
                <a:ea typeface="Meiryo" pitchFamily="34" charset="-122"/>
                <a:cs typeface="Meiryo" pitchFamily="34" charset="-120"/>
              </a:rPr>
              <a:t>受講中</a:t>
            </a:r>
            <a:endParaRPr lang="en-US" sz="900" dirty="0"/>
          </a:p>
        </p:txBody>
      </p:sp>
      <p:sp>
        <p:nvSpPr>
          <p:cNvPr id="26" name="Text 24"/>
          <p:cNvSpPr txBox="1"/>
          <p:nvPr/>
        </p:nvSpPr>
        <p:spPr>
          <a:xfrm>
            <a:off x="2103120" y="3493008"/>
            <a:ext cx="5166360" cy="292608"/>
          </a:xfrm>
          <a:prstGeom prst="rect">
            <a:avLst/>
          </a:prstGeom>
          <a:noFill/>
          <a:ln/>
        </p:spPr>
        <p:txBody>
          <a:bodyPr wrap="square" lIns="0" tIns="0" rIns="0" bIns="0" rtlCol="0" anchor="ctr"/>
          <a:lstStyle/>
          <a:p>
            <a:pPr indent="0" marL="0">
              <a:buNone/>
            </a:pPr>
            <a:r>
              <a:rPr lang="en-US" sz="1250" b="1" dirty="0">
                <a:solidFill>
                  <a:srgbClr val="16324F"/>
                </a:solidFill>
                <a:latin typeface="Meiryo" pitchFamily="34" charset="0"/>
                <a:ea typeface="Meiryo" pitchFamily="34" charset="-122"/>
                <a:cs typeface="Meiryo" pitchFamily="34" charset="-120"/>
              </a:rPr>
              <a:t>視聴ログの秒単位記録</a:t>
            </a:r>
            <a:endParaRPr lang="en-US" sz="1250" dirty="0"/>
          </a:p>
        </p:txBody>
      </p:sp>
      <p:sp>
        <p:nvSpPr>
          <p:cNvPr id="27" name="Text 25"/>
          <p:cNvSpPr txBox="1"/>
          <p:nvPr/>
        </p:nvSpPr>
        <p:spPr>
          <a:xfrm>
            <a:off x="1316736" y="3794760"/>
            <a:ext cx="5943600" cy="292608"/>
          </a:xfrm>
          <a:prstGeom prst="rect">
            <a:avLst/>
          </a:prstGeom>
          <a:noFill/>
          <a:ln/>
        </p:spPr>
        <p:txBody>
          <a:bodyPr wrap="square" lIns="0" tIns="0" rIns="0" bIns="0" rtlCol="0" anchor="ctr"/>
          <a:lstStyle/>
          <a:p>
            <a:pPr indent="0" marL="0">
              <a:buNone/>
            </a:pPr>
            <a:r>
              <a:rPr lang="en-US" sz="1000" dirty="0">
                <a:solidFill>
                  <a:srgbClr val="1C2A38"/>
                </a:solidFill>
                <a:latin typeface="Meiryo" pitchFamily="34" charset="0"/>
                <a:ea typeface="Meiryo" pitchFamily="34" charset="-122"/>
                <a:cs typeface="Meiryo" pitchFamily="34" charset="-120"/>
              </a:rPr>
              <a:t>スキップ・早送りを禁止。法定の教育時間を満たしたことをログで証明します。</a:t>
            </a:r>
            <a:endParaRPr lang="en-US" sz="1000" dirty="0"/>
          </a:p>
        </p:txBody>
      </p:sp>
      <p:sp>
        <p:nvSpPr>
          <p:cNvPr id="28" name="Shape 26"/>
          <p:cNvSpPr/>
          <p:nvPr/>
        </p:nvSpPr>
        <p:spPr>
          <a:xfrm>
            <a:off x="548640" y="4242816"/>
            <a:ext cx="6903720" cy="749808"/>
          </a:xfrm>
          <a:prstGeom prst="roundRect">
            <a:avLst>
              <a:gd name="adj" fmla="val 6098"/>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29" name="Shape 27"/>
          <p:cNvSpPr/>
          <p:nvPr/>
        </p:nvSpPr>
        <p:spPr>
          <a:xfrm>
            <a:off x="731520" y="4389120"/>
            <a:ext cx="457200" cy="457200"/>
          </a:xfrm>
          <a:prstGeom prst="ellipse">
            <a:avLst/>
          </a:prstGeom>
          <a:solidFill>
            <a:srgbClr val="E8960C"/>
          </a:solidFill>
          <a:ln/>
        </p:spPr>
      </p:sp>
      <p:sp>
        <p:nvSpPr>
          <p:cNvPr id="30" name="Text 28"/>
          <p:cNvSpPr txBox="1"/>
          <p:nvPr/>
        </p:nvSpPr>
        <p:spPr>
          <a:xfrm>
            <a:off x="731520" y="4389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4</a:t>
            </a:r>
            <a:endParaRPr lang="en-US" sz="1400" dirty="0"/>
          </a:p>
        </p:txBody>
      </p:sp>
      <p:sp>
        <p:nvSpPr>
          <p:cNvPr id="31" name="Shape 29"/>
          <p:cNvSpPr/>
          <p:nvPr/>
        </p:nvSpPr>
        <p:spPr>
          <a:xfrm>
            <a:off x="1298448" y="4370832"/>
            <a:ext cx="713232" cy="256032"/>
          </a:xfrm>
          <a:prstGeom prst="roundRect">
            <a:avLst>
              <a:gd name="adj" fmla="val 50000"/>
            </a:avLst>
          </a:prstGeom>
          <a:solidFill>
            <a:srgbClr val="F3F5F7"/>
          </a:solidFill>
          <a:ln/>
        </p:spPr>
      </p:sp>
      <p:sp>
        <p:nvSpPr>
          <p:cNvPr id="32" name="Text 30"/>
          <p:cNvSpPr txBox="1"/>
          <p:nvPr/>
        </p:nvSpPr>
        <p:spPr>
          <a:xfrm>
            <a:off x="1298448" y="4370832"/>
            <a:ext cx="713232" cy="256032"/>
          </a:xfrm>
          <a:prstGeom prst="rect">
            <a:avLst/>
          </a:prstGeom>
          <a:noFill/>
          <a:ln/>
        </p:spPr>
        <p:txBody>
          <a:bodyPr wrap="square" lIns="0" tIns="0" rIns="0" bIns="0" rtlCol="0" anchor="ctr"/>
          <a:lstStyle/>
          <a:p>
            <a:pPr algn="ctr" indent="0" marL="0">
              <a:buNone/>
            </a:pPr>
            <a:r>
              <a:rPr lang="en-US" sz="900" b="1" dirty="0">
                <a:solidFill>
                  <a:srgbClr val="3E6B8C"/>
                </a:solidFill>
                <a:latin typeface="Meiryo" pitchFamily="34" charset="0"/>
                <a:ea typeface="Meiryo" pitchFamily="34" charset="-122"/>
                <a:cs typeface="Meiryo" pitchFamily="34" charset="-120"/>
              </a:rPr>
              <a:t>章末</a:t>
            </a:r>
            <a:endParaRPr lang="en-US" sz="900" dirty="0"/>
          </a:p>
        </p:txBody>
      </p:sp>
      <p:sp>
        <p:nvSpPr>
          <p:cNvPr id="33" name="Text 31"/>
          <p:cNvSpPr txBox="1"/>
          <p:nvPr/>
        </p:nvSpPr>
        <p:spPr>
          <a:xfrm>
            <a:off x="2103120" y="4343400"/>
            <a:ext cx="5166360" cy="292608"/>
          </a:xfrm>
          <a:prstGeom prst="rect">
            <a:avLst/>
          </a:prstGeom>
          <a:noFill/>
          <a:ln/>
        </p:spPr>
        <p:txBody>
          <a:bodyPr wrap="square" lIns="0" tIns="0" rIns="0" bIns="0" rtlCol="0" anchor="ctr"/>
          <a:lstStyle/>
          <a:p>
            <a:pPr indent="0" marL="0">
              <a:buNone/>
            </a:pPr>
            <a:r>
              <a:rPr lang="en-US" sz="1250" b="1" dirty="0">
                <a:solidFill>
                  <a:srgbClr val="16324F"/>
                </a:solidFill>
                <a:latin typeface="Meiryo" pitchFamily="34" charset="0"/>
                <a:ea typeface="Meiryo" pitchFamily="34" charset="-122"/>
                <a:cs typeface="Meiryo" pitchFamily="34" charset="-120"/>
              </a:rPr>
              <a:t>章ごとの理解度テスト</a:t>
            </a:r>
            <a:endParaRPr lang="en-US" sz="1250" dirty="0"/>
          </a:p>
        </p:txBody>
      </p:sp>
      <p:sp>
        <p:nvSpPr>
          <p:cNvPr id="34" name="Text 32"/>
          <p:cNvSpPr txBox="1"/>
          <p:nvPr/>
        </p:nvSpPr>
        <p:spPr>
          <a:xfrm>
            <a:off x="1316736" y="4645152"/>
            <a:ext cx="5943600" cy="292608"/>
          </a:xfrm>
          <a:prstGeom prst="rect">
            <a:avLst/>
          </a:prstGeom>
          <a:noFill/>
          <a:ln/>
        </p:spPr>
        <p:txBody>
          <a:bodyPr wrap="square" lIns="0" tIns="0" rIns="0" bIns="0" rtlCol="0" anchor="ctr"/>
          <a:lstStyle/>
          <a:p>
            <a:pPr indent="0" marL="0">
              <a:buNone/>
            </a:pPr>
            <a:r>
              <a:rPr lang="en-US" sz="1000" dirty="0">
                <a:solidFill>
                  <a:srgbClr val="1C2A38"/>
                </a:solidFill>
                <a:latin typeface="Meiryo" pitchFamily="34" charset="0"/>
                <a:ea typeface="Meiryo" pitchFamily="34" charset="-122"/>
                <a:cs typeface="Meiryo" pitchFamily="34" charset="-120"/>
              </a:rPr>
              <a:t>合格しなければ次章に進めません。「再生しているだけ」の受講を排除します。</a:t>
            </a:r>
            <a:endParaRPr lang="en-US" sz="1000" dirty="0"/>
          </a:p>
        </p:txBody>
      </p:sp>
      <p:sp>
        <p:nvSpPr>
          <p:cNvPr id="35" name="Shape 33"/>
          <p:cNvSpPr/>
          <p:nvPr/>
        </p:nvSpPr>
        <p:spPr>
          <a:xfrm>
            <a:off x="548640" y="5093208"/>
            <a:ext cx="6903720" cy="749808"/>
          </a:xfrm>
          <a:prstGeom prst="roundRect">
            <a:avLst>
              <a:gd name="adj" fmla="val 6098"/>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36" name="Shape 34"/>
          <p:cNvSpPr/>
          <p:nvPr/>
        </p:nvSpPr>
        <p:spPr>
          <a:xfrm>
            <a:off x="731520" y="5239512"/>
            <a:ext cx="457200" cy="457200"/>
          </a:xfrm>
          <a:prstGeom prst="ellipse">
            <a:avLst/>
          </a:prstGeom>
          <a:solidFill>
            <a:srgbClr val="E8960C"/>
          </a:solidFill>
          <a:ln/>
        </p:spPr>
      </p:sp>
      <p:sp>
        <p:nvSpPr>
          <p:cNvPr id="37" name="Text 35"/>
          <p:cNvSpPr txBox="1"/>
          <p:nvPr/>
        </p:nvSpPr>
        <p:spPr>
          <a:xfrm>
            <a:off x="731520" y="523951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5</a:t>
            </a:r>
            <a:endParaRPr lang="en-US" sz="1400" dirty="0"/>
          </a:p>
        </p:txBody>
      </p:sp>
      <p:sp>
        <p:nvSpPr>
          <p:cNvPr id="38" name="Shape 36"/>
          <p:cNvSpPr/>
          <p:nvPr/>
        </p:nvSpPr>
        <p:spPr>
          <a:xfrm>
            <a:off x="1298448" y="5221224"/>
            <a:ext cx="713232" cy="256032"/>
          </a:xfrm>
          <a:prstGeom prst="roundRect">
            <a:avLst>
              <a:gd name="adj" fmla="val 50000"/>
            </a:avLst>
          </a:prstGeom>
          <a:solidFill>
            <a:srgbClr val="F3F5F7"/>
          </a:solidFill>
          <a:ln/>
        </p:spPr>
      </p:sp>
      <p:sp>
        <p:nvSpPr>
          <p:cNvPr id="39" name="Text 37"/>
          <p:cNvSpPr txBox="1"/>
          <p:nvPr/>
        </p:nvSpPr>
        <p:spPr>
          <a:xfrm>
            <a:off x="1298448" y="5221224"/>
            <a:ext cx="713232" cy="256032"/>
          </a:xfrm>
          <a:prstGeom prst="rect">
            <a:avLst/>
          </a:prstGeom>
          <a:noFill/>
          <a:ln/>
        </p:spPr>
        <p:txBody>
          <a:bodyPr wrap="square" lIns="0" tIns="0" rIns="0" bIns="0" rtlCol="0" anchor="ctr"/>
          <a:lstStyle/>
          <a:p>
            <a:pPr algn="ctr" indent="0" marL="0">
              <a:buNone/>
            </a:pPr>
            <a:r>
              <a:rPr lang="en-US" sz="900" b="1" dirty="0">
                <a:solidFill>
                  <a:srgbClr val="3E6B8C"/>
                </a:solidFill>
                <a:latin typeface="Meiryo" pitchFamily="34" charset="0"/>
                <a:ea typeface="Meiryo" pitchFamily="34" charset="-122"/>
                <a:cs typeface="Meiryo" pitchFamily="34" charset="-120"/>
              </a:rPr>
              <a:t>修了時</a:t>
            </a:r>
            <a:endParaRPr lang="en-US" sz="900" dirty="0"/>
          </a:p>
        </p:txBody>
      </p:sp>
      <p:sp>
        <p:nvSpPr>
          <p:cNvPr id="40" name="Text 38"/>
          <p:cNvSpPr txBox="1"/>
          <p:nvPr/>
        </p:nvSpPr>
        <p:spPr>
          <a:xfrm>
            <a:off x="2103120" y="5193792"/>
            <a:ext cx="5166360" cy="292608"/>
          </a:xfrm>
          <a:prstGeom prst="rect">
            <a:avLst/>
          </a:prstGeom>
          <a:noFill/>
          <a:ln/>
        </p:spPr>
        <p:txBody>
          <a:bodyPr wrap="square" lIns="0" tIns="0" rIns="0" bIns="0" rtlCol="0" anchor="ctr"/>
          <a:lstStyle/>
          <a:p>
            <a:pPr indent="0" marL="0">
              <a:buNone/>
            </a:pPr>
            <a:r>
              <a:rPr lang="en-US" sz="1250" b="1" dirty="0">
                <a:solidFill>
                  <a:srgbClr val="16324F"/>
                </a:solidFill>
                <a:latin typeface="Meiryo" pitchFamily="34" charset="0"/>
                <a:ea typeface="Meiryo" pitchFamily="34" charset="-122"/>
                <a:cs typeface="Meiryo" pitchFamily="34" charset="-120"/>
              </a:rPr>
              <a:t>修了確認テスト＋質問受付</a:t>
            </a:r>
            <a:endParaRPr lang="en-US" sz="1250" dirty="0"/>
          </a:p>
        </p:txBody>
      </p:sp>
      <p:sp>
        <p:nvSpPr>
          <p:cNvPr id="41" name="Text 39"/>
          <p:cNvSpPr txBox="1"/>
          <p:nvPr/>
        </p:nvSpPr>
        <p:spPr>
          <a:xfrm>
            <a:off x="1316736" y="5495544"/>
            <a:ext cx="5943600" cy="292608"/>
          </a:xfrm>
          <a:prstGeom prst="rect">
            <a:avLst/>
          </a:prstGeom>
          <a:noFill/>
          <a:ln/>
        </p:spPr>
        <p:txBody>
          <a:bodyPr wrap="square" lIns="0" tIns="0" rIns="0" bIns="0" rtlCol="0" anchor="ctr"/>
          <a:lstStyle/>
          <a:p>
            <a:pPr indent="0" marL="0">
              <a:buNone/>
            </a:pPr>
            <a:r>
              <a:rPr lang="en-US" sz="1000" dirty="0">
                <a:solidFill>
                  <a:srgbClr val="1C2A38"/>
                </a:solidFill>
                <a:latin typeface="Meiryo" pitchFamily="34" charset="0"/>
                <a:ea typeface="Meiryo" pitchFamily="34" charset="-122"/>
                <a:cs typeface="Meiryo" pitchFamily="34" charset="-120"/>
              </a:rPr>
              <a:t>合格者にのみ修了証を発行。質問受付により法令上の体制要件も満たします。</a:t>
            </a:r>
            <a:endParaRPr lang="en-US" sz="1000" dirty="0"/>
          </a:p>
        </p:txBody>
      </p:sp>
      <p:sp>
        <p:nvSpPr>
          <p:cNvPr id="42" name="Shape 40"/>
          <p:cNvSpPr/>
          <p:nvPr/>
        </p:nvSpPr>
        <p:spPr>
          <a:xfrm>
            <a:off x="7708392" y="1691640"/>
            <a:ext cx="3934663" cy="4114800"/>
          </a:xfrm>
          <a:prstGeom prst="roundRect">
            <a:avLst>
              <a:gd name="adj" fmla="val 1162"/>
            </a:avLst>
          </a:prstGeom>
          <a:solidFill>
            <a:srgbClr val="16324F"/>
          </a:solidFill>
          <a:ln/>
        </p:spPr>
      </p:sp>
      <p:sp>
        <p:nvSpPr>
          <p:cNvPr id="43" name="Text 41"/>
          <p:cNvSpPr txBox="1"/>
          <p:nvPr/>
        </p:nvSpPr>
        <p:spPr>
          <a:xfrm>
            <a:off x="7964424" y="1874520"/>
            <a:ext cx="3422599" cy="365760"/>
          </a:xfrm>
          <a:prstGeom prst="rect">
            <a:avLst/>
          </a:prstGeom>
          <a:noFill/>
          <a:ln/>
        </p:spPr>
        <p:txBody>
          <a:bodyPr wrap="square" lIns="0" tIns="0" rIns="0" bIns="0" rtlCol="0" anchor="ctr"/>
          <a:lstStyle/>
          <a:p>
            <a:pPr indent="0" marL="0">
              <a:buNone/>
            </a:pPr>
            <a:r>
              <a:rPr lang="en-US" sz="1400" b="1" dirty="0">
                <a:solidFill>
                  <a:srgbClr val="E8960C"/>
                </a:solidFill>
                <a:latin typeface="Meiryo" pitchFamily="34" charset="0"/>
                <a:ea typeface="Meiryo" pitchFamily="34" charset="-122"/>
                <a:cs typeface="Meiryo" pitchFamily="34" charset="-120"/>
              </a:rPr>
              <a:t>この仕組みで、こう答えられます</a:t>
            </a:r>
            <a:endParaRPr lang="en-US" sz="1400" dirty="0"/>
          </a:p>
        </p:txBody>
      </p:sp>
      <p:sp>
        <p:nvSpPr>
          <p:cNvPr id="44" name="Shape 42"/>
          <p:cNvSpPr/>
          <p:nvPr/>
        </p:nvSpPr>
        <p:spPr>
          <a:xfrm>
            <a:off x="7964424" y="2331720"/>
            <a:ext cx="3422599" cy="1417320"/>
          </a:xfrm>
          <a:prstGeom prst="roundRect">
            <a:avLst>
              <a:gd name="adj" fmla="val 3226"/>
            </a:avLst>
          </a:prstGeom>
          <a:solidFill>
            <a:srgbClr val="0C1D2E"/>
          </a:solidFill>
          <a:ln/>
        </p:spPr>
      </p:sp>
      <p:sp>
        <p:nvSpPr>
          <p:cNvPr id="45" name="Text 43"/>
          <p:cNvSpPr txBox="1"/>
          <p:nvPr/>
        </p:nvSpPr>
        <p:spPr>
          <a:xfrm>
            <a:off x="8119872" y="2450592"/>
            <a:ext cx="3111703" cy="1188720"/>
          </a:xfrm>
          <a:prstGeom prst="rect">
            <a:avLst/>
          </a:prstGeom>
          <a:noFill/>
          <a:ln/>
        </p:spPr>
        <p:txBody>
          <a:bodyPr wrap="square" lIns="0" tIns="0" rIns="0" bIns="0" rtlCol="0" anchor="ctr"/>
          <a:lstStyle/>
          <a:p>
            <a:pPr indent="0" marL="0">
              <a:lnSpc>
                <a:spcPct val="130000"/>
              </a:lnSpc>
              <a:buNone/>
            </a:pPr>
            <a:r>
              <a:rPr lang="en-US" sz="1150" i="1" dirty="0">
                <a:solidFill>
                  <a:srgbClr val="FFFFFF"/>
                </a:solidFill>
                <a:latin typeface="Meiryo" pitchFamily="34" charset="0"/>
                <a:ea typeface="Meiryo" pitchFamily="34" charset="-122"/>
                <a:cs typeface="Meiryo" pitchFamily="34" charset="-120"/>
              </a:rPr>
              <a:t>「2026年11月12日、○○建設の△△様が、フルハーネス特別教育の学科を4時間52分受講。受講中の顔照合12回はすべて本人と一致。修了確認テスト92点で合格。」</a:t>
            </a:r>
            <a:endParaRPr lang="en-US" sz="1150" dirty="0"/>
          </a:p>
        </p:txBody>
      </p:sp>
      <p:sp>
        <p:nvSpPr>
          <p:cNvPr id="46" name="Shape 44"/>
          <p:cNvSpPr/>
          <p:nvPr/>
        </p:nvSpPr>
        <p:spPr>
          <a:xfrm>
            <a:off x="8001000" y="4032504"/>
            <a:ext cx="118872" cy="118872"/>
          </a:xfrm>
          <a:prstGeom prst="ellipse">
            <a:avLst/>
          </a:prstGeom>
          <a:solidFill>
            <a:srgbClr val="E8960C"/>
          </a:solidFill>
          <a:ln/>
        </p:spPr>
      </p:sp>
      <p:sp>
        <p:nvSpPr>
          <p:cNvPr id="47" name="Text 45"/>
          <p:cNvSpPr txBox="1"/>
          <p:nvPr/>
        </p:nvSpPr>
        <p:spPr>
          <a:xfrm>
            <a:off x="8238744" y="3931920"/>
            <a:ext cx="3111703" cy="347472"/>
          </a:xfrm>
          <a:prstGeom prst="rect">
            <a:avLst/>
          </a:prstGeom>
          <a:noFill/>
          <a:ln/>
        </p:spPr>
        <p:txBody>
          <a:bodyPr wrap="square" lIns="0" tIns="0" rIns="0" bIns="0" rtlCol="0" anchor="ctr"/>
          <a:lstStyle/>
          <a:p>
            <a:pPr indent="0" marL="0">
              <a:buNone/>
            </a:pPr>
            <a:r>
              <a:rPr lang="en-US" sz="1100" dirty="0">
                <a:solidFill>
                  <a:srgbClr val="E2ECF4"/>
                </a:solidFill>
                <a:latin typeface="Meiryo" pitchFamily="34" charset="0"/>
                <a:ea typeface="Meiryo" pitchFamily="34" charset="-122"/>
                <a:cs typeface="Meiryo" pitchFamily="34" charset="-120"/>
              </a:rPr>
              <a:t>発注元・元請への説明責任を果たせる</a:t>
            </a:r>
            <a:endParaRPr lang="en-US" sz="1100" dirty="0"/>
          </a:p>
        </p:txBody>
      </p:sp>
      <p:sp>
        <p:nvSpPr>
          <p:cNvPr id="48" name="Shape 46"/>
          <p:cNvSpPr/>
          <p:nvPr/>
        </p:nvSpPr>
        <p:spPr>
          <a:xfrm>
            <a:off x="8001000" y="4434840"/>
            <a:ext cx="118872" cy="118872"/>
          </a:xfrm>
          <a:prstGeom prst="ellipse">
            <a:avLst/>
          </a:prstGeom>
          <a:solidFill>
            <a:srgbClr val="E8960C"/>
          </a:solidFill>
          <a:ln/>
        </p:spPr>
      </p:sp>
      <p:sp>
        <p:nvSpPr>
          <p:cNvPr id="49" name="Text 47"/>
          <p:cNvSpPr txBox="1"/>
          <p:nvPr/>
        </p:nvSpPr>
        <p:spPr>
          <a:xfrm>
            <a:off x="8238744" y="4334256"/>
            <a:ext cx="3111703" cy="347472"/>
          </a:xfrm>
          <a:prstGeom prst="rect">
            <a:avLst/>
          </a:prstGeom>
          <a:noFill/>
          <a:ln/>
        </p:spPr>
        <p:txBody>
          <a:bodyPr wrap="square" lIns="0" tIns="0" rIns="0" bIns="0" rtlCol="0" anchor="ctr"/>
          <a:lstStyle/>
          <a:p>
            <a:pPr indent="0" marL="0">
              <a:buNone/>
            </a:pPr>
            <a:r>
              <a:rPr lang="en-US" sz="1100" dirty="0">
                <a:solidFill>
                  <a:srgbClr val="E2ECF4"/>
                </a:solidFill>
                <a:latin typeface="Meiryo" pitchFamily="34" charset="0"/>
                <a:ea typeface="Meiryo" pitchFamily="34" charset="-122"/>
                <a:cs typeface="Meiryo" pitchFamily="34" charset="-120"/>
              </a:rPr>
              <a:t>監督署の調査にその場で応じられる</a:t>
            </a:r>
            <a:endParaRPr lang="en-US" sz="1100" dirty="0"/>
          </a:p>
        </p:txBody>
      </p:sp>
      <p:sp>
        <p:nvSpPr>
          <p:cNvPr id="50" name="Shape 48"/>
          <p:cNvSpPr/>
          <p:nvPr/>
        </p:nvSpPr>
        <p:spPr>
          <a:xfrm>
            <a:off x="8001000" y="4837176"/>
            <a:ext cx="118872" cy="118872"/>
          </a:xfrm>
          <a:prstGeom prst="ellipse">
            <a:avLst/>
          </a:prstGeom>
          <a:solidFill>
            <a:srgbClr val="E8960C"/>
          </a:solidFill>
          <a:ln/>
        </p:spPr>
      </p:sp>
      <p:sp>
        <p:nvSpPr>
          <p:cNvPr id="51" name="Text 49"/>
          <p:cNvSpPr txBox="1"/>
          <p:nvPr/>
        </p:nvSpPr>
        <p:spPr>
          <a:xfrm>
            <a:off x="8238744" y="4736592"/>
            <a:ext cx="3111703" cy="347472"/>
          </a:xfrm>
          <a:prstGeom prst="rect">
            <a:avLst/>
          </a:prstGeom>
          <a:noFill/>
          <a:ln/>
        </p:spPr>
        <p:txBody>
          <a:bodyPr wrap="square" lIns="0" tIns="0" rIns="0" bIns="0" rtlCol="0" anchor="ctr"/>
          <a:lstStyle/>
          <a:p>
            <a:pPr indent="0" marL="0">
              <a:buNone/>
            </a:pPr>
            <a:r>
              <a:rPr lang="en-US" sz="1100" dirty="0">
                <a:solidFill>
                  <a:srgbClr val="E2ECF4"/>
                </a:solidFill>
                <a:latin typeface="Meiryo" pitchFamily="34" charset="0"/>
                <a:ea typeface="Meiryo" pitchFamily="34" charset="-122"/>
                <a:cs typeface="Meiryo" pitchFamily="34" charset="-120"/>
              </a:rPr>
              <a:t>受講者本人の「受けた証明」になる</a:t>
            </a:r>
            <a:endParaRPr lang="en-US" sz="1100" dirty="0"/>
          </a:p>
        </p:txBody>
      </p:sp>
      <p:sp>
        <p:nvSpPr>
          <p:cNvPr id="52" name="Shape 50"/>
          <p:cNvSpPr/>
          <p:nvPr/>
        </p:nvSpPr>
        <p:spPr>
          <a:xfrm>
            <a:off x="8001000" y="5239512"/>
            <a:ext cx="118872" cy="118872"/>
          </a:xfrm>
          <a:prstGeom prst="ellipse">
            <a:avLst/>
          </a:prstGeom>
          <a:solidFill>
            <a:srgbClr val="E8960C"/>
          </a:solidFill>
          <a:ln/>
        </p:spPr>
      </p:sp>
      <p:sp>
        <p:nvSpPr>
          <p:cNvPr id="53" name="Text 51"/>
          <p:cNvSpPr txBox="1"/>
          <p:nvPr/>
        </p:nvSpPr>
        <p:spPr>
          <a:xfrm>
            <a:off x="8238744" y="5138928"/>
            <a:ext cx="3111703" cy="347472"/>
          </a:xfrm>
          <a:prstGeom prst="rect">
            <a:avLst/>
          </a:prstGeom>
          <a:noFill/>
          <a:ln/>
        </p:spPr>
        <p:txBody>
          <a:bodyPr wrap="square" lIns="0" tIns="0" rIns="0" bIns="0" rtlCol="0" anchor="ctr"/>
          <a:lstStyle/>
          <a:p>
            <a:pPr indent="0" marL="0">
              <a:buNone/>
            </a:pPr>
            <a:r>
              <a:rPr lang="en-US" sz="1100" dirty="0">
                <a:solidFill>
                  <a:srgbClr val="E2ECF4"/>
                </a:solidFill>
                <a:latin typeface="Meiryo" pitchFamily="34" charset="0"/>
                <a:ea typeface="Meiryo" pitchFamily="34" charset="-122"/>
                <a:cs typeface="Meiryo" pitchFamily="34" charset="-120"/>
              </a:rPr>
              <a:t>他社との差別化がそのまま価格に反映できる</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7"/>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indent="0" marL="0">
              <a:buNone/>
            </a:pPr>
            <a:r>
              <a:rPr lang="en-US" sz="1100" b="1" spc="150" kern="0" dirty="0">
                <a:solidFill>
                  <a:srgbClr val="B87400"/>
                </a:solidFill>
                <a:latin typeface="Meiryo" pitchFamily="34" charset="0"/>
                <a:ea typeface="Meiryo" pitchFamily="34" charset="-122"/>
                <a:cs typeface="Meiryo" pitchFamily="34" charset="-120"/>
              </a:rPr>
              <a:t>SYSTEM</a:t>
            </a:r>
            <a:endParaRPr lang="en-US" sz="1100" dirty="0"/>
          </a:p>
        </p:txBody>
      </p:sp>
      <p:sp>
        <p:nvSpPr>
          <p:cNvPr id="3" name="Text 1"/>
          <p:cNvSpPr txBox="1"/>
          <p:nvPr/>
        </p:nvSpPr>
        <p:spPr>
          <a:xfrm>
            <a:off x="548640" y="603504"/>
            <a:ext cx="11094415" cy="548640"/>
          </a:xfrm>
          <a:prstGeom prst="rect">
            <a:avLst/>
          </a:prstGeom>
          <a:noFill/>
          <a:ln/>
        </p:spPr>
        <p:txBody>
          <a:bodyPr wrap="square" lIns="0" tIns="0" rIns="0" bIns="0" rtlCol="0" anchor="ctr"/>
          <a:lstStyle/>
          <a:p>
            <a:pPr indent="0" marL="0">
              <a:buNone/>
            </a:pPr>
            <a:r>
              <a:rPr lang="en-US" sz="2700" b="1" dirty="0">
                <a:solidFill>
                  <a:srgbClr val="16324F"/>
                </a:solidFill>
                <a:latin typeface="Meiryo" pitchFamily="34" charset="0"/>
                <a:ea typeface="Meiryo" pitchFamily="34" charset="-122"/>
                <a:cs typeface="Meiryo" pitchFamily="34" charset="-120"/>
              </a:rPr>
              <a:t>システム全体像</a:t>
            </a:r>
            <a:endParaRPr lang="en-US" sz="2700" dirty="0"/>
          </a:p>
        </p:txBody>
      </p:sp>
      <p:sp>
        <p:nvSpPr>
          <p:cNvPr id="4" name="Text 2"/>
          <p:cNvSpPr txBox="1"/>
          <p:nvPr/>
        </p:nvSpPr>
        <p:spPr>
          <a:xfrm>
            <a:off x="548640" y="1188720"/>
            <a:ext cx="11094415" cy="329184"/>
          </a:xfrm>
          <a:prstGeom prst="rect">
            <a:avLst/>
          </a:prstGeom>
          <a:noFill/>
          <a:ln/>
        </p:spPr>
        <p:txBody>
          <a:bodyPr wrap="square" lIns="0" tIns="0" rIns="0" bIns="0" rtlCol="0" anchor="ctr"/>
          <a:lstStyle/>
          <a:p>
            <a:pPr indent="0" marL="0">
              <a:buNone/>
            </a:pPr>
            <a:r>
              <a:rPr lang="en-US" sz="1250" dirty="0">
                <a:solidFill>
                  <a:srgbClr val="6B7B8A"/>
                </a:solidFill>
                <a:latin typeface="Meiryo" pitchFamily="34" charset="0"/>
                <a:ea typeface="Meiryo" pitchFamily="34" charset="-122"/>
                <a:cs typeface="Meiryo" pitchFamily="34" charset="-120"/>
              </a:rPr>
              <a:t>3者それぞれに専用の画面を用意し、運営の手間を最小化します。</a:t>
            </a:r>
            <a:endParaRPr lang="en-US" sz="1250" dirty="0"/>
          </a:p>
        </p:txBody>
      </p:sp>
      <p:sp>
        <p:nvSpPr>
          <p:cNvPr id="5" name="Text 3"/>
          <p:cNvSpPr txBox="1"/>
          <p:nvPr/>
        </p:nvSpPr>
        <p:spPr>
          <a:xfrm>
            <a:off x="548640" y="6382512"/>
            <a:ext cx="8686800" cy="256032"/>
          </a:xfrm>
          <a:prstGeom prst="rect">
            <a:avLst/>
          </a:prstGeom>
          <a:noFill/>
          <a:ln/>
        </p:spPr>
        <p:txBody>
          <a:bodyPr wrap="square" lIns="0" tIns="0" rIns="0" bIns="0" rtlCol="0" anchor="ctr"/>
          <a:lstStyle/>
          <a:p>
            <a:pPr indent="0" marL="0">
              <a:buNone/>
            </a:pPr>
            <a:r>
              <a:rPr lang="en-US" sz="900" dirty="0">
                <a:solidFill>
                  <a:srgbClr val="6B7B8A"/>
                </a:solidFill>
                <a:latin typeface="Meiryo" pitchFamily="34" charset="0"/>
                <a:ea typeface="Meiryo" pitchFamily="34" charset="-122"/>
                <a:cs typeface="Meiryo" pitchFamily="34" charset="-120"/>
              </a:rPr>
              <a:t>株式会社聖建 御中 ｜ 建設業 特別教育 オンライン受講プラットフォーム ご提案</a:t>
            </a:r>
            <a:endParaRPr lang="en-US" sz="900" dirty="0"/>
          </a:p>
        </p:txBody>
      </p:sp>
      <p:sp>
        <p:nvSpPr>
          <p:cNvPr id="6" name="Text 4"/>
          <p:cNvSpPr txBox="1"/>
          <p:nvPr/>
        </p:nvSpPr>
        <p:spPr>
          <a:xfrm>
            <a:off x="11002975" y="6382512"/>
            <a:ext cx="640080" cy="256032"/>
          </a:xfrm>
          <a:prstGeom prst="rect">
            <a:avLst/>
          </a:prstGeom>
          <a:noFill/>
          <a:ln/>
        </p:spPr>
        <p:txBody>
          <a:bodyPr wrap="square" lIns="0" tIns="0" rIns="0" bIns="0" rtlCol="0" anchor="ctr"/>
          <a:lstStyle/>
          <a:p>
            <a:pPr algn="r" indent="0" marL="0">
              <a:buNone/>
            </a:pPr>
            <a:r>
              <a:rPr lang="en-US" sz="1000" b="1" dirty="0">
                <a:solidFill>
                  <a:srgbClr val="3E6B8C"/>
                </a:solidFill>
                <a:latin typeface="Meiryo" pitchFamily="34" charset="0"/>
                <a:ea typeface="Meiryo" pitchFamily="34" charset="-122"/>
                <a:cs typeface="Meiryo" pitchFamily="34" charset="-120"/>
              </a:rPr>
              <a:t>8</a:t>
            </a:r>
            <a:endParaRPr lang="en-US" sz="1000" dirty="0"/>
          </a:p>
        </p:txBody>
      </p:sp>
      <p:sp>
        <p:nvSpPr>
          <p:cNvPr id="7" name="Shape 5"/>
          <p:cNvSpPr/>
          <p:nvPr/>
        </p:nvSpPr>
        <p:spPr>
          <a:xfrm>
            <a:off x="548640" y="1645920"/>
            <a:ext cx="3545738" cy="1783080"/>
          </a:xfrm>
          <a:prstGeom prst="roundRect">
            <a:avLst>
              <a:gd name="adj" fmla="val 2564"/>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8" name="Text 6"/>
          <p:cNvSpPr txBox="1"/>
          <p:nvPr/>
        </p:nvSpPr>
        <p:spPr>
          <a:xfrm>
            <a:off x="804672" y="1783080"/>
            <a:ext cx="3033674" cy="329184"/>
          </a:xfrm>
          <a:prstGeom prst="rect">
            <a:avLst/>
          </a:prstGeom>
          <a:noFill/>
          <a:ln/>
        </p:spPr>
        <p:txBody>
          <a:bodyPr wrap="square" lIns="0" tIns="0" rIns="0" bIns="0" rtlCol="0" anchor="ctr"/>
          <a:lstStyle/>
          <a:p>
            <a:pPr indent="0" marL="0">
              <a:buNone/>
            </a:pPr>
            <a:r>
              <a:rPr lang="en-US" sz="1400" b="1" dirty="0">
                <a:solidFill>
                  <a:srgbClr val="16324F"/>
                </a:solidFill>
                <a:latin typeface="Meiryo" pitchFamily="34" charset="0"/>
                <a:ea typeface="Meiryo" pitchFamily="34" charset="-122"/>
                <a:cs typeface="Meiryo" pitchFamily="34" charset="-120"/>
              </a:rPr>
              <a:t>受講者（作業員）</a:t>
            </a:r>
            <a:endParaRPr lang="en-US" sz="1400" dirty="0"/>
          </a:p>
        </p:txBody>
      </p:sp>
      <p:sp>
        <p:nvSpPr>
          <p:cNvPr id="9" name="Text 7"/>
          <p:cNvSpPr txBox="1"/>
          <p:nvPr/>
        </p:nvSpPr>
        <p:spPr>
          <a:xfrm>
            <a:off x="804672" y="2093976"/>
            <a:ext cx="3033674" cy="256032"/>
          </a:xfrm>
          <a:prstGeom prst="rect">
            <a:avLst/>
          </a:prstGeom>
          <a:noFill/>
          <a:ln/>
        </p:spPr>
        <p:txBody>
          <a:bodyPr wrap="square" lIns="0" tIns="0" rIns="0" bIns="0" rtlCol="0" anchor="ctr"/>
          <a:lstStyle/>
          <a:p>
            <a:pPr indent="0" marL="0">
              <a:buNone/>
            </a:pPr>
            <a:r>
              <a:rPr lang="en-US" sz="1000" dirty="0">
                <a:solidFill>
                  <a:srgbClr val="6B7B8A"/>
                </a:solidFill>
                <a:latin typeface="Meiryo" pitchFamily="34" charset="0"/>
                <a:ea typeface="Meiryo" pitchFamily="34" charset="-122"/>
                <a:cs typeface="Meiryo" pitchFamily="34" charset="-120"/>
              </a:rPr>
              <a:t>スマートフォンで受講</a:t>
            </a:r>
            <a:endParaRPr lang="en-US" sz="1000" dirty="0"/>
          </a:p>
        </p:txBody>
      </p:sp>
      <p:sp>
        <p:nvSpPr>
          <p:cNvPr id="10" name="Text 8"/>
          <p:cNvSpPr txBox="1"/>
          <p:nvPr/>
        </p:nvSpPr>
        <p:spPr>
          <a:xfrm>
            <a:off x="822960" y="2395728"/>
            <a:ext cx="2997098" cy="96012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1C2A38"/>
                </a:solidFill>
                <a:latin typeface="Meiryo" pitchFamily="34" charset="0"/>
                <a:ea typeface="Meiryo" pitchFamily="34" charset="-122"/>
                <a:cs typeface="Meiryo" pitchFamily="34" charset="-120"/>
              </a:rPr>
              <a:t>本人確認書類・顔写真の登録</a:t>
            </a:r>
            <a:endParaRPr lang="en-US" sz="1000" dirty="0"/>
          </a:p>
          <a:p>
            <a:pPr marL="342900" indent="-342900">
              <a:spcAft>
                <a:spcPts val="300"/>
              </a:spcAft>
              <a:buSzPct val="100000"/>
              <a:buChar char="•"/>
            </a:pPr>
            <a:r>
              <a:rPr lang="en-US" sz="1000" dirty="0">
                <a:solidFill>
                  <a:srgbClr val="1C2A38"/>
                </a:solidFill>
                <a:latin typeface="Meiryo" pitchFamily="34" charset="0"/>
                <a:ea typeface="Meiryo" pitchFamily="34" charset="-122"/>
                <a:cs typeface="Meiryo" pitchFamily="34" charset="-120"/>
              </a:rPr>
              <a:t>学科動画の視聴とテスト</a:t>
            </a:r>
            <a:endParaRPr lang="en-US" sz="1000" dirty="0"/>
          </a:p>
          <a:p>
            <a:pPr marL="342900" indent="-342900">
              <a:spcAft>
                <a:spcPts val="300"/>
              </a:spcAft>
              <a:buSzPct val="100000"/>
              <a:buChar char="•"/>
            </a:pPr>
            <a:r>
              <a:rPr lang="en-US" sz="1000" dirty="0">
                <a:solidFill>
                  <a:srgbClr val="1C2A38"/>
                </a:solidFill>
                <a:latin typeface="Meiryo" pitchFamily="34" charset="0"/>
                <a:ea typeface="Meiryo" pitchFamily="34" charset="-122"/>
                <a:cs typeface="Meiryo" pitchFamily="34" charset="-120"/>
              </a:rPr>
              <a:t>実技日程の予約</a:t>
            </a:r>
            <a:endParaRPr lang="en-US" sz="1000" dirty="0"/>
          </a:p>
          <a:p>
            <a:pPr marL="342900" indent="-342900">
              <a:spcAft>
                <a:spcPts val="300"/>
              </a:spcAft>
              <a:buSzPct val="100000"/>
              <a:buChar char="•"/>
            </a:pPr>
            <a:r>
              <a:rPr lang="en-US" sz="1000" dirty="0">
                <a:solidFill>
                  <a:srgbClr val="1C2A38"/>
                </a:solidFill>
                <a:latin typeface="Meiryo" pitchFamily="34" charset="0"/>
                <a:ea typeface="Meiryo" pitchFamily="34" charset="-122"/>
                <a:cs typeface="Meiryo" pitchFamily="34" charset="-120"/>
              </a:rPr>
              <a:t>修了証の閲覧・ダウンロード</a:t>
            </a:r>
            <a:endParaRPr lang="en-US" sz="1000" dirty="0"/>
          </a:p>
        </p:txBody>
      </p:sp>
      <p:sp>
        <p:nvSpPr>
          <p:cNvPr id="11" name="Shape 9"/>
          <p:cNvSpPr/>
          <p:nvPr/>
        </p:nvSpPr>
        <p:spPr>
          <a:xfrm>
            <a:off x="4322978" y="1645920"/>
            <a:ext cx="3545738" cy="1783080"/>
          </a:xfrm>
          <a:prstGeom prst="roundRect">
            <a:avLst>
              <a:gd name="adj" fmla="val 2564"/>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12" name="Text 10"/>
          <p:cNvSpPr txBox="1"/>
          <p:nvPr/>
        </p:nvSpPr>
        <p:spPr>
          <a:xfrm>
            <a:off x="4579010" y="1783080"/>
            <a:ext cx="3033674" cy="329184"/>
          </a:xfrm>
          <a:prstGeom prst="rect">
            <a:avLst/>
          </a:prstGeom>
          <a:noFill/>
          <a:ln/>
        </p:spPr>
        <p:txBody>
          <a:bodyPr wrap="square" lIns="0" tIns="0" rIns="0" bIns="0" rtlCol="0" anchor="ctr"/>
          <a:lstStyle/>
          <a:p>
            <a:pPr indent="0" marL="0">
              <a:buNone/>
            </a:pPr>
            <a:r>
              <a:rPr lang="en-US" sz="1400" b="1" dirty="0">
                <a:solidFill>
                  <a:srgbClr val="16324F"/>
                </a:solidFill>
                <a:latin typeface="Meiryo" pitchFamily="34" charset="0"/>
                <a:ea typeface="Meiryo" pitchFamily="34" charset="-122"/>
                <a:cs typeface="Meiryo" pitchFamily="34" charset="-120"/>
              </a:rPr>
              <a:t>発注企業のご担当者</a:t>
            </a:r>
            <a:endParaRPr lang="en-US" sz="1400" dirty="0"/>
          </a:p>
        </p:txBody>
      </p:sp>
      <p:sp>
        <p:nvSpPr>
          <p:cNvPr id="13" name="Text 11"/>
          <p:cNvSpPr txBox="1"/>
          <p:nvPr/>
        </p:nvSpPr>
        <p:spPr>
          <a:xfrm>
            <a:off x="4579010" y="2093976"/>
            <a:ext cx="3033674" cy="256032"/>
          </a:xfrm>
          <a:prstGeom prst="rect">
            <a:avLst/>
          </a:prstGeom>
          <a:noFill/>
          <a:ln/>
        </p:spPr>
        <p:txBody>
          <a:bodyPr wrap="square" lIns="0" tIns="0" rIns="0" bIns="0" rtlCol="0" anchor="ctr"/>
          <a:lstStyle/>
          <a:p>
            <a:pPr indent="0" marL="0">
              <a:buNone/>
            </a:pPr>
            <a:r>
              <a:rPr lang="en-US" sz="1000" dirty="0">
                <a:solidFill>
                  <a:srgbClr val="6B7B8A"/>
                </a:solidFill>
                <a:latin typeface="Meiryo" pitchFamily="34" charset="0"/>
                <a:ea typeface="Meiryo" pitchFamily="34" charset="-122"/>
                <a:cs typeface="Meiryo" pitchFamily="34" charset="-120"/>
              </a:rPr>
              <a:t>従業員の受講を管理</a:t>
            </a:r>
            <a:endParaRPr lang="en-US" sz="1000" dirty="0"/>
          </a:p>
        </p:txBody>
      </p:sp>
      <p:sp>
        <p:nvSpPr>
          <p:cNvPr id="14" name="Text 12"/>
          <p:cNvSpPr txBox="1"/>
          <p:nvPr/>
        </p:nvSpPr>
        <p:spPr>
          <a:xfrm>
            <a:off x="4597298" y="2395728"/>
            <a:ext cx="2997098" cy="96012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1C2A38"/>
                </a:solidFill>
                <a:latin typeface="Meiryo" pitchFamily="34" charset="0"/>
                <a:ea typeface="Meiryo" pitchFamily="34" charset="-122"/>
                <a:cs typeface="Meiryo" pitchFamily="34" charset="-120"/>
              </a:rPr>
              <a:t>従業員をまとめて申込</a:t>
            </a:r>
            <a:endParaRPr lang="en-US" sz="1000" dirty="0"/>
          </a:p>
          <a:p>
            <a:pPr marL="342900" indent="-342900">
              <a:spcAft>
                <a:spcPts val="300"/>
              </a:spcAft>
              <a:buSzPct val="100000"/>
              <a:buChar char="•"/>
            </a:pPr>
            <a:r>
              <a:rPr lang="en-US" sz="1000" dirty="0">
                <a:solidFill>
                  <a:srgbClr val="1C2A38"/>
                </a:solidFill>
                <a:latin typeface="Meiryo" pitchFamily="34" charset="0"/>
                <a:ea typeface="Meiryo" pitchFamily="34" charset="-122"/>
                <a:cs typeface="Meiryo" pitchFamily="34" charset="-120"/>
              </a:rPr>
              <a:t>受講進捗のリアルタイム確認</a:t>
            </a:r>
            <a:endParaRPr lang="en-US" sz="1000" dirty="0"/>
          </a:p>
          <a:p>
            <a:pPr marL="342900" indent="-342900">
              <a:spcAft>
                <a:spcPts val="300"/>
              </a:spcAft>
              <a:buSzPct val="100000"/>
              <a:buChar char="•"/>
            </a:pPr>
            <a:r>
              <a:rPr lang="en-US" sz="1000" dirty="0">
                <a:solidFill>
                  <a:srgbClr val="1C2A38"/>
                </a:solidFill>
                <a:latin typeface="Meiryo" pitchFamily="34" charset="0"/>
                <a:ea typeface="Meiryo" pitchFamily="34" charset="-122"/>
                <a:cs typeface="Meiryo" pitchFamily="34" charset="-120"/>
              </a:rPr>
              <a:t>修了者一覧のCSV出力</a:t>
            </a:r>
            <a:endParaRPr lang="en-US" sz="1000" dirty="0"/>
          </a:p>
          <a:p>
            <a:pPr marL="342900" indent="-342900">
              <a:spcAft>
                <a:spcPts val="300"/>
              </a:spcAft>
              <a:buSzPct val="100000"/>
              <a:buChar char="•"/>
            </a:pPr>
            <a:r>
              <a:rPr lang="en-US" sz="1000" dirty="0">
                <a:solidFill>
                  <a:srgbClr val="1C2A38"/>
                </a:solidFill>
                <a:latin typeface="Meiryo" pitchFamily="34" charset="0"/>
                <a:ea typeface="Meiryo" pitchFamily="34" charset="-122"/>
                <a:cs typeface="Meiryo" pitchFamily="34" charset="-120"/>
              </a:rPr>
              <a:t>請求書の受領</a:t>
            </a:r>
            <a:endParaRPr lang="en-US" sz="1000" dirty="0"/>
          </a:p>
        </p:txBody>
      </p:sp>
      <p:sp>
        <p:nvSpPr>
          <p:cNvPr id="15" name="Shape 13"/>
          <p:cNvSpPr/>
          <p:nvPr/>
        </p:nvSpPr>
        <p:spPr>
          <a:xfrm>
            <a:off x="8097317" y="1645920"/>
            <a:ext cx="3545738" cy="1783080"/>
          </a:xfrm>
          <a:prstGeom prst="roundRect">
            <a:avLst>
              <a:gd name="adj" fmla="val 2564"/>
            </a:avLst>
          </a:prstGeom>
          <a:solidFill>
            <a:srgbClr val="16324F"/>
          </a:solidFill>
          <a:ln w="6350">
            <a:solidFill>
              <a:srgbClr val="16324F"/>
            </a:solidFill>
            <a:prstDash val="solid"/>
          </a:ln>
          <a:effectLst>
            <a:outerShdw sx="100000" sy="100000" kx="0" ky="0" algn="bl" rotWithShape="0" blurRad="114300" dist="12700" dir="5400000">
              <a:srgbClr val="8FA3B4">
                <a:alpha val="30000"/>
              </a:srgbClr>
            </a:outerShdw>
          </a:effectLst>
        </p:spPr>
      </p:sp>
      <p:sp>
        <p:nvSpPr>
          <p:cNvPr id="16" name="Text 14"/>
          <p:cNvSpPr txBox="1"/>
          <p:nvPr/>
        </p:nvSpPr>
        <p:spPr>
          <a:xfrm>
            <a:off x="8353349" y="1783080"/>
            <a:ext cx="3033674" cy="329184"/>
          </a:xfrm>
          <a:prstGeom prst="rect">
            <a:avLst/>
          </a:prstGeom>
          <a:noFill/>
          <a:ln/>
        </p:spPr>
        <p:txBody>
          <a:bodyPr wrap="square" lIns="0" tIns="0" rIns="0" bIns="0" rtlCol="0" anchor="ctr"/>
          <a:lstStyle/>
          <a:p>
            <a:pPr indent="0" marL="0">
              <a:buNone/>
            </a:pPr>
            <a:r>
              <a:rPr lang="en-US" sz="1400" b="1" dirty="0">
                <a:solidFill>
                  <a:srgbClr val="E8960C"/>
                </a:solidFill>
                <a:latin typeface="Meiryo" pitchFamily="34" charset="0"/>
                <a:ea typeface="Meiryo" pitchFamily="34" charset="-122"/>
                <a:cs typeface="Meiryo" pitchFamily="34" charset="-120"/>
              </a:rPr>
              <a:t>聖建様（運営）</a:t>
            </a:r>
            <a:endParaRPr lang="en-US" sz="1400" dirty="0"/>
          </a:p>
        </p:txBody>
      </p:sp>
      <p:sp>
        <p:nvSpPr>
          <p:cNvPr id="17" name="Text 15"/>
          <p:cNvSpPr txBox="1"/>
          <p:nvPr/>
        </p:nvSpPr>
        <p:spPr>
          <a:xfrm>
            <a:off x="8353349" y="2093976"/>
            <a:ext cx="3033674" cy="256032"/>
          </a:xfrm>
          <a:prstGeom prst="rect">
            <a:avLst/>
          </a:prstGeom>
          <a:noFill/>
          <a:ln/>
        </p:spPr>
        <p:txBody>
          <a:bodyPr wrap="square" lIns="0" tIns="0" rIns="0" bIns="0" rtlCol="0" anchor="ctr"/>
          <a:lstStyle/>
          <a:p>
            <a:pPr indent="0" marL="0">
              <a:buNone/>
            </a:pPr>
            <a:r>
              <a:rPr lang="en-US" sz="1000" dirty="0">
                <a:solidFill>
                  <a:srgbClr val="AFC3D4"/>
                </a:solidFill>
                <a:latin typeface="Meiryo" pitchFamily="34" charset="0"/>
                <a:ea typeface="Meiryo" pitchFamily="34" charset="-122"/>
                <a:cs typeface="Meiryo" pitchFamily="34" charset="-120"/>
              </a:rPr>
              <a:t>事業の運営・管理</a:t>
            </a:r>
            <a:endParaRPr lang="en-US" sz="1000" dirty="0"/>
          </a:p>
        </p:txBody>
      </p:sp>
      <p:sp>
        <p:nvSpPr>
          <p:cNvPr id="18" name="Text 16"/>
          <p:cNvSpPr txBox="1"/>
          <p:nvPr/>
        </p:nvSpPr>
        <p:spPr>
          <a:xfrm>
            <a:off x="8371637" y="2395728"/>
            <a:ext cx="2997098" cy="96012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E2ECF4"/>
                </a:solidFill>
                <a:latin typeface="Meiryo" pitchFamily="34" charset="0"/>
                <a:ea typeface="Meiryo" pitchFamily="34" charset="-122"/>
                <a:cs typeface="Meiryo" pitchFamily="34" charset="-120"/>
              </a:rPr>
              <a:t>本人確認の承認</a:t>
            </a:r>
            <a:endParaRPr lang="en-US" sz="1000" dirty="0"/>
          </a:p>
          <a:p>
            <a:pPr marL="342900" indent="-342900">
              <a:spcAft>
                <a:spcPts val="300"/>
              </a:spcAft>
              <a:buSzPct val="100000"/>
              <a:buChar char="•"/>
            </a:pPr>
            <a:r>
              <a:rPr lang="en-US" sz="1000" dirty="0">
                <a:solidFill>
                  <a:srgbClr val="E2ECF4"/>
                </a:solidFill>
                <a:latin typeface="Meiryo" pitchFamily="34" charset="0"/>
                <a:ea typeface="Meiryo" pitchFamily="34" charset="-122"/>
                <a:cs typeface="Meiryo" pitchFamily="34" charset="-120"/>
              </a:rPr>
              <a:t>顔照合アラートの確認</a:t>
            </a:r>
            <a:endParaRPr lang="en-US" sz="1000" dirty="0"/>
          </a:p>
          <a:p>
            <a:pPr marL="342900" indent="-342900">
              <a:spcAft>
                <a:spcPts val="300"/>
              </a:spcAft>
              <a:buSzPct val="100000"/>
              <a:buChar char="•"/>
            </a:pPr>
            <a:r>
              <a:rPr lang="en-US" sz="1000" dirty="0">
                <a:solidFill>
                  <a:srgbClr val="E2ECF4"/>
                </a:solidFill>
                <a:latin typeface="Meiryo" pitchFamily="34" charset="0"/>
                <a:ea typeface="Meiryo" pitchFamily="34" charset="-122"/>
                <a:cs typeface="Meiryo" pitchFamily="34" charset="-120"/>
              </a:rPr>
              <a:t>実技日程・出欠の管理</a:t>
            </a:r>
            <a:endParaRPr lang="en-US" sz="1000" dirty="0"/>
          </a:p>
          <a:p>
            <a:pPr marL="342900" indent="-342900">
              <a:spcAft>
                <a:spcPts val="300"/>
              </a:spcAft>
              <a:buSzPct val="100000"/>
              <a:buChar char="•"/>
            </a:pPr>
            <a:r>
              <a:rPr lang="en-US" sz="1000" dirty="0">
                <a:solidFill>
                  <a:srgbClr val="E2ECF4"/>
                </a:solidFill>
                <a:latin typeface="Meiryo" pitchFamily="34" charset="0"/>
                <a:ea typeface="Meiryo" pitchFamily="34" charset="-122"/>
                <a:cs typeface="Meiryo" pitchFamily="34" charset="-120"/>
              </a:rPr>
              <a:t>修了証発行・売上管理</a:t>
            </a:r>
            <a:endParaRPr lang="en-US" sz="1000" dirty="0"/>
          </a:p>
        </p:txBody>
      </p:sp>
      <p:sp>
        <p:nvSpPr>
          <p:cNvPr id="19" name="Text 17"/>
          <p:cNvSpPr txBox="1"/>
          <p:nvPr/>
        </p:nvSpPr>
        <p:spPr>
          <a:xfrm>
            <a:off x="548640" y="3703320"/>
            <a:ext cx="7315200" cy="320040"/>
          </a:xfrm>
          <a:prstGeom prst="rect">
            <a:avLst/>
          </a:prstGeom>
          <a:noFill/>
          <a:ln/>
        </p:spPr>
        <p:txBody>
          <a:bodyPr wrap="square" lIns="0" tIns="0" rIns="0" bIns="0" rtlCol="0" anchor="ctr"/>
          <a:lstStyle/>
          <a:p>
            <a:pPr indent="0" marL="0">
              <a:buNone/>
            </a:pPr>
            <a:r>
              <a:rPr lang="en-US" sz="1400" b="1" dirty="0">
                <a:solidFill>
                  <a:srgbClr val="16324F"/>
                </a:solidFill>
                <a:latin typeface="Meiryo" pitchFamily="34" charset="0"/>
                <a:ea typeface="Meiryo" pitchFamily="34" charset="-122"/>
                <a:cs typeface="Meiryo" pitchFamily="34" charset="-120"/>
              </a:rPr>
              <a:t>プラットフォームが提供する主要機能</a:t>
            </a:r>
            <a:endParaRPr lang="en-US" sz="1400" dirty="0"/>
          </a:p>
        </p:txBody>
      </p:sp>
      <p:sp>
        <p:nvSpPr>
          <p:cNvPr id="20" name="Shape 18"/>
          <p:cNvSpPr/>
          <p:nvPr/>
        </p:nvSpPr>
        <p:spPr>
          <a:xfrm>
            <a:off x="548640" y="4187952"/>
            <a:ext cx="2636444" cy="768096"/>
          </a:xfrm>
          <a:prstGeom prst="roundRect">
            <a:avLst>
              <a:gd name="adj" fmla="val 5952"/>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21" name="Shape 19"/>
          <p:cNvSpPr/>
          <p:nvPr/>
        </p:nvSpPr>
        <p:spPr>
          <a:xfrm>
            <a:off x="749808" y="4489704"/>
            <a:ext cx="310896" cy="164592"/>
          </a:xfrm>
          <a:prstGeom prst="roundRect">
            <a:avLst>
              <a:gd name="adj" fmla="val 50000"/>
            </a:avLst>
          </a:prstGeom>
          <a:solidFill>
            <a:srgbClr val="E8960C"/>
          </a:solidFill>
          <a:ln/>
        </p:spPr>
      </p:sp>
      <p:sp>
        <p:nvSpPr>
          <p:cNvPr id="22" name="Text 20"/>
          <p:cNvSpPr txBox="1"/>
          <p:nvPr/>
        </p:nvSpPr>
        <p:spPr>
          <a:xfrm>
            <a:off x="1170432" y="4187952"/>
            <a:ext cx="1813484" cy="768096"/>
          </a:xfrm>
          <a:prstGeom prst="rect">
            <a:avLst/>
          </a:prstGeom>
          <a:noFill/>
          <a:ln/>
        </p:spPr>
        <p:txBody>
          <a:bodyPr wrap="square" lIns="0" tIns="0" rIns="0" bIns="0" rtlCol="0" anchor="ctr"/>
          <a:lstStyle/>
          <a:p>
            <a:pPr indent="0" marL="0">
              <a:buNone/>
            </a:pPr>
            <a:r>
              <a:rPr lang="en-US" sz="1100" b="1" dirty="0">
                <a:solidFill>
                  <a:srgbClr val="1C2A38"/>
                </a:solidFill>
                <a:latin typeface="Meiryo" pitchFamily="34" charset="0"/>
                <a:ea typeface="Meiryo" pitchFamily="34" charset="-122"/>
                <a:cs typeface="Meiryo" pitchFamily="34" charset="-120"/>
              </a:rPr>
              <a:t>学科動画の配信</a:t>
            </a:r>
            <a:endParaRPr lang="en-US" sz="1100" dirty="0"/>
          </a:p>
        </p:txBody>
      </p:sp>
      <p:sp>
        <p:nvSpPr>
          <p:cNvPr id="23" name="Shape 21"/>
          <p:cNvSpPr/>
          <p:nvPr/>
        </p:nvSpPr>
        <p:spPr>
          <a:xfrm>
            <a:off x="3367964" y="4187952"/>
            <a:ext cx="2636444" cy="768096"/>
          </a:xfrm>
          <a:prstGeom prst="roundRect">
            <a:avLst>
              <a:gd name="adj" fmla="val 5952"/>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24" name="Shape 22"/>
          <p:cNvSpPr/>
          <p:nvPr/>
        </p:nvSpPr>
        <p:spPr>
          <a:xfrm>
            <a:off x="3569132" y="4489704"/>
            <a:ext cx="310896" cy="164592"/>
          </a:xfrm>
          <a:prstGeom prst="roundRect">
            <a:avLst>
              <a:gd name="adj" fmla="val 50000"/>
            </a:avLst>
          </a:prstGeom>
          <a:solidFill>
            <a:srgbClr val="E8960C"/>
          </a:solidFill>
          <a:ln/>
        </p:spPr>
      </p:sp>
      <p:sp>
        <p:nvSpPr>
          <p:cNvPr id="25" name="Text 23"/>
          <p:cNvSpPr txBox="1"/>
          <p:nvPr/>
        </p:nvSpPr>
        <p:spPr>
          <a:xfrm>
            <a:off x="3989756" y="4187952"/>
            <a:ext cx="1813484" cy="768096"/>
          </a:xfrm>
          <a:prstGeom prst="rect">
            <a:avLst/>
          </a:prstGeom>
          <a:noFill/>
          <a:ln/>
        </p:spPr>
        <p:txBody>
          <a:bodyPr wrap="square" lIns="0" tIns="0" rIns="0" bIns="0" rtlCol="0" anchor="ctr"/>
          <a:lstStyle/>
          <a:p>
            <a:pPr indent="0" marL="0">
              <a:buNone/>
            </a:pPr>
            <a:r>
              <a:rPr lang="en-US" sz="1100" b="1" dirty="0">
                <a:solidFill>
                  <a:srgbClr val="1C2A38"/>
                </a:solidFill>
                <a:latin typeface="Meiryo" pitchFamily="34" charset="0"/>
                <a:ea typeface="Meiryo" pitchFamily="34" charset="-122"/>
                <a:cs typeface="Meiryo" pitchFamily="34" charset="-120"/>
              </a:rPr>
              <a:t>本人確認・顔照合</a:t>
            </a:r>
            <a:endParaRPr lang="en-US" sz="1100" dirty="0"/>
          </a:p>
        </p:txBody>
      </p:sp>
      <p:sp>
        <p:nvSpPr>
          <p:cNvPr id="26" name="Shape 24"/>
          <p:cNvSpPr/>
          <p:nvPr/>
        </p:nvSpPr>
        <p:spPr>
          <a:xfrm>
            <a:off x="6187288" y="4187952"/>
            <a:ext cx="2636444" cy="768096"/>
          </a:xfrm>
          <a:prstGeom prst="roundRect">
            <a:avLst>
              <a:gd name="adj" fmla="val 5952"/>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27" name="Shape 25"/>
          <p:cNvSpPr/>
          <p:nvPr/>
        </p:nvSpPr>
        <p:spPr>
          <a:xfrm>
            <a:off x="6388456" y="4489704"/>
            <a:ext cx="310896" cy="164592"/>
          </a:xfrm>
          <a:prstGeom prst="roundRect">
            <a:avLst>
              <a:gd name="adj" fmla="val 50000"/>
            </a:avLst>
          </a:prstGeom>
          <a:solidFill>
            <a:srgbClr val="E8960C"/>
          </a:solidFill>
          <a:ln/>
        </p:spPr>
      </p:sp>
      <p:sp>
        <p:nvSpPr>
          <p:cNvPr id="28" name="Text 26"/>
          <p:cNvSpPr txBox="1"/>
          <p:nvPr/>
        </p:nvSpPr>
        <p:spPr>
          <a:xfrm>
            <a:off x="6809080" y="4187952"/>
            <a:ext cx="1813484" cy="768096"/>
          </a:xfrm>
          <a:prstGeom prst="rect">
            <a:avLst/>
          </a:prstGeom>
          <a:noFill/>
          <a:ln/>
        </p:spPr>
        <p:txBody>
          <a:bodyPr wrap="square" lIns="0" tIns="0" rIns="0" bIns="0" rtlCol="0" anchor="ctr"/>
          <a:lstStyle/>
          <a:p>
            <a:pPr indent="0" marL="0">
              <a:buNone/>
            </a:pPr>
            <a:r>
              <a:rPr lang="en-US" sz="1100" b="1" dirty="0">
                <a:solidFill>
                  <a:srgbClr val="1C2A38"/>
                </a:solidFill>
                <a:latin typeface="Meiryo" pitchFamily="34" charset="0"/>
                <a:ea typeface="Meiryo" pitchFamily="34" charset="-122"/>
                <a:cs typeface="Meiryo" pitchFamily="34" charset="-120"/>
              </a:rPr>
              <a:t>視聴ログの記録</a:t>
            </a:r>
            <a:endParaRPr lang="en-US" sz="1100" dirty="0"/>
          </a:p>
        </p:txBody>
      </p:sp>
      <p:sp>
        <p:nvSpPr>
          <p:cNvPr id="29" name="Shape 27"/>
          <p:cNvSpPr/>
          <p:nvPr/>
        </p:nvSpPr>
        <p:spPr>
          <a:xfrm>
            <a:off x="9006611" y="4187952"/>
            <a:ext cx="2636444" cy="768096"/>
          </a:xfrm>
          <a:prstGeom prst="roundRect">
            <a:avLst>
              <a:gd name="adj" fmla="val 5952"/>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30" name="Shape 28"/>
          <p:cNvSpPr/>
          <p:nvPr/>
        </p:nvSpPr>
        <p:spPr>
          <a:xfrm>
            <a:off x="9207779" y="4489704"/>
            <a:ext cx="310896" cy="164592"/>
          </a:xfrm>
          <a:prstGeom prst="roundRect">
            <a:avLst>
              <a:gd name="adj" fmla="val 50000"/>
            </a:avLst>
          </a:prstGeom>
          <a:solidFill>
            <a:srgbClr val="E8960C"/>
          </a:solidFill>
          <a:ln/>
        </p:spPr>
      </p:sp>
      <p:sp>
        <p:nvSpPr>
          <p:cNvPr id="31" name="Text 29"/>
          <p:cNvSpPr txBox="1"/>
          <p:nvPr/>
        </p:nvSpPr>
        <p:spPr>
          <a:xfrm>
            <a:off x="9628403" y="4187952"/>
            <a:ext cx="1813484" cy="768096"/>
          </a:xfrm>
          <a:prstGeom prst="rect">
            <a:avLst/>
          </a:prstGeom>
          <a:noFill/>
          <a:ln/>
        </p:spPr>
        <p:txBody>
          <a:bodyPr wrap="square" lIns="0" tIns="0" rIns="0" bIns="0" rtlCol="0" anchor="ctr"/>
          <a:lstStyle/>
          <a:p>
            <a:pPr indent="0" marL="0">
              <a:buNone/>
            </a:pPr>
            <a:r>
              <a:rPr lang="en-US" sz="1100" b="1" dirty="0">
                <a:solidFill>
                  <a:srgbClr val="1C2A38"/>
                </a:solidFill>
                <a:latin typeface="Meiryo" pitchFamily="34" charset="0"/>
                <a:ea typeface="Meiryo" pitchFamily="34" charset="-122"/>
                <a:cs typeface="Meiryo" pitchFamily="34" charset="-120"/>
              </a:rPr>
              <a:t>テスト・自動採点</a:t>
            </a:r>
            <a:endParaRPr lang="en-US" sz="1100" dirty="0"/>
          </a:p>
        </p:txBody>
      </p:sp>
      <p:sp>
        <p:nvSpPr>
          <p:cNvPr id="32" name="Shape 30"/>
          <p:cNvSpPr/>
          <p:nvPr/>
        </p:nvSpPr>
        <p:spPr>
          <a:xfrm>
            <a:off x="548640" y="5065776"/>
            <a:ext cx="2636444" cy="768096"/>
          </a:xfrm>
          <a:prstGeom prst="roundRect">
            <a:avLst>
              <a:gd name="adj" fmla="val 5952"/>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33" name="Shape 31"/>
          <p:cNvSpPr/>
          <p:nvPr/>
        </p:nvSpPr>
        <p:spPr>
          <a:xfrm>
            <a:off x="749808" y="5367528"/>
            <a:ext cx="310896" cy="164592"/>
          </a:xfrm>
          <a:prstGeom prst="roundRect">
            <a:avLst>
              <a:gd name="adj" fmla="val 50000"/>
            </a:avLst>
          </a:prstGeom>
          <a:solidFill>
            <a:srgbClr val="E8960C"/>
          </a:solidFill>
          <a:ln/>
        </p:spPr>
      </p:sp>
      <p:sp>
        <p:nvSpPr>
          <p:cNvPr id="34" name="Text 32"/>
          <p:cNvSpPr txBox="1"/>
          <p:nvPr/>
        </p:nvSpPr>
        <p:spPr>
          <a:xfrm>
            <a:off x="1170432" y="5065776"/>
            <a:ext cx="1813484" cy="768096"/>
          </a:xfrm>
          <a:prstGeom prst="rect">
            <a:avLst/>
          </a:prstGeom>
          <a:noFill/>
          <a:ln/>
        </p:spPr>
        <p:txBody>
          <a:bodyPr wrap="square" lIns="0" tIns="0" rIns="0" bIns="0" rtlCol="0" anchor="ctr"/>
          <a:lstStyle/>
          <a:p>
            <a:pPr indent="0" marL="0">
              <a:buNone/>
            </a:pPr>
            <a:r>
              <a:rPr lang="en-US" sz="1100" b="1" dirty="0">
                <a:solidFill>
                  <a:srgbClr val="1C2A38"/>
                </a:solidFill>
                <a:latin typeface="Meiryo" pitchFamily="34" charset="0"/>
                <a:ea typeface="Meiryo" pitchFamily="34" charset="-122"/>
                <a:cs typeface="Meiryo" pitchFamily="34" charset="-120"/>
              </a:rPr>
              <a:t>実技予約・出欠管理</a:t>
            </a:r>
            <a:endParaRPr lang="en-US" sz="1100" dirty="0"/>
          </a:p>
        </p:txBody>
      </p:sp>
      <p:sp>
        <p:nvSpPr>
          <p:cNvPr id="35" name="Shape 33"/>
          <p:cNvSpPr/>
          <p:nvPr/>
        </p:nvSpPr>
        <p:spPr>
          <a:xfrm>
            <a:off x="3367964" y="5065776"/>
            <a:ext cx="2636444" cy="768096"/>
          </a:xfrm>
          <a:prstGeom prst="roundRect">
            <a:avLst>
              <a:gd name="adj" fmla="val 5952"/>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36" name="Shape 34"/>
          <p:cNvSpPr/>
          <p:nvPr/>
        </p:nvSpPr>
        <p:spPr>
          <a:xfrm>
            <a:off x="3569132" y="5367528"/>
            <a:ext cx="310896" cy="164592"/>
          </a:xfrm>
          <a:prstGeom prst="roundRect">
            <a:avLst>
              <a:gd name="adj" fmla="val 50000"/>
            </a:avLst>
          </a:prstGeom>
          <a:solidFill>
            <a:srgbClr val="E8960C"/>
          </a:solidFill>
          <a:ln/>
        </p:spPr>
      </p:sp>
      <p:sp>
        <p:nvSpPr>
          <p:cNvPr id="37" name="Text 35"/>
          <p:cNvSpPr txBox="1"/>
          <p:nvPr/>
        </p:nvSpPr>
        <p:spPr>
          <a:xfrm>
            <a:off x="3989756" y="5065776"/>
            <a:ext cx="1813484" cy="768096"/>
          </a:xfrm>
          <a:prstGeom prst="rect">
            <a:avLst/>
          </a:prstGeom>
          <a:noFill/>
          <a:ln/>
        </p:spPr>
        <p:txBody>
          <a:bodyPr wrap="square" lIns="0" tIns="0" rIns="0" bIns="0" rtlCol="0" anchor="ctr"/>
          <a:lstStyle/>
          <a:p>
            <a:pPr indent="0" marL="0">
              <a:buNone/>
            </a:pPr>
            <a:r>
              <a:rPr lang="en-US" sz="1100" b="1" dirty="0">
                <a:solidFill>
                  <a:srgbClr val="1C2A38"/>
                </a:solidFill>
                <a:latin typeface="Meiryo" pitchFamily="34" charset="0"/>
                <a:ea typeface="Meiryo" pitchFamily="34" charset="-122"/>
                <a:cs typeface="Meiryo" pitchFamily="34" charset="-120"/>
              </a:rPr>
              <a:t>修了証PDF発行</a:t>
            </a:r>
            <a:endParaRPr lang="en-US" sz="1100" dirty="0"/>
          </a:p>
        </p:txBody>
      </p:sp>
      <p:sp>
        <p:nvSpPr>
          <p:cNvPr id="38" name="Shape 36"/>
          <p:cNvSpPr/>
          <p:nvPr/>
        </p:nvSpPr>
        <p:spPr>
          <a:xfrm>
            <a:off x="6187288" y="5065776"/>
            <a:ext cx="2636444" cy="768096"/>
          </a:xfrm>
          <a:prstGeom prst="roundRect">
            <a:avLst>
              <a:gd name="adj" fmla="val 5952"/>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39" name="Shape 37"/>
          <p:cNvSpPr/>
          <p:nvPr/>
        </p:nvSpPr>
        <p:spPr>
          <a:xfrm>
            <a:off x="6388456" y="5367528"/>
            <a:ext cx="310896" cy="164592"/>
          </a:xfrm>
          <a:prstGeom prst="roundRect">
            <a:avLst>
              <a:gd name="adj" fmla="val 50000"/>
            </a:avLst>
          </a:prstGeom>
          <a:solidFill>
            <a:srgbClr val="E8960C"/>
          </a:solidFill>
          <a:ln/>
        </p:spPr>
      </p:sp>
      <p:sp>
        <p:nvSpPr>
          <p:cNvPr id="40" name="Text 38"/>
          <p:cNvSpPr txBox="1"/>
          <p:nvPr/>
        </p:nvSpPr>
        <p:spPr>
          <a:xfrm>
            <a:off x="6809080" y="5065776"/>
            <a:ext cx="1813484" cy="768096"/>
          </a:xfrm>
          <a:prstGeom prst="rect">
            <a:avLst/>
          </a:prstGeom>
          <a:noFill/>
          <a:ln/>
        </p:spPr>
        <p:txBody>
          <a:bodyPr wrap="square" lIns="0" tIns="0" rIns="0" bIns="0" rtlCol="0" anchor="ctr"/>
          <a:lstStyle/>
          <a:p>
            <a:pPr indent="0" marL="0">
              <a:buNone/>
            </a:pPr>
            <a:r>
              <a:rPr lang="en-US" sz="1100" b="1" dirty="0">
                <a:solidFill>
                  <a:srgbClr val="1C2A38"/>
                </a:solidFill>
                <a:latin typeface="Meiryo" pitchFamily="34" charset="0"/>
                <a:ea typeface="Meiryo" pitchFamily="34" charset="-122"/>
                <a:cs typeface="Meiryo" pitchFamily="34" charset="-120"/>
              </a:rPr>
              <a:t>決済（カード・請求書）</a:t>
            </a:r>
            <a:endParaRPr lang="en-US" sz="1100" dirty="0"/>
          </a:p>
        </p:txBody>
      </p:sp>
      <p:sp>
        <p:nvSpPr>
          <p:cNvPr id="41" name="Shape 39"/>
          <p:cNvSpPr/>
          <p:nvPr/>
        </p:nvSpPr>
        <p:spPr>
          <a:xfrm>
            <a:off x="9006611" y="5065776"/>
            <a:ext cx="2636444" cy="768096"/>
          </a:xfrm>
          <a:prstGeom prst="roundRect">
            <a:avLst>
              <a:gd name="adj" fmla="val 5952"/>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42" name="Shape 40"/>
          <p:cNvSpPr/>
          <p:nvPr/>
        </p:nvSpPr>
        <p:spPr>
          <a:xfrm>
            <a:off x="9207779" y="5367528"/>
            <a:ext cx="310896" cy="164592"/>
          </a:xfrm>
          <a:prstGeom prst="roundRect">
            <a:avLst>
              <a:gd name="adj" fmla="val 50000"/>
            </a:avLst>
          </a:prstGeom>
          <a:solidFill>
            <a:srgbClr val="E8960C"/>
          </a:solidFill>
          <a:ln/>
        </p:spPr>
      </p:sp>
      <p:sp>
        <p:nvSpPr>
          <p:cNvPr id="43" name="Text 41"/>
          <p:cNvSpPr txBox="1"/>
          <p:nvPr/>
        </p:nvSpPr>
        <p:spPr>
          <a:xfrm>
            <a:off x="9628403" y="5065776"/>
            <a:ext cx="1813484" cy="768096"/>
          </a:xfrm>
          <a:prstGeom prst="rect">
            <a:avLst/>
          </a:prstGeom>
          <a:noFill/>
          <a:ln/>
        </p:spPr>
        <p:txBody>
          <a:bodyPr wrap="square" lIns="0" tIns="0" rIns="0" bIns="0" rtlCol="0" anchor="ctr"/>
          <a:lstStyle/>
          <a:p>
            <a:pPr indent="0" marL="0">
              <a:buNone/>
            </a:pPr>
            <a:r>
              <a:rPr lang="en-US" sz="1100" b="1" dirty="0">
                <a:solidFill>
                  <a:srgbClr val="1C2A38"/>
                </a:solidFill>
                <a:latin typeface="Meiryo" pitchFamily="34" charset="0"/>
                <a:ea typeface="Meiryo" pitchFamily="34" charset="-122"/>
                <a:cs typeface="Meiryo" pitchFamily="34" charset="-120"/>
              </a:rPr>
              <a:t>記録の3年以上保存</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5F7"/>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indent="0" marL="0">
              <a:buNone/>
            </a:pPr>
            <a:r>
              <a:rPr lang="en-US" sz="1100" b="1" spc="150" kern="0" dirty="0">
                <a:solidFill>
                  <a:srgbClr val="B87400"/>
                </a:solidFill>
                <a:latin typeface="Meiryo" pitchFamily="34" charset="0"/>
                <a:ea typeface="Meiryo" pitchFamily="34" charset="-122"/>
                <a:cs typeface="Meiryo" pitchFamily="34" charset="-120"/>
              </a:rPr>
              <a:t>FLOW</a:t>
            </a:r>
            <a:endParaRPr lang="en-US" sz="1100" dirty="0"/>
          </a:p>
        </p:txBody>
      </p:sp>
      <p:sp>
        <p:nvSpPr>
          <p:cNvPr id="3" name="Text 1"/>
          <p:cNvSpPr txBox="1"/>
          <p:nvPr/>
        </p:nvSpPr>
        <p:spPr>
          <a:xfrm>
            <a:off x="548640" y="603504"/>
            <a:ext cx="11094415" cy="548640"/>
          </a:xfrm>
          <a:prstGeom prst="rect">
            <a:avLst/>
          </a:prstGeom>
          <a:noFill/>
          <a:ln/>
        </p:spPr>
        <p:txBody>
          <a:bodyPr wrap="square" lIns="0" tIns="0" rIns="0" bIns="0" rtlCol="0" anchor="ctr"/>
          <a:lstStyle/>
          <a:p>
            <a:pPr indent="0" marL="0">
              <a:buNone/>
            </a:pPr>
            <a:r>
              <a:rPr lang="en-US" sz="2700" b="1" dirty="0">
                <a:solidFill>
                  <a:srgbClr val="16324F"/>
                </a:solidFill>
                <a:latin typeface="Meiryo" pitchFamily="34" charset="0"/>
                <a:ea typeface="Meiryo" pitchFamily="34" charset="-122"/>
                <a:cs typeface="Meiryo" pitchFamily="34" charset="-120"/>
              </a:rPr>
              <a:t>受講の流れ</a:t>
            </a:r>
            <a:endParaRPr lang="en-US" sz="2700" dirty="0"/>
          </a:p>
        </p:txBody>
      </p:sp>
      <p:sp>
        <p:nvSpPr>
          <p:cNvPr id="4" name="Text 2"/>
          <p:cNvSpPr txBox="1"/>
          <p:nvPr/>
        </p:nvSpPr>
        <p:spPr>
          <a:xfrm>
            <a:off x="548640" y="1188720"/>
            <a:ext cx="11094415" cy="329184"/>
          </a:xfrm>
          <a:prstGeom prst="rect">
            <a:avLst/>
          </a:prstGeom>
          <a:noFill/>
          <a:ln/>
        </p:spPr>
        <p:txBody>
          <a:bodyPr wrap="square" lIns="0" tIns="0" rIns="0" bIns="0" rtlCol="0" anchor="ctr"/>
          <a:lstStyle/>
          <a:p>
            <a:pPr indent="0" marL="0">
              <a:buNone/>
            </a:pPr>
            <a:r>
              <a:rPr lang="en-US" sz="1250" dirty="0">
                <a:solidFill>
                  <a:srgbClr val="6B7B8A"/>
                </a:solidFill>
                <a:latin typeface="Meiryo" pitchFamily="34" charset="0"/>
                <a:ea typeface="Meiryo" pitchFamily="34" charset="-122"/>
                <a:cs typeface="Meiryo" pitchFamily="34" charset="-120"/>
              </a:rPr>
              <a:t>学科はオンラインで完結し、実技の実施形態でプランが分岐します。</a:t>
            </a:r>
            <a:endParaRPr lang="en-US" sz="1250" dirty="0"/>
          </a:p>
        </p:txBody>
      </p:sp>
      <p:sp>
        <p:nvSpPr>
          <p:cNvPr id="5" name="Text 3"/>
          <p:cNvSpPr txBox="1"/>
          <p:nvPr/>
        </p:nvSpPr>
        <p:spPr>
          <a:xfrm>
            <a:off x="548640" y="6382512"/>
            <a:ext cx="8686800" cy="256032"/>
          </a:xfrm>
          <a:prstGeom prst="rect">
            <a:avLst/>
          </a:prstGeom>
          <a:noFill/>
          <a:ln/>
        </p:spPr>
        <p:txBody>
          <a:bodyPr wrap="square" lIns="0" tIns="0" rIns="0" bIns="0" rtlCol="0" anchor="ctr"/>
          <a:lstStyle/>
          <a:p>
            <a:pPr indent="0" marL="0">
              <a:buNone/>
            </a:pPr>
            <a:r>
              <a:rPr lang="en-US" sz="900" dirty="0">
                <a:solidFill>
                  <a:srgbClr val="6B7B8A"/>
                </a:solidFill>
                <a:latin typeface="Meiryo" pitchFamily="34" charset="0"/>
                <a:ea typeface="Meiryo" pitchFamily="34" charset="-122"/>
                <a:cs typeface="Meiryo" pitchFamily="34" charset="-120"/>
              </a:rPr>
              <a:t>株式会社聖建 御中 ｜ 建設業 特別教育 オンライン受講プラットフォーム ご提案</a:t>
            </a:r>
            <a:endParaRPr lang="en-US" sz="900" dirty="0"/>
          </a:p>
        </p:txBody>
      </p:sp>
      <p:sp>
        <p:nvSpPr>
          <p:cNvPr id="6" name="Text 4"/>
          <p:cNvSpPr txBox="1"/>
          <p:nvPr/>
        </p:nvSpPr>
        <p:spPr>
          <a:xfrm>
            <a:off x="11002975" y="6382512"/>
            <a:ext cx="640080" cy="256032"/>
          </a:xfrm>
          <a:prstGeom prst="rect">
            <a:avLst/>
          </a:prstGeom>
          <a:noFill/>
          <a:ln/>
        </p:spPr>
        <p:txBody>
          <a:bodyPr wrap="square" lIns="0" tIns="0" rIns="0" bIns="0" rtlCol="0" anchor="ctr"/>
          <a:lstStyle/>
          <a:p>
            <a:pPr algn="r" indent="0" marL="0">
              <a:buNone/>
            </a:pPr>
            <a:r>
              <a:rPr lang="en-US" sz="1000" b="1" dirty="0">
                <a:solidFill>
                  <a:srgbClr val="3E6B8C"/>
                </a:solidFill>
                <a:latin typeface="Meiryo" pitchFamily="34" charset="0"/>
                <a:ea typeface="Meiryo" pitchFamily="34" charset="-122"/>
                <a:cs typeface="Meiryo" pitchFamily="34" charset="-120"/>
              </a:rPr>
              <a:t>9</a:t>
            </a:r>
            <a:endParaRPr lang="en-US" sz="1000" dirty="0"/>
          </a:p>
        </p:txBody>
      </p:sp>
      <p:sp>
        <p:nvSpPr>
          <p:cNvPr id="7" name="Shape 5"/>
          <p:cNvSpPr/>
          <p:nvPr/>
        </p:nvSpPr>
        <p:spPr>
          <a:xfrm>
            <a:off x="548640" y="1691640"/>
            <a:ext cx="1727149" cy="1051560"/>
          </a:xfrm>
          <a:prstGeom prst="roundRect">
            <a:avLst>
              <a:gd name="adj" fmla="val 4348"/>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8" name="Text 6"/>
          <p:cNvSpPr txBox="1"/>
          <p:nvPr/>
        </p:nvSpPr>
        <p:spPr>
          <a:xfrm>
            <a:off x="621792" y="1691640"/>
            <a:ext cx="1580845" cy="1051560"/>
          </a:xfrm>
          <a:prstGeom prst="rect">
            <a:avLst/>
          </a:prstGeom>
          <a:noFill/>
          <a:ln/>
        </p:spPr>
        <p:txBody>
          <a:bodyPr wrap="square" lIns="0" tIns="0" rIns="0" bIns="0" rtlCol="0" anchor="ctr"/>
          <a:lstStyle/>
          <a:p>
            <a:pPr algn="ctr" indent="0" marL="0">
              <a:lnSpc>
                <a:spcPct val="115000"/>
              </a:lnSpc>
              <a:buNone/>
            </a:pPr>
            <a:r>
              <a:rPr lang="en-US" sz="1050" b="1" dirty="0">
                <a:solidFill>
                  <a:srgbClr val="16324F"/>
                </a:solidFill>
                <a:latin typeface="Meiryo" pitchFamily="34" charset="0"/>
                <a:ea typeface="Meiryo" pitchFamily="34" charset="-122"/>
                <a:cs typeface="Meiryo" pitchFamily="34" charset="-120"/>
              </a:rPr>
              <a:t>①</a:t>
            </a:r>
            <a:endParaRPr lang="en-US" sz="1050" dirty="0"/>
          </a:p>
          <a:p>
            <a:pPr algn="ctr" indent="0" marL="0">
              <a:lnSpc>
                <a:spcPct val="115000"/>
              </a:lnSpc>
              <a:buNone/>
            </a:pPr>
            <a:r>
              <a:rPr lang="en-US" sz="1050" b="1" dirty="0">
                <a:solidFill>
                  <a:srgbClr val="16324F"/>
                </a:solidFill>
                <a:latin typeface="Meiryo" pitchFamily="34" charset="0"/>
                <a:ea typeface="Meiryo" pitchFamily="34" charset="-122"/>
                <a:cs typeface="Meiryo" pitchFamily="34" charset="-120"/>
              </a:rPr>
              <a:t>お申込み</a:t>
            </a:r>
            <a:endParaRPr lang="en-US" sz="1050" dirty="0"/>
          </a:p>
          <a:p>
            <a:pPr algn="ctr" indent="0" marL="0">
              <a:lnSpc>
                <a:spcPct val="115000"/>
              </a:lnSpc>
              <a:buNone/>
            </a:pPr>
            <a:r>
              <a:rPr lang="en-US" sz="1050" b="1" dirty="0">
                <a:solidFill>
                  <a:srgbClr val="16324F"/>
                </a:solidFill>
                <a:latin typeface="Meiryo" pitchFamily="34" charset="0"/>
                <a:ea typeface="Meiryo" pitchFamily="34" charset="-122"/>
                <a:cs typeface="Meiryo" pitchFamily="34" charset="-120"/>
              </a:rPr>
              <a:t>（企業一括／個人）</a:t>
            </a:r>
            <a:endParaRPr lang="en-US" sz="1050" dirty="0"/>
          </a:p>
        </p:txBody>
      </p:sp>
      <p:sp>
        <p:nvSpPr>
          <p:cNvPr id="9" name="Shape 7"/>
          <p:cNvSpPr/>
          <p:nvPr/>
        </p:nvSpPr>
        <p:spPr>
          <a:xfrm rot="5400000">
            <a:off x="2307793" y="2121408"/>
            <a:ext cx="82296" cy="182880"/>
          </a:xfrm>
          <a:prstGeom prst="triangle">
            <a:avLst/>
          </a:prstGeom>
          <a:solidFill>
            <a:srgbClr val="E8960C"/>
          </a:solidFill>
          <a:ln/>
        </p:spPr>
      </p:sp>
      <p:sp>
        <p:nvSpPr>
          <p:cNvPr id="10" name="Shape 8"/>
          <p:cNvSpPr/>
          <p:nvPr/>
        </p:nvSpPr>
        <p:spPr>
          <a:xfrm>
            <a:off x="2422093" y="1691640"/>
            <a:ext cx="1727149" cy="1051560"/>
          </a:xfrm>
          <a:prstGeom prst="roundRect">
            <a:avLst>
              <a:gd name="adj" fmla="val 4348"/>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11" name="Text 9"/>
          <p:cNvSpPr txBox="1"/>
          <p:nvPr/>
        </p:nvSpPr>
        <p:spPr>
          <a:xfrm>
            <a:off x="2495245" y="1691640"/>
            <a:ext cx="1580845" cy="1051560"/>
          </a:xfrm>
          <a:prstGeom prst="rect">
            <a:avLst/>
          </a:prstGeom>
          <a:noFill/>
          <a:ln/>
        </p:spPr>
        <p:txBody>
          <a:bodyPr wrap="square" lIns="0" tIns="0" rIns="0" bIns="0" rtlCol="0" anchor="ctr"/>
          <a:lstStyle/>
          <a:p>
            <a:pPr algn="ctr" indent="0" marL="0">
              <a:lnSpc>
                <a:spcPct val="115000"/>
              </a:lnSpc>
              <a:buNone/>
            </a:pPr>
            <a:r>
              <a:rPr lang="en-US" sz="1050" b="1" dirty="0">
                <a:solidFill>
                  <a:srgbClr val="16324F"/>
                </a:solidFill>
                <a:latin typeface="Meiryo" pitchFamily="34" charset="0"/>
                <a:ea typeface="Meiryo" pitchFamily="34" charset="-122"/>
                <a:cs typeface="Meiryo" pitchFamily="34" charset="-120"/>
              </a:rPr>
              <a:t>②</a:t>
            </a:r>
            <a:endParaRPr lang="en-US" sz="1050" dirty="0"/>
          </a:p>
          <a:p>
            <a:pPr algn="ctr" indent="0" marL="0">
              <a:lnSpc>
                <a:spcPct val="115000"/>
              </a:lnSpc>
              <a:buNone/>
            </a:pPr>
            <a:r>
              <a:rPr lang="en-US" sz="1050" b="1" dirty="0">
                <a:solidFill>
                  <a:srgbClr val="16324F"/>
                </a:solidFill>
                <a:latin typeface="Meiryo" pitchFamily="34" charset="0"/>
                <a:ea typeface="Meiryo" pitchFamily="34" charset="-122"/>
                <a:cs typeface="Meiryo" pitchFamily="34" charset="-120"/>
              </a:rPr>
              <a:t>アカウント登録</a:t>
            </a:r>
            <a:endParaRPr lang="en-US" sz="1050" dirty="0"/>
          </a:p>
        </p:txBody>
      </p:sp>
      <p:sp>
        <p:nvSpPr>
          <p:cNvPr id="12" name="Shape 10"/>
          <p:cNvSpPr/>
          <p:nvPr/>
        </p:nvSpPr>
        <p:spPr>
          <a:xfrm rot="5400000">
            <a:off x="4181246" y="2121408"/>
            <a:ext cx="82296" cy="182880"/>
          </a:xfrm>
          <a:prstGeom prst="triangle">
            <a:avLst/>
          </a:prstGeom>
          <a:solidFill>
            <a:srgbClr val="E8960C"/>
          </a:solidFill>
          <a:ln/>
        </p:spPr>
      </p:sp>
      <p:sp>
        <p:nvSpPr>
          <p:cNvPr id="13" name="Shape 11"/>
          <p:cNvSpPr/>
          <p:nvPr/>
        </p:nvSpPr>
        <p:spPr>
          <a:xfrm>
            <a:off x="4295546" y="1691640"/>
            <a:ext cx="1727149" cy="1051560"/>
          </a:xfrm>
          <a:prstGeom prst="roundRect">
            <a:avLst>
              <a:gd name="adj" fmla="val 4348"/>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14" name="Text 12"/>
          <p:cNvSpPr txBox="1"/>
          <p:nvPr/>
        </p:nvSpPr>
        <p:spPr>
          <a:xfrm>
            <a:off x="4368698" y="1691640"/>
            <a:ext cx="1580845" cy="1051560"/>
          </a:xfrm>
          <a:prstGeom prst="rect">
            <a:avLst/>
          </a:prstGeom>
          <a:noFill/>
          <a:ln/>
        </p:spPr>
        <p:txBody>
          <a:bodyPr wrap="square" lIns="0" tIns="0" rIns="0" bIns="0" rtlCol="0" anchor="ctr"/>
          <a:lstStyle/>
          <a:p>
            <a:pPr algn="ctr" indent="0" marL="0">
              <a:lnSpc>
                <a:spcPct val="115000"/>
              </a:lnSpc>
              <a:buNone/>
            </a:pPr>
            <a:r>
              <a:rPr lang="en-US" sz="1050" b="1" dirty="0">
                <a:solidFill>
                  <a:srgbClr val="16324F"/>
                </a:solidFill>
                <a:latin typeface="Meiryo" pitchFamily="34" charset="0"/>
                <a:ea typeface="Meiryo" pitchFamily="34" charset="-122"/>
                <a:cs typeface="Meiryo" pitchFamily="34" charset="-120"/>
              </a:rPr>
              <a:t>③</a:t>
            </a:r>
            <a:endParaRPr lang="en-US" sz="1050" dirty="0"/>
          </a:p>
          <a:p>
            <a:pPr algn="ctr" indent="0" marL="0">
              <a:lnSpc>
                <a:spcPct val="115000"/>
              </a:lnSpc>
              <a:buNone/>
            </a:pPr>
            <a:r>
              <a:rPr lang="en-US" sz="1050" b="1" dirty="0">
                <a:solidFill>
                  <a:srgbClr val="16324F"/>
                </a:solidFill>
                <a:latin typeface="Meiryo" pitchFamily="34" charset="0"/>
                <a:ea typeface="Meiryo" pitchFamily="34" charset="-122"/>
                <a:cs typeface="Meiryo" pitchFamily="34" charset="-120"/>
              </a:rPr>
              <a:t>本人確認書類・</a:t>
            </a:r>
            <a:endParaRPr lang="en-US" sz="1050" dirty="0"/>
          </a:p>
          <a:p>
            <a:pPr algn="ctr" indent="0" marL="0">
              <a:lnSpc>
                <a:spcPct val="115000"/>
              </a:lnSpc>
              <a:buNone/>
            </a:pPr>
            <a:r>
              <a:rPr lang="en-US" sz="1050" b="1" dirty="0">
                <a:solidFill>
                  <a:srgbClr val="16324F"/>
                </a:solidFill>
                <a:latin typeface="Meiryo" pitchFamily="34" charset="0"/>
                <a:ea typeface="Meiryo" pitchFamily="34" charset="-122"/>
                <a:cs typeface="Meiryo" pitchFamily="34" charset="-120"/>
              </a:rPr>
              <a:t>顔写真の登録</a:t>
            </a:r>
            <a:endParaRPr lang="en-US" sz="1050" dirty="0"/>
          </a:p>
        </p:txBody>
      </p:sp>
      <p:sp>
        <p:nvSpPr>
          <p:cNvPr id="15" name="Shape 13"/>
          <p:cNvSpPr/>
          <p:nvPr/>
        </p:nvSpPr>
        <p:spPr>
          <a:xfrm rot="5400000">
            <a:off x="6054700" y="2121408"/>
            <a:ext cx="82296" cy="182880"/>
          </a:xfrm>
          <a:prstGeom prst="triangle">
            <a:avLst/>
          </a:prstGeom>
          <a:solidFill>
            <a:srgbClr val="E8960C"/>
          </a:solidFill>
          <a:ln/>
        </p:spPr>
      </p:sp>
      <p:sp>
        <p:nvSpPr>
          <p:cNvPr id="16" name="Shape 14"/>
          <p:cNvSpPr/>
          <p:nvPr/>
        </p:nvSpPr>
        <p:spPr>
          <a:xfrm>
            <a:off x="6169000" y="1691640"/>
            <a:ext cx="1727149" cy="1051560"/>
          </a:xfrm>
          <a:prstGeom prst="roundRect">
            <a:avLst>
              <a:gd name="adj" fmla="val 4348"/>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17" name="Text 15"/>
          <p:cNvSpPr txBox="1"/>
          <p:nvPr/>
        </p:nvSpPr>
        <p:spPr>
          <a:xfrm>
            <a:off x="6242152" y="1691640"/>
            <a:ext cx="1580845" cy="1051560"/>
          </a:xfrm>
          <a:prstGeom prst="rect">
            <a:avLst/>
          </a:prstGeom>
          <a:noFill/>
          <a:ln/>
        </p:spPr>
        <p:txBody>
          <a:bodyPr wrap="square" lIns="0" tIns="0" rIns="0" bIns="0" rtlCol="0" anchor="ctr"/>
          <a:lstStyle/>
          <a:p>
            <a:pPr algn="ctr" indent="0" marL="0">
              <a:lnSpc>
                <a:spcPct val="115000"/>
              </a:lnSpc>
              <a:buNone/>
            </a:pPr>
            <a:r>
              <a:rPr lang="en-US" sz="1050" b="1" dirty="0">
                <a:solidFill>
                  <a:srgbClr val="16324F"/>
                </a:solidFill>
                <a:latin typeface="Meiryo" pitchFamily="34" charset="0"/>
                <a:ea typeface="Meiryo" pitchFamily="34" charset="-122"/>
                <a:cs typeface="Meiryo" pitchFamily="34" charset="-120"/>
              </a:rPr>
              <a:t>④</a:t>
            </a:r>
            <a:endParaRPr lang="en-US" sz="1050" dirty="0"/>
          </a:p>
          <a:p>
            <a:pPr algn="ctr" indent="0" marL="0">
              <a:lnSpc>
                <a:spcPct val="115000"/>
              </a:lnSpc>
              <a:buNone/>
            </a:pPr>
            <a:r>
              <a:rPr lang="en-US" sz="1050" b="1" dirty="0">
                <a:solidFill>
                  <a:srgbClr val="16324F"/>
                </a:solidFill>
                <a:latin typeface="Meiryo" pitchFamily="34" charset="0"/>
                <a:ea typeface="Meiryo" pitchFamily="34" charset="-122"/>
                <a:cs typeface="Meiryo" pitchFamily="34" charset="-120"/>
              </a:rPr>
              <a:t>運営による承認</a:t>
            </a:r>
            <a:endParaRPr lang="en-US" sz="1050" dirty="0"/>
          </a:p>
        </p:txBody>
      </p:sp>
      <p:sp>
        <p:nvSpPr>
          <p:cNvPr id="18" name="Shape 16"/>
          <p:cNvSpPr/>
          <p:nvPr/>
        </p:nvSpPr>
        <p:spPr>
          <a:xfrm rot="5400000">
            <a:off x="7928153" y="2121408"/>
            <a:ext cx="82296" cy="182880"/>
          </a:xfrm>
          <a:prstGeom prst="triangle">
            <a:avLst/>
          </a:prstGeom>
          <a:solidFill>
            <a:srgbClr val="E8960C"/>
          </a:solidFill>
          <a:ln/>
        </p:spPr>
      </p:sp>
      <p:sp>
        <p:nvSpPr>
          <p:cNvPr id="19" name="Shape 17"/>
          <p:cNvSpPr/>
          <p:nvPr/>
        </p:nvSpPr>
        <p:spPr>
          <a:xfrm>
            <a:off x="8042453" y="1691640"/>
            <a:ext cx="1727149" cy="1051560"/>
          </a:xfrm>
          <a:prstGeom prst="roundRect">
            <a:avLst>
              <a:gd name="adj" fmla="val 4348"/>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20" name="Text 18"/>
          <p:cNvSpPr txBox="1"/>
          <p:nvPr/>
        </p:nvSpPr>
        <p:spPr>
          <a:xfrm>
            <a:off x="8115605" y="1691640"/>
            <a:ext cx="1580845" cy="1051560"/>
          </a:xfrm>
          <a:prstGeom prst="rect">
            <a:avLst/>
          </a:prstGeom>
          <a:noFill/>
          <a:ln/>
        </p:spPr>
        <p:txBody>
          <a:bodyPr wrap="square" lIns="0" tIns="0" rIns="0" bIns="0" rtlCol="0" anchor="ctr"/>
          <a:lstStyle/>
          <a:p>
            <a:pPr algn="ctr" indent="0" marL="0">
              <a:lnSpc>
                <a:spcPct val="115000"/>
              </a:lnSpc>
              <a:buNone/>
            </a:pPr>
            <a:r>
              <a:rPr lang="en-US" sz="1050" b="1" dirty="0">
                <a:solidFill>
                  <a:srgbClr val="16324F"/>
                </a:solidFill>
                <a:latin typeface="Meiryo" pitchFamily="34" charset="0"/>
                <a:ea typeface="Meiryo" pitchFamily="34" charset="-122"/>
                <a:cs typeface="Meiryo" pitchFamily="34" charset="-120"/>
              </a:rPr>
              <a:t>⑤</a:t>
            </a:r>
            <a:endParaRPr lang="en-US" sz="1050" dirty="0"/>
          </a:p>
          <a:p>
            <a:pPr algn="ctr" indent="0" marL="0">
              <a:lnSpc>
                <a:spcPct val="115000"/>
              </a:lnSpc>
              <a:buNone/>
            </a:pPr>
            <a:r>
              <a:rPr lang="en-US" sz="1050" b="1" dirty="0">
                <a:solidFill>
                  <a:srgbClr val="16324F"/>
                </a:solidFill>
                <a:latin typeface="Meiryo" pitchFamily="34" charset="0"/>
                <a:ea typeface="Meiryo" pitchFamily="34" charset="-122"/>
                <a:cs typeface="Meiryo" pitchFamily="34" charset="-120"/>
              </a:rPr>
              <a:t>学科eラーニング</a:t>
            </a:r>
            <a:endParaRPr lang="en-US" sz="1050" dirty="0"/>
          </a:p>
          <a:p>
            <a:pPr algn="ctr" indent="0" marL="0">
              <a:lnSpc>
                <a:spcPct val="115000"/>
              </a:lnSpc>
              <a:buNone/>
            </a:pPr>
            <a:r>
              <a:rPr lang="en-US" sz="1050" b="1" dirty="0">
                <a:solidFill>
                  <a:srgbClr val="16324F"/>
                </a:solidFill>
                <a:latin typeface="Meiryo" pitchFamily="34" charset="0"/>
                <a:ea typeface="Meiryo" pitchFamily="34" charset="-122"/>
                <a:cs typeface="Meiryo" pitchFamily="34" charset="-120"/>
              </a:rPr>
              <a:t>受講</a:t>
            </a:r>
            <a:endParaRPr lang="en-US" sz="1050" dirty="0"/>
          </a:p>
        </p:txBody>
      </p:sp>
      <p:sp>
        <p:nvSpPr>
          <p:cNvPr id="21" name="Shape 19"/>
          <p:cNvSpPr/>
          <p:nvPr/>
        </p:nvSpPr>
        <p:spPr>
          <a:xfrm rot="5400000">
            <a:off x="9801606" y="2121408"/>
            <a:ext cx="82296" cy="182880"/>
          </a:xfrm>
          <a:prstGeom prst="triangle">
            <a:avLst/>
          </a:prstGeom>
          <a:solidFill>
            <a:srgbClr val="E8960C"/>
          </a:solidFill>
          <a:ln/>
        </p:spPr>
      </p:sp>
      <p:sp>
        <p:nvSpPr>
          <p:cNvPr id="22" name="Shape 20"/>
          <p:cNvSpPr/>
          <p:nvPr/>
        </p:nvSpPr>
        <p:spPr>
          <a:xfrm>
            <a:off x="9915906" y="1691640"/>
            <a:ext cx="1727149" cy="1051560"/>
          </a:xfrm>
          <a:prstGeom prst="roundRect">
            <a:avLst>
              <a:gd name="adj" fmla="val 4348"/>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23" name="Text 21"/>
          <p:cNvSpPr txBox="1"/>
          <p:nvPr/>
        </p:nvSpPr>
        <p:spPr>
          <a:xfrm>
            <a:off x="9989058" y="1691640"/>
            <a:ext cx="1580845" cy="1051560"/>
          </a:xfrm>
          <a:prstGeom prst="rect">
            <a:avLst/>
          </a:prstGeom>
          <a:noFill/>
          <a:ln/>
        </p:spPr>
        <p:txBody>
          <a:bodyPr wrap="square" lIns="0" tIns="0" rIns="0" bIns="0" rtlCol="0" anchor="ctr"/>
          <a:lstStyle/>
          <a:p>
            <a:pPr algn="ctr" indent="0" marL="0">
              <a:lnSpc>
                <a:spcPct val="115000"/>
              </a:lnSpc>
              <a:buNone/>
            </a:pPr>
            <a:r>
              <a:rPr lang="en-US" sz="1050" b="1" dirty="0">
                <a:solidFill>
                  <a:srgbClr val="16324F"/>
                </a:solidFill>
                <a:latin typeface="Meiryo" pitchFamily="34" charset="0"/>
                <a:ea typeface="Meiryo" pitchFamily="34" charset="-122"/>
                <a:cs typeface="Meiryo" pitchFamily="34" charset="-120"/>
              </a:rPr>
              <a:t>⑥</a:t>
            </a:r>
            <a:endParaRPr lang="en-US" sz="1050" dirty="0"/>
          </a:p>
          <a:p>
            <a:pPr algn="ctr" indent="0" marL="0">
              <a:lnSpc>
                <a:spcPct val="115000"/>
              </a:lnSpc>
              <a:buNone/>
            </a:pPr>
            <a:r>
              <a:rPr lang="en-US" sz="1050" b="1" dirty="0">
                <a:solidFill>
                  <a:srgbClr val="16324F"/>
                </a:solidFill>
                <a:latin typeface="Meiryo" pitchFamily="34" charset="0"/>
                <a:ea typeface="Meiryo" pitchFamily="34" charset="-122"/>
                <a:cs typeface="Meiryo" pitchFamily="34" charset="-120"/>
              </a:rPr>
              <a:t>修了確認テスト</a:t>
            </a:r>
            <a:endParaRPr lang="en-US" sz="1050" dirty="0"/>
          </a:p>
          <a:p>
            <a:pPr algn="ctr" indent="0" marL="0">
              <a:lnSpc>
                <a:spcPct val="115000"/>
              </a:lnSpc>
              <a:buNone/>
            </a:pPr>
            <a:r>
              <a:rPr lang="en-US" sz="1050" b="1" dirty="0">
                <a:solidFill>
                  <a:srgbClr val="16324F"/>
                </a:solidFill>
                <a:latin typeface="Meiryo" pitchFamily="34" charset="0"/>
                <a:ea typeface="Meiryo" pitchFamily="34" charset="-122"/>
                <a:cs typeface="Meiryo" pitchFamily="34" charset="-120"/>
              </a:rPr>
              <a:t>合格</a:t>
            </a:r>
            <a:endParaRPr lang="en-US" sz="1050" dirty="0"/>
          </a:p>
        </p:txBody>
      </p:sp>
      <p:sp>
        <p:nvSpPr>
          <p:cNvPr id="24" name="Shape 22"/>
          <p:cNvSpPr/>
          <p:nvPr/>
        </p:nvSpPr>
        <p:spPr>
          <a:xfrm>
            <a:off x="548640" y="3063240"/>
            <a:ext cx="5410048" cy="1481328"/>
          </a:xfrm>
          <a:prstGeom prst="roundRect">
            <a:avLst>
              <a:gd name="adj" fmla="val 3086"/>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25" name="Shape 23"/>
          <p:cNvSpPr/>
          <p:nvPr/>
        </p:nvSpPr>
        <p:spPr>
          <a:xfrm>
            <a:off x="777240" y="3218688"/>
            <a:ext cx="2286000" cy="310896"/>
          </a:xfrm>
          <a:prstGeom prst="roundRect">
            <a:avLst>
              <a:gd name="adj" fmla="val 50000"/>
            </a:avLst>
          </a:prstGeom>
          <a:solidFill>
            <a:srgbClr val="3E6B8C"/>
          </a:solidFill>
          <a:ln/>
        </p:spPr>
      </p:sp>
      <p:sp>
        <p:nvSpPr>
          <p:cNvPr id="26" name="Text 24"/>
          <p:cNvSpPr txBox="1"/>
          <p:nvPr/>
        </p:nvSpPr>
        <p:spPr>
          <a:xfrm>
            <a:off x="777240" y="3218688"/>
            <a:ext cx="228600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プランA｜学科のみ</a:t>
            </a:r>
            <a:endParaRPr lang="en-US" sz="1100" dirty="0"/>
          </a:p>
        </p:txBody>
      </p:sp>
      <p:sp>
        <p:nvSpPr>
          <p:cNvPr id="27" name="Text 25"/>
          <p:cNvSpPr txBox="1"/>
          <p:nvPr/>
        </p:nvSpPr>
        <p:spPr>
          <a:xfrm>
            <a:off x="804672" y="3621024"/>
            <a:ext cx="4897984" cy="841248"/>
          </a:xfrm>
          <a:prstGeom prst="rect">
            <a:avLst/>
          </a:prstGeom>
          <a:noFill/>
          <a:ln/>
        </p:spPr>
        <p:txBody>
          <a:bodyPr wrap="square" lIns="0" tIns="0" rIns="0" bIns="0" rtlCol="0" anchor="ctr"/>
          <a:lstStyle/>
          <a:p>
            <a:pPr indent="0" marL="0">
              <a:spcAft>
                <a:spcPts val="400"/>
              </a:spcAft>
              <a:buNone/>
            </a:pPr>
            <a:r>
              <a:rPr lang="en-US" sz="1050" dirty="0">
                <a:solidFill>
                  <a:srgbClr val="1C2A38"/>
                </a:solidFill>
                <a:latin typeface="Meiryo" pitchFamily="34" charset="0"/>
                <a:ea typeface="Meiryo" pitchFamily="34" charset="-122"/>
                <a:cs typeface="Meiryo" pitchFamily="34" charset="-120"/>
              </a:rPr>
              <a:t>⑦ 実技は受講者の所属事業者が実施</a:t>
            </a:r>
            <a:endParaRPr lang="en-US" sz="1050" dirty="0"/>
          </a:p>
          <a:p>
            <a:pPr indent="0" marL="0">
              <a:spcAft>
                <a:spcPts val="400"/>
              </a:spcAft>
              <a:buNone/>
            </a:pPr>
            <a:r>
              <a:rPr lang="en-US" sz="1050" dirty="0">
                <a:solidFill>
                  <a:srgbClr val="1C2A38"/>
                </a:solidFill>
                <a:latin typeface="Meiryo" pitchFamily="34" charset="0"/>
                <a:ea typeface="Meiryo" pitchFamily="34" charset="-122"/>
                <a:cs typeface="Meiryo" pitchFamily="34" charset="-120"/>
              </a:rPr>
              <a:t>⑧ 実技実施報告をシステムにアップロード</a:t>
            </a:r>
            <a:endParaRPr lang="en-US" sz="1050" dirty="0"/>
          </a:p>
          <a:p>
            <a:pPr indent="0" marL="0">
              <a:spcAft>
                <a:spcPts val="400"/>
              </a:spcAft>
              <a:buNone/>
            </a:pPr>
            <a:r>
              <a:rPr lang="en-US" sz="1050" b="1" dirty="0">
                <a:solidFill>
                  <a:srgbClr val="3E6B8C"/>
                </a:solidFill>
                <a:latin typeface="Meiryo" pitchFamily="34" charset="0"/>
                <a:ea typeface="Meiryo" pitchFamily="34" charset="-122"/>
                <a:cs typeface="Meiryo" pitchFamily="34" charset="-120"/>
              </a:rPr>
              <a:t>→ 商圏は全国。実技会場の制約を受けません</a:t>
            </a:r>
            <a:endParaRPr lang="en-US" sz="1050" dirty="0"/>
          </a:p>
        </p:txBody>
      </p:sp>
      <p:sp>
        <p:nvSpPr>
          <p:cNvPr id="28" name="Shape 26"/>
          <p:cNvSpPr/>
          <p:nvPr/>
        </p:nvSpPr>
        <p:spPr>
          <a:xfrm>
            <a:off x="6233008" y="3063240"/>
            <a:ext cx="5410048" cy="1481328"/>
          </a:xfrm>
          <a:prstGeom prst="roundRect">
            <a:avLst>
              <a:gd name="adj" fmla="val 3086"/>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29" name="Shape 27"/>
          <p:cNvSpPr/>
          <p:nvPr/>
        </p:nvSpPr>
        <p:spPr>
          <a:xfrm>
            <a:off x="6461608" y="3218688"/>
            <a:ext cx="2286000" cy="310896"/>
          </a:xfrm>
          <a:prstGeom prst="roundRect">
            <a:avLst>
              <a:gd name="adj" fmla="val 50000"/>
            </a:avLst>
          </a:prstGeom>
          <a:solidFill>
            <a:srgbClr val="B87400"/>
          </a:solidFill>
          <a:ln/>
        </p:spPr>
      </p:sp>
      <p:sp>
        <p:nvSpPr>
          <p:cNvPr id="30" name="Text 28"/>
          <p:cNvSpPr txBox="1"/>
          <p:nvPr/>
        </p:nvSpPr>
        <p:spPr>
          <a:xfrm>
            <a:off x="6461608" y="3218688"/>
            <a:ext cx="228600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プランB｜学科＋実技</a:t>
            </a:r>
            <a:endParaRPr lang="en-US" sz="1100" dirty="0"/>
          </a:p>
        </p:txBody>
      </p:sp>
      <p:sp>
        <p:nvSpPr>
          <p:cNvPr id="31" name="Text 29"/>
          <p:cNvSpPr txBox="1"/>
          <p:nvPr/>
        </p:nvSpPr>
        <p:spPr>
          <a:xfrm>
            <a:off x="6489040" y="3621024"/>
            <a:ext cx="4897984" cy="841248"/>
          </a:xfrm>
          <a:prstGeom prst="rect">
            <a:avLst/>
          </a:prstGeom>
          <a:noFill/>
          <a:ln/>
        </p:spPr>
        <p:txBody>
          <a:bodyPr wrap="square" lIns="0" tIns="0" rIns="0" bIns="0" rtlCol="0" anchor="ctr"/>
          <a:lstStyle/>
          <a:p>
            <a:pPr indent="0" marL="0">
              <a:spcAft>
                <a:spcPts val="400"/>
              </a:spcAft>
              <a:buNone/>
            </a:pPr>
            <a:r>
              <a:rPr lang="en-US" sz="1050" dirty="0">
                <a:solidFill>
                  <a:srgbClr val="1C2A38"/>
                </a:solidFill>
                <a:latin typeface="Meiryo" pitchFamily="34" charset="0"/>
                <a:ea typeface="Meiryo" pitchFamily="34" charset="-122"/>
                <a:cs typeface="Meiryo" pitchFamily="34" charset="-120"/>
              </a:rPr>
              <a:t>⑦ 半田会場の実技日程を予約</a:t>
            </a:r>
            <a:endParaRPr lang="en-US" sz="1050" dirty="0"/>
          </a:p>
          <a:p>
            <a:pPr indent="0" marL="0">
              <a:spcAft>
                <a:spcPts val="400"/>
              </a:spcAft>
              <a:buNone/>
            </a:pPr>
            <a:r>
              <a:rPr lang="en-US" sz="1050" dirty="0">
                <a:solidFill>
                  <a:srgbClr val="1C2A38"/>
                </a:solidFill>
                <a:latin typeface="Meiryo" pitchFamily="34" charset="0"/>
                <a:ea typeface="Meiryo" pitchFamily="34" charset="-122"/>
                <a:cs typeface="Meiryo" pitchFamily="34" charset="-120"/>
              </a:rPr>
              <a:t>⑧ 来場して実技を受講（講師が実施記録を登録）</a:t>
            </a:r>
            <a:endParaRPr lang="en-US" sz="1050" dirty="0"/>
          </a:p>
          <a:p>
            <a:pPr indent="0" marL="0">
              <a:spcAft>
                <a:spcPts val="400"/>
              </a:spcAft>
              <a:buNone/>
            </a:pPr>
            <a:r>
              <a:rPr lang="en-US" sz="1050" b="1" dirty="0">
                <a:solidFill>
                  <a:srgbClr val="B87400"/>
                </a:solidFill>
                <a:latin typeface="Meiryo" pitchFamily="34" charset="0"/>
                <a:ea typeface="Meiryo" pitchFamily="34" charset="-122"/>
                <a:cs typeface="Meiryo" pitchFamily="34" charset="-120"/>
              </a:rPr>
              <a:t>→ 単価が高く、他社にない一括提供が差別化に</a:t>
            </a:r>
            <a:endParaRPr lang="en-US" sz="1050" dirty="0"/>
          </a:p>
        </p:txBody>
      </p:sp>
      <p:sp>
        <p:nvSpPr>
          <p:cNvPr id="32" name="Shape 30"/>
          <p:cNvSpPr/>
          <p:nvPr/>
        </p:nvSpPr>
        <p:spPr>
          <a:xfrm>
            <a:off x="548640" y="4846320"/>
            <a:ext cx="11094415" cy="1005840"/>
          </a:xfrm>
          <a:prstGeom prst="roundRect">
            <a:avLst>
              <a:gd name="adj" fmla="val 4545"/>
            </a:avLst>
          </a:prstGeom>
          <a:solidFill>
            <a:srgbClr val="16324F"/>
          </a:solidFill>
          <a:ln/>
        </p:spPr>
      </p:sp>
      <p:sp>
        <p:nvSpPr>
          <p:cNvPr id="33" name="Shape 31"/>
          <p:cNvSpPr/>
          <p:nvPr/>
        </p:nvSpPr>
        <p:spPr>
          <a:xfrm>
            <a:off x="822960" y="5074920"/>
            <a:ext cx="548640" cy="548640"/>
          </a:xfrm>
          <a:prstGeom prst="ellipse">
            <a:avLst/>
          </a:prstGeom>
          <a:solidFill>
            <a:srgbClr val="E8960C"/>
          </a:solidFill>
          <a:ln/>
        </p:spPr>
      </p:sp>
      <p:sp>
        <p:nvSpPr>
          <p:cNvPr id="34" name="Text 32"/>
          <p:cNvSpPr txBox="1"/>
          <p:nvPr/>
        </p:nvSpPr>
        <p:spPr>
          <a:xfrm>
            <a:off x="822960" y="5074920"/>
            <a:ext cx="548640" cy="548640"/>
          </a:xfrm>
          <a:prstGeom prst="rect">
            <a:avLst/>
          </a:prstGeom>
          <a:noFill/>
          <a:ln/>
        </p:spPr>
        <p:txBody>
          <a:bodyPr wrap="square" lIns="0" tIns="0" rIns="0" bIns="0" rtlCol="0" anchor="ctr"/>
          <a:lstStyle/>
          <a:p>
            <a:pPr algn="ctr" indent="0" marL="0">
              <a:buNone/>
            </a:pPr>
            <a:r>
              <a:rPr lang="en-US" sz="1500" b="1" dirty="0">
                <a:solidFill>
                  <a:srgbClr val="0C1D2E"/>
                </a:solidFill>
                <a:latin typeface="Meiryo" pitchFamily="34" charset="0"/>
                <a:ea typeface="Meiryo" pitchFamily="34" charset="-122"/>
                <a:cs typeface="Meiryo" pitchFamily="34" charset="-120"/>
              </a:rPr>
              <a:t>⑨</a:t>
            </a:r>
            <a:endParaRPr lang="en-US" sz="1500" dirty="0"/>
          </a:p>
        </p:txBody>
      </p:sp>
      <p:sp>
        <p:nvSpPr>
          <p:cNvPr id="35" name="Text 33"/>
          <p:cNvSpPr txBox="1"/>
          <p:nvPr/>
        </p:nvSpPr>
        <p:spPr>
          <a:xfrm>
            <a:off x="1508760" y="5029200"/>
            <a:ext cx="4572000" cy="292608"/>
          </a:xfrm>
          <a:prstGeom prst="rect">
            <a:avLst/>
          </a:prstGeom>
          <a:noFill/>
          <a:ln/>
        </p:spPr>
        <p:txBody>
          <a:bodyPr wrap="square" lIns="0" tIns="0" rIns="0" bIns="0" rtlCol="0" anchor="ctr"/>
          <a:lstStyle/>
          <a:p>
            <a:pPr indent="0" marL="0">
              <a:buNone/>
            </a:pPr>
            <a:r>
              <a:rPr lang="en-US" sz="1300" b="1" dirty="0">
                <a:solidFill>
                  <a:srgbClr val="FFFFFF"/>
                </a:solidFill>
                <a:latin typeface="Meiryo" pitchFamily="34" charset="0"/>
                <a:ea typeface="Meiryo" pitchFamily="34" charset="-122"/>
                <a:cs typeface="Meiryo" pitchFamily="34" charset="-120"/>
              </a:rPr>
              <a:t>修了証の発行</a:t>
            </a:r>
            <a:endParaRPr lang="en-US" sz="1300" dirty="0"/>
          </a:p>
        </p:txBody>
      </p:sp>
      <p:sp>
        <p:nvSpPr>
          <p:cNvPr id="36" name="Text 34"/>
          <p:cNvSpPr txBox="1"/>
          <p:nvPr/>
        </p:nvSpPr>
        <p:spPr>
          <a:xfrm>
            <a:off x="1508760" y="5321808"/>
            <a:ext cx="4572000" cy="310896"/>
          </a:xfrm>
          <a:prstGeom prst="rect">
            <a:avLst/>
          </a:prstGeom>
          <a:noFill/>
          <a:ln/>
        </p:spPr>
        <p:txBody>
          <a:bodyPr wrap="square" lIns="0" tIns="0" rIns="0" bIns="0" rtlCol="0" anchor="ctr"/>
          <a:lstStyle/>
          <a:p>
            <a:pPr indent="0" marL="0">
              <a:buNone/>
            </a:pPr>
            <a:r>
              <a:rPr lang="en-US" sz="1000" dirty="0">
                <a:solidFill>
                  <a:srgbClr val="C3D2DF"/>
                </a:solidFill>
                <a:latin typeface="Meiryo" pitchFamily="34" charset="0"/>
                <a:ea typeface="Meiryo" pitchFamily="34" charset="-122"/>
                <a:cs typeface="Meiryo" pitchFamily="34" charset="-120"/>
              </a:rPr>
              <a:t>PDF／カードで発行。受講者・企業双方がいつでも再取得できます</a:t>
            </a:r>
            <a:endParaRPr lang="en-US" sz="1000" dirty="0"/>
          </a:p>
        </p:txBody>
      </p:sp>
      <p:sp>
        <p:nvSpPr>
          <p:cNvPr id="37" name="Shape 35"/>
          <p:cNvSpPr/>
          <p:nvPr/>
        </p:nvSpPr>
        <p:spPr>
          <a:xfrm>
            <a:off x="6309360" y="5074920"/>
            <a:ext cx="548640" cy="548640"/>
          </a:xfrm>
          <a:prstGeom prst="ellipse">
            <a:avLst/>
          </a:prstGeom>
          <a:solidFill>
            <a:srgbClr val="E8960C"/>
          </a:solidFill>
          <a:ln/>
        </p:spPr>
      </p:sp>
      <p:sp>
        <p:nvSpPr>
          <p:cNvPr id="38" name="Text 36"/>
          <p:cNvSpPr txBox="1"/>
          <p:nvPr/>
        </p:nvSpPr>
        <p:spPr>
          <a:xfrm>
            <a:off x="6309360" y="5074920"/>
            <a:ext cx="548640" cy="548640"/>
          </a:xfrm>
          <a:prstGeom prst="rect">
            <a:avLst/>
          </a:prstGeom>
          <a:noFill/>
          <a:ln/>
        </p:spPr>
        <p:txBody>
          <a:bodyPr wrap="square" lIns="0" tIns="0" rIns="0" bIns="0" rtlCol="0" anchor="ctr"/>
          <a:lstStyle/>
          <a:p>
            <a:pPr algn="ctr" indent="0" marL="0">
              <a:buNone/>
            </a:pPr>
            <a:r>
              <a:rPr lang="en-US" sz="1500" b="1" dirty="0">
                <a:solidFill>
                  <a:srgbClr val="0C1D2E"/>
                </a:solidFill>
                <a:latin typeface="Meiryo" pitchFamily="34" charset="0"/>
                <a:ea typeface="Meiryo" pitchFamily="34" charset="-122"/>
                <a:cs typeface="Meiryo" pitchFamily="34" charset="-120"/>
              </a:rPr>
              <a:t>⑩</a:t>
            </a:r>
            <a:endParaRPr lang="en-US" sz="1500" dirty="0"/>
          </a:p>
        </p:txBody>
      </p:sp>
      <p:sp>
        <p:nvSpPr>
          <p:cNvPr id="39" name="Text 37"/>
          <p:cNvSpPr txBox="1"/>
          <p:nvPr/>
        </p:nvSpPr>
        <p:spPr>
          <a:xfrm>
            <a:off x="6995160" y="5029200"/>
            <a:ext cx="4572000" cy="292608"/>
          </a:xfrm>
          <a:prstGeom prst="rect">
            <a:avLst/>
          </a:prstGeom>
          <a:noFill/>
          <a:ln/>
        </p:spPr>
        <p:txBody>
          <a:bodyPr wrap="square" lIns="0" tIns="0" rIns="0" bIns="0" rtlCol="0" anchor="ctr"/>
          <a:lstStyle/>
          <a:p>
            <a:pPr indent="0" marL="0">
              <a:buNone/>
            </a:pPr>
            <a:r>
              <a:rPr lang="en-US" sz="1300" b="1" dirty="0">
                <a:solidFill>
                  <a:srgbClr val="FFFFFF"/>
                </a:solidFill>
                <a:latin typeface="Meiryo" pitchFamily="34" charset="0"/>
                <a:ea typeface="Meiryo" pitchFamily="34" charset="-122"/>
                <a:cs typeface="Meiryo" pitchFamily="34" charset="-120"/>
              </a:rPr>
              <a:t>記録を3年以上保存</a:t>
            </a:r>
            <a:endParaRPr lang="en-US" sz="1300" dirty="0"/>
          </a:p>
        </p:txBody>
      </p:sp>
      <p:sp>
        <p:nvSpPr>
          <p:cNvPr id="40" name="Text 38"/>
          <p:cNvSpPr txBox="1"/>
          <p:nvPr/>
        </p:nvSpPr>
        <p:spPr>
          <a:xfrm>
            <a:off x="6995160" y="5321808"/>
            <a:ext cx="4572000" cy="310896"/>
          </a:xfrm>
          <a:prstGeom prst="rect">
            <a:avLst/>
          </a:prstGeom>
          <a:noFill/>
          <a:ln/>
        </p:spPr>
        <p:txBody>
          <a:bodyPr wrap="square" lIns="0" tIns="0" rIns="0" bIns="0" rtlCol="0" anchor="ctr"/>
          <a:lstStyle/>
          <a:p>
            <a:pPr indent="0" marL="0">
              <a:buNone/>
            </a:pPr>
            <a:r>
              <a:rPr lang="en-US" sz="1000" dirty="0">
                <a:solidFill>
                  <a:srgbClr val="C3D2DF"/>
                </a:solidFill>
                <a:latin typeface="Meiryo" pitchFamily="34" charset="0"/>
                <a:ea typeface="Meiryo" pitchFamily="34" charset="-122"/>
                <a:cs typeface="Meiryo" pitchFamily="34" charset="-120"/>
              </a:rPr>
              <a:t>労働安全衛生規則第38条に対応。CSV一括出力にも対応します</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5F7"/>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indent="0" marL="0">
              <a:buNone/>
            </a:pPr>
            <a:r>
              <a:rPr lang="en-US" sz="1100" b="1" spc="150" kern="0" dirty="0">
                <a:solidFill>
                  <a:srgbClr val="B87400"/>
                </a:solidFill>
                <a:latin typeface="Meiryo" pitchFamily="34" charset="0"/>
                <a:ea typeface="Meiryo" pitchFamily="34" charset="-122"/>
                <a:cs typeface="Meiryo" pitchFamily="34" charset="-120"/>
              </a:rPr>
              <a:t>SCREENS</a:t>
            </a:r>
            <a:endParaRPr lang="en-US" sz="1100" dirty="0"/>
          </a:p>
        </p:txBody>
      </p:sp>
      <p:sp>
        <p:nvSpPr>
          <p:cNvPr id="3" name="Text 1"/>
          <p:cNvSpPr txBox="1"/>
          <p:nvPr/>
        </p:nvSpPr>
        <p:spPr>
          <a:xfrm>
            <a:off x="548640" y="603504"/>
            <a:ext cx="11094415" cy="548640"/>
          </a:xfrm>
          <a:prstGeom prst="rect">
            <a:avLst/>
          </a:prstGeom>
          <a:noFill/>
          <a:ln/>
        </p:spPr>
        <p:txBody>
          <a:bodyPr wrap="square" lIns="0" tIns="0" rIns="0" bIns="0" rtlCol="0" anchor="ctr"/>
          <a:lstStyle/>
          <a:p>
            <a:pPr indent="0" marL="0">
              <a:buNone/>
            </a:pPr>
            <a:r>
              <a:rPr lang="en-US" sz="2700" b="1" dirty="0">
                <a:solidFill>
                  <a:srgbClr val="16324F"/>
                </a:solidFill>
                <a:latin typeface="Meiryo" pitchFamily="34" charset="0"/>
                <a:ea typeface="Meiryo" pitchFamily="34" charset="-122"/>
                <a:cs typeface="Meiryo" pitchFamily="34" charset="-120"/>
              </a:rPr>
              <a:t>画面構成のイメージ</a:t>
            </a:r>
            <a:endParaRPr lang="en-US" sz="2700" dirty="0"/>
          </a:p>
        </p:txBody>
      </p:sp>
      <p:sp>
        <p:nvSpPr>
          <p:cNvPr id="4" name="Text 2"/>
          <p:cNvSpPr txBox="1"/>
          <p:nvPr/>
        </p:nvSpPr>
        <p:spPr>
          <a:xfrm>
            <a:off x="548640" y="1188720"/>
            <a:ext cx="11094415" cy="329184"/>
          </a:xfrm>
          <a:prstGeom prst="rect">
            <a:avLst/>
          </a:prstGeom>
          <a:noFill/>
          <a:ln/>
        </p:spPr>
        <p:txBody>
          <a:bodyPr wrap="square" lIns="0" tIns="0" rIns="0" bIns="0" rtlCol="0" anchor="ctr"/>
          <a:lstStyle/>
          <a:p>
            <a:pPr indent="0" marL="0">
              <a:buNone/>
            </a:pPr>
            <a:r>
              <a:rPr lang="en-US" sz="1250" dirty="0">
                <a:solidFill>
                  <a:srgbClr val="6B7B8A"/>
                </a:solidFill>
                <a:latin typeface="Meiryo" pitchFamily="34" charset="0"/>
                <a:ea typeface="Meiryo" pitchFamily="34" charset="-122"/>
                <a:cs typeface="Meiryo" pitchFamily="34" charset="-120"/>
              </a:rPr>
              <a:t>3つのポータルを用意します。デザインは要件定義後に確定します。</a:t>
            </a:r>
            <a:endParaRPr lang="en-US" sz="1250" dirty="0"/>
          </a:p>
        </p:txBody>
      </p:sp>
      <p:sp>
        <p:nvSpPr>
          <p:cNvPr id="5" name="Text 3"/>
          <p:cNvSpPr txBox="1"/>
          <p:nvPr/>
        </p:nvSpPr>
        <p:spPr>
          <a:xfrm>
            <a:off x="548640" y="6382512"/>
            <a:ext cx="8686800" cy="256032"/>
          </a:xfrm>
          <a:prstGeom prst="rect">
            <a:avLst/>
          </a:prstGeom>
          <a:noFill/>
          <a:ln/>
        </p:spPr>
        <p:txBody>
          <a:bodyPr wrap="square" lIns="0" tIns="0" rIns="0" bIns="0" rtlCol="0" anchor="ctr"/>
          <a:lstStyle/>
          <a:p>
            <a:pPr indent="0" marL="0">
              <a:buNone/>
            </a:pPr>
            <a:r>
              <a:rPr lang="en-US" sz="900" dirty="0">
                <a:solidFill>
                  <a:srgbClr val="6B7B8A"/>
                </a:solidFill>
                <a:latin typeface="Meiryo" pitchFamily="34" charset="0"/>
                <a:ea typeface="Meiryo" pitchFamily="34" charset="-122"/>
                <a:cs typeface="Meiryo" pitchFamily="34" charset="-120"/>
              </a:rPr>
              <a:t>株式会社聖建 御中 ｜ 建設業 特別教育 オンライン受講プラットフォーム ご提案</a:t>
            </a:r>
            <a:endParaRPr lang="en-US" sz="900" dirty="0"/>
          </a:p>
        </p:txBody>
      </p:sp>
      <p:sp>
        <p:nvSpPr>
          <p:cNvPr id="6" name="Text 4"/>
          <p:cNvSpPr txBox="1"/>
          <p:nvPr/>
        </p:nvSpPr>
        <p:spPr>
          <a:xfrm>
            <a:off x="11002975" y="6382512"/>
            <a:ext cx="640080" cy="256032"/>
          </a:xfrm>
          <a:prstGeom prst="rect">
            <a:avLst/>
          </a:prstGeom>
          <a:noFill/>
          <a:ln/>
        </p:spPr>
        <p:txBody>
          <a:bodyPr wrap="square" lIns="0" tIns="0" rIns="0" bIns="0" rtlCol="0" anchor="ctr"/>
          <a:lstStyle/>
          <a:p>
            <a:pPr algn="r" indent="0" marL="0">
              <a:buNone/>
            </a:pPr>
            <a:r>
              <a:rPr lang="en-US" sz="1000" b="1" dirty="0">
                <a:solidFill>
                  <a:srgbClr val="3E6B8C"/>
                </a:solidFill>
                <a:latin typeface="Meiryo" pitchFamily="34" charset="0"/>
                <a:ea typeface="Meiryo" pitchFamily="34" charset="-122"/>
                <a:cs typeface="Meiryo" pitchFamily="34" charset="-120"/>
              </a:rPr>
              <a:t>10</a:t>
            </a:r>
            <a:endParaRPr lang="en-US" sz="1000" dirty="0"/>
          </a:p>
        </p:txBody>
      </p:sp>
      <p:sp>
        <p:nvSpPr>
          <p:cNvPr id="7" name="Shape 5"/>
          <p:cNvSpPr/>
          <p:nvPr/>
        </p:nvSpPr>
        <p:spPr>
          <a:xfrm>
            <a:off x="548640" y="1691640"/>
            <a:ext cx="3545738" cy="3886200"/>
          </a:xfrm>
          <a:prstGeom prst="roundRect">
            <a:avLst>
              <a:gd name="adj" fmla="val 1289"/>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8" name="Shape 6"/>
          <p:cNvSpPr/>
          <p:nvPr/>
        </p:nvSpPr>
        <p:spPr>
          <a:xfrm>
            <a:off x="548640" y="1691640"/>
            <a:ext cx="3545738" cy="731520"/>
          </a:xfrm>
          <a:prstGeom prst="roundRect">
            <a:avLst>
              <a:gd name="adj" fmla="val 6250"/>
            </a:avLst>
          </a:prstGeom>
          <a:solidFill>
            <a:srgbClr val="3E6B8C"/>
          </a:solidFill>
          <a:ln/>
        </p:spPr>
      </p:sp>
      <p:sp>
        <p:nvSpPr>
          <p:cNvPr id="9" name="Text 7"/>
          <p:cNvSpPr txBox="1"/>
          <p:nvPr/>
        </p:nvSpPr>
        <p:spPr>
          <a:xfrm>
            <a:off x="804672" y="1764792"/>
            <a:ext cx="3033674" cy="329184"/>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受講者ポータル</a:t>
            </a:r>
            <a:endParaRPr lang="en-US" sz="1450" dirty="0"/>
          </a:p>
        </p:txBody>
      </p:sp>
      <p:sp>
        <p:nvSpPr>
          <p:cNvPr id="10" name="Text 8"/>
          <p:cNvSpPr txBox="1"/>
          <p:nvPr/>
        </p:nvSpPr>
        <p:spPr>
          <a:xfrm>
            <a:off x="804672" y="2084832"/>
            <a:ext cx="3033674" cy="256032"/>
          </a:xfrm>
          <a:prstGeom prst="rect">
            <a:avLst/>
          </a:prstGeom>
          <a:noFill/>
          <a:ln/>
        </p:spPr>
        <p:txBody>
          <a:bodyPr wrap="square" lIns="0" tIns="0" rIns="0" bIns="0" rtlCol="0" anchor="ctr"/>
          <a:lstStyle/>
          <a:p>
            <a:pPr indent="0" marL="0">
              <a:buNone/>
            </a:pPr>
            <a:r>
              <a:rPr lang="en-US" sz="1000" dirty="0">
                <a:solidFill>
                  <a:srgbClr val="D2E0EA"/>
                </a:solidFill>
                <a:latin typeface="Meiryo" pitchFamily="34" charset="0"/>
                <a:ea typeface="Meiryo" pitchFamily="34" charset="-122"/>
                <a:cs typeface="Meiryo" pitchFamily="34" charset="-120"/>
              </a:rPr>
              <a:t>スマートフォン対応</a:t>
            </a:r>
            <a:endParaRPr lang="en-US" sz="1000" dirty="0"/>
          </a:p>
        </p:txBody>
      </p:sp>
      <p:sp>
        <p:nvSpPr>
          <p:cNvPr id="11" name="Shape 9"/>
          <p:cNvSpPr/>
          <p:nvPr/>
        </p:nvSpPr>
        <p:spPr>
          <a:xfrm>
            <a:off x="768096" y="2606040"/>
            <a:ext cx="3106826" cy="384048"/>
          </a:xfrm>
          <a:prstGeom prst="roundRect">
            <a:avLst>
              <a:gd name="adj" fmla="val 9524"/>
            </a:avLst>
          </a:prstGeom>
          <a:solidFill>
            <a:srgbClr val="F3F5F7"/>
          </a:solidFill>
          <a:ln/>
        </p:spPr>
      </p:sp>
      <p:sp>
        <p:nvSpPr>
          <p:cNvPr id="12" name="Text 10"/>
          <p:cNvSpPr txBox="1"/>
          <p:nvPr/>
        </p:nvSpPr>
        <p:spPr>
          <a:xfrm>
            <a:off x="914400" y="2606040"/>
            <a:ext cx="2905658" cy="384048"/>
          </a:xfrm>
          <a:prstGeom prst="rect">
            <a:avLst/>
          </a:prstGeom>
          <a:noFill/>
          <a:ln/>
        </p:spPr>
        <p:txBody>
          <a:bodyPr wrap="square" lIns="0" tIns="0" rIns="0" bIns="0" rtlCol="0" anchor="ctr"/>
          <a:lstStyle/>
          <a:p>
            <a:pPr indent="0" marL="0">
              <a:buNone/>
            </a:pPr>
            <a:r>
              <a:rPr lang="en-US" sz="1050" dirty="0">
                <a:solidFill>
                  <a:srgbClr val="1C2A38"/>
                </a:solidFill>
                <a:latin typeface="Meiryo" pitchFamily="34" charset="0"/>
                <a:ea typeface="Meiryo" pitchFamily="34" charset="-122"/>
                <a:cs typeface="Meiryo" pitchFamily="34" charset="-120"/>
              </a:rPr>
              <a:t>マイページ（受講状況の一覧）</a:t>
            </a:r>
            <a:endParaRPr lang="en-US" sz="1050" dirty="0"/>
          </a:p>
        </p:txBody>
      </p:sp>
      <p:sp>
        <p:nvSpPr>
          <p:cNvPr id="13" name="Shape 11"/>
          <p:cNvSpPr/>
          <p:nvPr/>
        </p:nvSpPr>
        <p:spPr>
          <a:xfrm>
            <a:off x="768096" y="3081528"/>
            <a:ext cx="3106826" cy="384048"/>
          </a:xfrm>
          <a:prstGeom prst="roundRect">
            <a:avLst>
              <a:gd name="adj" fmla="val 9524"/>
            </a:avLst>
          </a:prstGeom>
          <a:solidFill>
            <a:srgbClr val="F3F5F7"/>
          </a:solidFill>
          <a:ln/>
        </p:spPr>
      </p:sp>
      <p:sp>
        <p:nvSpPr>
          <p:cNvPr id="14" name="Text 12"/>
          <p:cNvSpPr txBox="1"/>
          <p:nvPr/>
        </p:nvSpPr>
        <p:spPr>
          <a:xfrm>
            <a:off x="914400" y="3081528"/>
            <a:ext cx="2905658" cy="384048"/>
          </a:xfrm>
          <a:prstGeom prst="rect">
            <a:avLst/>
          </a:prstGeom>
          <a:noFill/>
          <a:ln/>
        </p:spPr>
        <p:txBody>
          <a:bodyPr wrap="square" lIns="0" tIns="0" rIns="0" bIns="0" rtlCol="0" anchor="ctr"/>
          <a:lstStyle/>
          <a:p>
            <a:pPr indent="0" marL="0">
              <a:buNone/>
            </a:pPr>
            <a:r>
              <a:rPr lang="en-US" sz="1050" dirty="0">
                <a:solidFill>
                  <a:srgbClr val="1C2A38"/>
                </a:solidFill>
                <a:latin typeface="Meiryo" pitchFamily="34" charset="0"/>
                <a:ea typeface="Meiryo" pitchFamily="34" charset="-122"/>
                <a:cs typeface="Meiryo" pitchFamily="34" charset="-120"/>
              </a:rPr>
              <a:t>本人確認書類・顔写真の登録</a:t>
            </a:r>
            <a:endParaRPr lang="en-US" sz="1050" dirty="0"/>
          </a:p>
        </p:txBody>
      </p:sp>
      <p:sp>
        <p:nvSpPr>
          <p:cNvPr id="15" name="Shape 13"/>
          <p:cNvSpPr/>
          <p:nvPr/>
        </p:nvSpPr>
        <p:spPr>
          <a:xfrm>
            <a:off x="768096" y="3557016"/>
            <a:ext cx="3106826" cy="384048"/>
          </a:xfrm>
          <a:prstGeom prst="roundRect">
            <a:avLst>
              <a:gd name="adj" fmla="val 9524"/>
            </a:avLst>
          </a:prstGeom>
          <a:solidFill>
            <a:srgbClr val="F3F5F7"/>
          </a:solidFill>
          <a:ln/>
        </p:spPr>
      </p:sp>
      <p:sp>
        <p:nvSpPr>
          <p:cNvPr id="16" name="Text 14"/>
          <p:cNvSpPr txBox="1"/>
          <p:nvPr/>
        </p:nvSpPr>
        <p:spPr>
          <a:xfrm>
            <a:off x="914400" y="3557016"/>
            <a:ext cx="2905658" cy="384048"/>
          </a:xfrm>
          <a:prstGeom prst="rect">
            <a:avLst/>
          </a:prstGeom>
          <a:noFill/>
          <a:ln/>
        </p:spPr>
        <p:txBody>
          <a:bodyPr wrap="square" lIns="0" tIns="0" rIns="0" bIns="0" rtlCol="0" anchor="ctr"/>
          <a:lstStyle/>
          <a:p>
            <a:pPr indent="0" marL="0">
              <a:buNone/>
            </a:pPr>
            <a:r>
              <a:rPr lang="en-US" sz="1050" dirty="0">
                <a:solidFill>
                  <a:srgbClr val="1C2A38"/>
                </a:solidFill>
                <a:latin typeface="Meiryo" pitchFamily="34" charset="0"/>
                <a:ea typeface="Meiryo" pitchFamily="34" charset="-122"/>
                <a:cs typeface="Meiryo" pitchFamily="34" charset="-120"/>
              </a:rPr>
              <a:t>学科動画の視聴画面</a:t>
            </a:r>
            <a:endParaRPr lang="en-US" sz="1050" dirty="0"/>
          </a:p>
        </p:txBody>
      </p:sp>
      <p:sp>
        <p:nvSpPr>
          <p:cNvPr id="17" name="Shape 15"/>
          <p:cNvSpPr/>
          <p:nvPr/>
        </p:nvSpPr>
        <p:spPr>
          <a:xfrm>
            <a:off x="768096" y="4032504"/>
            <a:ext cx="3106826" cy="384048"/>
          </a:xfrm>
          <a:prstGeom prst="roundRect">
            <a:avLst>
              <a:gd name="adj" fmla="val 9524"/>
            </a:avLst>
          </a:prstGeom>
          <a:solidFill>
            <a:srgbClr val="F3F5F7"/>
          </a:solidFill>
          <a:ln/>
        </p:spPr>
      </p:sp>
      <p:sp>
        <p:nvSpPr>
          <p:cNvPr id="18" name="Text 16"/>
          <p:cNvSpPr txBox="1"/>
          <p:nvPr/>
        </p:nvSpPr>
        <p:spPr>
          <a:xfrm>
            <a:off x="914400" y="4032504"/>
            <a:ext cx="2905658" cy="384048"/>
          </a:xfrm>
          <a:prstGeom prst="rect">
            <a:avLst/>
          </a:prstGeom>
          <a:noFill/>
          <a:ln/>
        </p:spPr>
        <p:txBody>
          <a:bodyPr wrap="square" lIns="0" tIns="0" rIns="0" bIns="0" rtlCol="0" anchor="ctr"/>
          <a:lstStyle/>
          <a:p>
            <a:pPr indent="0" marL="0">
              <a:buNone/>
            </a:pPr>
            <a:r>
              <a:rPr lang="en-US" sz="1050" dirty="0">
                <a:solidFill>
                  <a:srgbClr val="1C2A38"/>
                </a:solidFill>
                <a:latin typeface="Meiryo" pitchFamily="34" charset="0"/>
                <a:ea typeface="Meiryo" pitchFamily="34" charset="-122"/>
                <a:cs typeface="Meiryo" pitchFamily="34" charset="-120"/>
              </a:rPr>
              <a:t>章末テスト・修了確認テスト</a:t>
            </a:r>
            <a:endParaRPr lang="en-US" sz="1050" dirty="0"/>
          </a:p>
        </p:txBody>
      </p:sp>
      <p:sp>
        <p:nvSpPr>
          <p:cNvPr id="19" name="Shape 17"/>
          <p:cNvSpPr/>
          <p:nvPr/>
        </p:nvSpPr>
        <p:spPr>
          <a:xfrm>
            <a:off x="768096" y="4507992"/>
            <a:ext cx="3106826" cy="384048"/>
          </a:xfrm>
          <a:prstGeom prst="roundRect">
            <a:avLst>
              <a:gd name="adj" fmla="val 9524"/>
            </a:avLst>
          </a:prstGeom>
          <a:solidFill>
            <a:srgbClr val="F3F5F7"/>
          </a:solidFill>
          <a:ln/>
        </p:spPr>
      </p:sp>
      <p:sp>
        <p:nvSpPr>
          <p:cNvPr id="20" name="Text 18"/>
          <p:cNvSpPr txBox="1"/>
          <p:nvPr/>
        </p:nvSpPr>
        <p:spPr>
          <a:xfrm>
            <a:off x="914400" y="4507992"/>
            <a:ext cx="2905658" cy="384048"/>
          </a:xfrm>
          <a:prstGeom prst="rect">
            <a:avLst/>
          </a:prstGeom>
          <a:noFill/>
          <a:ln/>
        </p:spPr>
        <p:txBody>
          <a:bodyPr wrap="square" lIns="0" tIns="0" rIns="0" bIns="0" rtlCol="0" anchor="ctr"/>
          <a:lstStyle/>
          <a:p>
            <a:pPr indent="0" marL="0">
              <a:buNone/>
            </a:pPr>
            <a:r>
              <a:rPr lang="en-US" sz="1050" dirty="0">
                <a:solidFill>
                  <a:srgbClr val="1C2A38"/>
                </a:solidFill>
                <a:latin typeface="Meiryo" pitchFamily="34" charset="0"/>
                <a:ea typeface="Meiryo" pitchFamily="34" charset="-122"/>
                <a:cs typeface="Meiryo" pitchFamily="34" charset="-120"/>
              </a:rPr>
              <a:t>実技日程の予約</a:t>
            </a:r>
            <a:endParaRPr lang="en-US" sz="1050" dirty="0"/>
          </a:p>
        </p:txBody>
      </p:sp>
      <p:sp>
        <p:nvSpPr>
          <p:cNvPr id="21" name="Shape 19"/>
          <p:cNvSpPr/>
          <p:nvPr/>
        </p:nvSpPr>
        <p:spPr>
          <a:xfrm>
            <a:off x="768096" y="4983480"/>
            <a:ext cx="3106826" cy="384048"/>
          </a:xfrm>
          <a:prstGeom prst="roundRect">
            <a:avLst>
              <a:gd name="adj" fmla="val 9524"/>
            </a:avLst>
          </a:prstGeom>
          <a:solidFill>
            <a:srgbClr val="F3F5F7"/>
          </a:solidFill>
          <a:ln/>
        </p:spPr>
      </p:sp>
      <p:sp>
        <p:nvSpPr>
          <p:cNvPr id="22" name="Text 20"/>
          <p:cNvSpPr txBox="1"/>
          <p:nvPr/>
        </p:nvSpPr>
        <p:spPr>
          <a:xfrm>
            <a:off x="914400" y="4983480"/>
            <a:ext cx="2905658" cy="384048"/>
          </a:xfrm>
          <a:prstGeom prst="rect">
            <a:avLst/>
          </a:prstGeom>
          <a:noFill/>
          <a:ln/>
        </p:spPr>
        <p:txBody>
          <a:bodyPr wrap="square" lIns="0" tIns="0" rIns="0" bIns="0" rtlCol="0" anchor="ctr"/>
          <a:lstStyle/>
          <a:p>
            <a:pPr indent="0" marL="0">
              <a:buNone/>
            </a:pPr>
            <a:r>
              <a:rPr lang="en-US" sz="1050" dirty="0">
                <a:solidFill>
                  <a:srgbClr val="1C2A38"/>
                </a:solidFill>
                <a:latin typeface="Meiryo" pitchFamily="34" charset="0"/>
                <a:ea typeface="Meiryo" pitchFamily="34" charset="-122"/>
                <a:cs typeface="Meiryo" pitchFamily="34" charset="-120"/>
              </a:rPr>
              <a:t>修了証のダウンロード</a:t>
            </a:r>
            <a:endParaRPr lang="en-US" sz="1050" dirty="0"/>
          </a:p>
        </p:txBody>
      </p:sp>
      <p:sp>
        <p:nvSpPr>
          <p:cNvPr id="23" name="Shape 21"/>
          <p:cNvSpPr/>
          <p:nvPr/>
        </p:nvSpPr>
        <p:spPr>
          <a:xfrm>
            <a:off x="4322978" y="1691640"/>
            <a:ext cx="3545738" cy="3886200"/>
          </a:xfrm>
          <a:prstGeom prst="roundRect">
            <a:avLst>
              <a:gd name="adj" fmla="val 1289"/>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24" name="Shape 22"/>
          <p:cNvSpPr/>
          <p:nvPr/>
        </p:nvSpPr>
        <p:spPr>
          <a:xfrm>
            <a:off x="4322978" y="1691640"/>
            <a:ext cx="3545738" cy="731520"/>
          </a:xfrm>
          <a:prstGeom prst="roundRect">
            <a:avLst>
              <a:gd name="adj" fmla="val 6250"/>
            </a:avLst>
          </a:prstGeom>
          <a:solidFill>
            <a:srgbClr val="3E6B8C"/>
          </a:solidFill>
          <a:ln/>
        </p:spPr>
      </p:sp>
      <p:sp>
        <p:nvSpPr>
          <p:cNvPr id="25" name="Text 23"/>
          <p:cNvSpPr txBox="1"/>
          <p:nvPr/>
        </p:nvSpPr>
        <p:spPr>
          <a:xfrm>
            <a:off x="4579010" y="1764792"/>
            <a:ext cx="3033674" cy="329184"/>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企業管理ポータル</a:t>
            </a:r>
            <a:endParaRPr lang="en-US" sz="1450" dirty="0"/>
          </a:p>
        </p:txBody>
      </p:sp>
      <p:sp>
        <p:nvSpPr>
          <p:cNvPr id="26" name="Text 24"/>
          <p:cNvSpPr txBox="1"/>
          <p:nvPr/>
        </p:nvSpPr>
        <p:spPr>
          <a:xfrm>
            <a:off x="4579010" y="2084832"/>
            <a:ext cx="3033674" cy="256032"/>
          </a:xfrm>
          <a:prstGeom prst="rect">
            <a:avLst/>
          </a:prstGeom>
          <a:noFill/>
          <a:ln/>
        </p:spPr>
        <p:txBody>
          <a:bodyPr wrap="square" lIns="0" tIns="0" rIns="0" bIns="0" rtlCol="0" anchor="ctr"/>
          <a:lstStyle/>
          <a:p>
            <a:pPr indent="0" marL="0">
              <a:buNone/>
            </a:pPr>
            <a:r>
              <a:rPr lang="en-US" sz="1000" dirty="0">
                <a:solidFill>
                  <a:srgbClr val="D2E0EA"/>
                </a:solidFill>
                <a:latin typeface="Meiryo" pitchFamily="34" charset="0"/>
                <a:ea typeface="Meiryo" pitchFamily="34" charset="-122"/>
                <a:cs typeface="Meiryo" pitchFamily="34" charset="-120"/>
              </a:rPr>
              <a:t>発注企業のご担当者向け</a:t>
            </a:r>
            <a:endParaRPr lang="en-US" sz="1000" dirty="0"/>
          </a:p>
        </p:txBody>
      </p:sp>
      <p:sp>
        <p:nvSpPr>
          <p:cNvPr id="27" name="Shape 25"/>
          <p:cNvSpPr/>
          <p:nvPr/>
        </p:nvSpPr>
        <p:spPr>
          <a:xfrm>
            <a:off x="4542434" y="2606040"/>
            <a:ext cx="3106826" cy="384048"/>
          </a:xfrm>
          <a:prstGeom prst="roundRect">
            <a:avLst>
              <a:gd name="adj" fmla="val 9524"/>
            </a:avLst>
          </a:prstGeom>
          <a:solidFill>
            <a:srgbClr val="F3F5F7"/>
          </a:solidFill>
          <a:ln/>
        </p:spPr>
      </p:sp>
      <p:sp>
        <p:nvSpPr>
          <p:cNvPr id="28" name="Text 26"/>
          <p:cNvSpPr txBox="1"/>
          <p:nvPr/>
        </p:nvSpPr>
        <p:spPr>
          <a:xfrm>
            <a:off x="4688738" y="2606040"/>
            <a:ext cx="2905658" cy="384048"/>
          </a:xfrm>
          <a:prstGeom prst="rect">
            <a:avLst/>
          </a:prstGeom>
          <a:noFill/>
          <a:ln/>
        </p:spPr>
        <p:txBody>
          <a:bodyPr wrap="square" lIns="0" tIns="0" rIns="0" bIns="0" rtlCol="0" anchor="ctr"/>
          <a:lstStyle/>
          <a:p>
            <a:pPr indent="0" marL="0">
              <a:buNone/>
            </a:pPr>
            <a:r>
              <a:rPr lang="en-US" sz="1050" dirty="0">
                <a:solidFill>
                  <a:srgbClr val="1C2A38"/>
                </a:solidFill>
                <a:latin typeface="Meiryo" pitchFamily="34" charset="0"/>
                <a:ea typeface="Meiryo" pitchFamily="34" charset="-122"/>
                <a:cs typeface="Meiryo" pitchFamily="34" charset="-120"/>
              </a:rPr>
              <a:t>従業員一覧の管理</a:t>
            </a:r>
            <a:endParaRPr lang="en-US" sz="1050" dirty="0"/>
          </a:p>
        </p:txBody>
      </p:sp>
      <p:sp>
        <p:nvSpPr>
          <p:cNvPr id="29" name="Shape 27"/>
          <p:cNvSpPr/>
          <p:nvPr/>
        </p:nvSpPr>
        <p:spPr>
          <a:xfrm>
            <a:off x="4542434" y="3081528"/>
            <a:ext cx="3106826" cy="384048"/>
          </a:xfrm>
          <a:prstGeom prst="roundRect">
            <a:avLst>
              <a:gd name="adj" fmla="val 9524"/>
            </a:avLst>
          </a:prstGeom>
          <a:solidFill>
            <a:srgbClr val="F3F5F7"/>
          </a:solidFill>
          <a:ln/>
        </p:spPr>
      </p:sp>
      <p:sp>
        <p:nvSpPr>
          <p:cNvPr id="30" name="Text 28"/>
          <p:cNvSpPr txBox="1"/>
          <p:nvPr/>
        </p:nvSpPr>
        <p:spPr>
          <a:xfrm>
            <a:off x="4688738" y="3081528"/>
            <a:ext cx="2905658" cy="384048"/>
          </a:xfrm>
          <a:prstGeom prst="rect">
            <a:avLst/>
          </a:prstGeom>
          <a:noFill/>
          <a:ln/>
        </p:spPr>
        <p:txBody>
          <a:bodyPr wrap="square" lIns="0" tIns="0" rIns="0" bIns="0" rtlCol="0" anchor="ctr"/>
          <a:lstStyle/>
          <a:p>
            <a:pPr indent="0" marL="0">
              <a:buNone/>
            </a:pPr>
            <a:r>
              <a:rPr lang="en-US" sz="1050" dirty="0">
                <a:solidFill>
                  <a:srgbClr val="1C2A38"/>
                </a:solidFill>
                <a:latin typeface="Meiryo" pitchFamily="34" charset="0"/>
                <a:ea typeface="Meiryo" pitchFamily="34" charset="-122"/>
                <a:cs typeface="Meiryo" pitchFamily="34" charset="-120"/>
              </a:rPr>
              <a:t>複数名の一括申込</a:t>
            </a:r>
            <a:endParaRPr lang="en-US" sz="1050" dirty="0"/>
          </a:p>
        </p:txBody>
      </p:sp>
      <p:sp>
        <p:nvSpPr>
          <p:cNvPr id="31" name="Shape 29"/>
          <p:cNvSpPr/>
          <p:nvPr/>
        </p:nvSpPr>
        <p:spPr>
          <a:xfrm>
            <a:off x="4542434" y="3557016"/>
            <a:ext cx="3106826" cy="384048"/>
          </a:xfrm>
          <a:prstGeom prst="roundRect">
            <a:avLst>
              <a:gd name="adj" fmla="val 9524"/>
            </a:avLst>
          </a:prstGeom>
          <a:solidFill>
            <a:srgbClr val="F3F5F7"/>
          </a:solidFill>
          <a:ln/>
        </p:spPr>
      </p:sp>
      <p:sp>
        <p:nvSpPr>
          <p:cNvPr id="32" name="Text 30"/>
          <p:cNvSpPr txBox="1"/>
          <p:nvPr/>
        </p:nvSpPr>
        <p:spPr>
          <a:xfrm>
            <a:off x="4688738" y="3557016"/>
            <a:ext cx="2905658" cy="384048"/>
          </a:xfrm>
          <a:prstGeom prst="rect">
            <a:avLst/>
          </a:prstGeom>
          <a:noFill/>
          <a:ln/>
        </p:spPr>
        <p:txBody>
          <a:bodyPr wrap="square" lIns="0" tIns="0" rIns="0" bIns="0" rtlCol="0" anchor="ctr"/>
          <a:lstStyle/>
          <a:p>
            <a:pPr indent="0" marL="0">
              <a:buNone/>
            </a:pPr>
            <a:r>
              <a:rPr lang="en-US" sz="1050" dirty="0">
                <a:solidFill>
                  <a:srgbClr val="1C2A38"/>
                </a:solidFill>
                <a:latin typeface="Meiryo" pitchFamily="34" charset="0"/>
                <a:ea typeface="Meiryo" pitchFamily="34" charset="-122"/>
                <a:cs typeface="Meiryo" pitchFamily="34" charset="-120"/>
              </a:rPr>
              <a:t>受講進捗のリアルタイム確認</a:t>
            </a:r>
            <a:endParaRPr lang="en-US" sz="1050" dirty="0"/>
          </a:p>
        </p:txBody>
      </p:sp>
      <p:sp>
        <p:nvSpPr>
          <p:cNvPr id="33" name="Shape 31"/>
          <p:cNvSpPr/>
          <p:nvPr/>
        </p:nvSpPr>
        <p:spPr>
          <a:xfrm>
            <a:off x="4542434" y="4032504"/>
            <a:ext cx="3106826" cy="384048"/>
          </a:xfrm>
          <a:prstGeom prst="roundRect">
            <a:avLst>
              <a:gd name="adj" fmla="val 9524"/>
            </a:avLst>
          </a:prstGeom>
          <a:solidFill>
            <a:srgbClr val="F3F5F7"/>
          </a:solidFill>
          <a:ln/>
        </p:spPr>
      </p:sp>
      <p:sp>
        <p:nvSpPr>
          <p:cNvPr id="34" name="Text 32"/>
          <p:cNvSpPr txBox="1"/>
          <p:nvPr/>
        </p:nvSpPr>
        <p:spPr>
          <a:xfrm>
            <a:off x="4688738" y="4032504"/>
            <a:ext cx="2905658" cy="384048"/>
          </a:xfrm>
          <a:prstGeom prst="rect">
            <a:avLst/>
          </a:prstGeom>
          <a:noFill/>
          <a:ln/>
        </p:spPr>
        <p:txBody>
          <a:bodyPr wrap="square" lIns="0" tIns="0" rIns="0" bIns="0" rtlCol="0" anchor="ctr"/>
          <a:lstStyle/>
          <a:p>
            <a:pPr indent="0" marL="0">
              <a:buNone/>
            </a:pPr>
            <a:r>
              <a:rPr lang="en-US" sz="1050" dirty="0">
                <a:solidFill>
                  <a:srgbClr val="1C2A38"/>
                </a:solidFill>
                <a:latin typeface="Meiryo" pitchFamily="34" charset="0"/>
                <a:ea typeface="Meiryo" pitchFamily="34" charset="-122"/>
                <a:cs typeface="Meiryo" pitchFamily="34" charset="-120"/>
              </a:rPr>
              <a:t>修了者一覧のCSV出力</a:t>
            </a:r>
            <a:endParaRPr lang="en-US" sz="1050" dirty="0"/>
          </a:p>
        </p:txBody>
      </p:sp>
      <p:sp>
        <p:nvSpPr>
          <p:cNvPr id="35" name="Shape 33"/>
          <p:cNvSpPr/>
          <p:nvPr/>
        </p:nvSpPr>
        <p:spPr>
          <a:xfrm>
            <a:off x="4542434" y="4507992"/>
            <a:ext cx="3106826" cy="384048"/>
          </a:xfrm>
          <a:prstGeom prst="roundRect">
            <a:avLst>
              <a:gd name="adj" fmla="val 9524"/>
            </a:avLst>
          </a:prstGeom>
          <a:solidFill>
            <a:srgbClr val="F3F5F7"/>
          </a:solidFill>
          <a:ln/>
        </p:spPr>
      </p:sp>
      <p:sp>
        <p:nvSpPr>
          <p:cNvPr id="36" name="Text 34"/>
          <p:cNvSpPr txBox="1"/>
          <p:nvPr/>
        </p:nvSpPr>
        <p:spPr>
          <a:xfrm>
            <a:off x="4688738" y="4507992"/>
            <a:ext cx="2905658" cy="384048"/>
          </a:xfrm>
          <a:prstGeom prst="rect">
            <a:avLst/>
          </a:prstGeom>
          <a:noFill/>
          <a:ln/>
        </p:spPr>
        <p:txBody>
          <a:bodyPr wrap="square" lIns="0" tIns="0" rIns="0" bIns="0" rtlCol="0" anchor="ctr"/>
          <a:lstStyle/>
          <a:p>
            <a:pPr indent="0" marL="0">
              <a:buNone/>
            </a:pPr>
            <a:r>
              <a:rPr lang="en-US" sz="1050" dirty="0">
                <a:solidFill>
                  <a:srgbClr val="1C2A38"/>
                </a:solidFill>
                <a:latin typeface="Meiryo" pitchFamily="34" charset="0"/>
                <a:ea typeface="Meiryo" pitchFamily="34" charset="-122"/>
                <a:cs typeface="Meiryo" pitchFamily="34" charset="-120"/>
              </a:rPr>
              <a:t>請求書・領収書の確認</a:t>
            </a:r>
            <a:endParaRPr lang="en-US" sz="1050" dirty="0"/>
          </a:p>
        </p:txBody>
      </p:sp>
      <p:sp>
        <p:nvSpPr>
          <p:cNvPr id="37" name="Shape 35"/>
          <p:cNvSpPr/>
          <p:nvPr/>
        </p:nvSpPr>
        <p:spPr>
          <a:xfrm>
            <a:off x="4542434" y="4983480"/>
            <a:ext cx="3106826" cy="384048"/>
          </a:xfrm>
          <a:prstGeom prst="roundRect">
            <a:avLst>
              <a:gd name="adj" fmla="val 9524"/>
            </a:avLst>
          </a:prstGeom>
          <a:solidFill>
            <a:srgbClr val="F3F5F7"/>
          </a:solidFill>
          <a:ln/>
        </p:spPr>
      </p:sp>
      <p:sp>
        <p:nvSpPr>
          <p:cNvPr id="38" name="Text 36"/>
          <p:cNvSpPr txBox="1"/>
          <p:nvPr/>
        </p:nvSpPr>
        <p:spPr>
          <a:xfrm>
            <a:off x="4688738" y="4983480"/>
            <a:ext cx="2905658" cy="384048"/>
          </a:xfrm>
          <a:prstGeom prst="rect">
            <a:avLst/>
          </a:prstGeom>
          <a:noFill/>
          <a:ln/>
        </p:spPr>
        <p:txBody>
          <a:bodyPr wrap="square" lIns="0" tIns="0" rIns="0" bIns="0" rtlCol="0" anchor="ctr"/>
          <a:lstStyle/>
          <a:p>
            <a:pPr indent="0" marL="0">
              <a:buNone/>
            </a:pPr>
            <a:r>
              <a:rPr lang="en-US" sz="1050" dirty="0">
                <a:solidFill>
                  <a:srgbClr val="1C2A38"/>
                </a:solidFill>
                <a:latin typeface="Meiryo" pitchFamily="34" charset="0"/>
                <a:ea typeface="Meiryo" pitchFamily="34" charset="-122"/>
                <a:cs typeface="Meiryo" pitchFamily="34" charset="-120"/>
              </a:rPr>
              <a:t>追加受講の申込</a:t>
            </a:r>
            <a:endParaRPr lang="en-US" sz="1050" dirty="0"/>
          </a:p>
        </p:txBody>
      </p:sp>
      <p:sp>
        <p:nvSpPr>
          <p:cNvPr id="39" name="Shape 37"/>
          <p:cNvSpPr/>
          <p:nvPr/>
        </p:nvSpPr>
        <p:spPr>
          <a:xfrm>
            <a:off x="8097317" y="1691640"/>
            <a:ext cx="3545738" cy="3886200"/>
          </a:xfrm>
          <a:prstGeom prst="roundRect">
            <a:avLst>
              <a:gd name="adj" fmla="val 1289"/>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40" name="Shape 38"/>
          <p:cNvSpPr/>
          <p:nvPr/>
        </p:nvSpPr>
        <p:spPr>
          <a:xfrm>
            <a:off x="8097317" y="1691640"/>
            <a:ext cx="3545738" cy="731520"/>
          </a:xfrm>
          <a:prstGeom prst="roundRect">
            <a:avLst>
              <a:gd name="adj" fmla="val 6250"/>
            </a:avLst>
          </a:prstGeom>
          <a:solidFill>
            <a:srgbClr val="16324F"/>
          </a:solidFill>
          <a:ln/>
        </p:spPr>
      </p:sp>
      <p:sp>
        <p:nvSpPr>
          <p:cNvPr id="41" name="Text 39"/>
          <p:cNvSpPr txBox="1"/>
          <p:nvPr/>
        </p:nvSpPr>
        <p:spPr>
          <a:xfrm>
            <a:off x="8353349" y="1764792"/>
            <a:ext cx="3033674" cy="329184"/>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運営管理画面</a:t>
            </a:r>
            <a:endParaRPr lang="en-US" sz="1450" dirty="0"/>
          </a:p>
        </p:txBody>
      </p:sp>
      <p:sp>
        <p:nvSpPr>
          <p:cNvPr id="42" name="Text 40"/>
          <p:cNvSpPr txBox="1"/>
          <p:nvPr/>
        </p:nvSpPr>
        <p:spPr>
          <a:xfrm>
            <a:off x="8353349" y="2084832"/>
            <a:ext cx="3033674" cy="256032"/>
          </a:xfrm>
          <a:prstGeom prst="rect">
            <a:avLst/>
          </a:prstGeom>
          <a:noFill/>
          <a:ln/>
        </p:spPr>
        <p:txBody>
          <a:bodyPr wrap="square" lIns="0" tIns="0" rIns="0" bIns="0" rtlCol="0" anchor="ctr"/>
          <a:lstStyle/>
          <a:p>
            <a:pPr indent="0" marL="0">
              <a:buNone/>
            </a:pPr>
            <a:r>
              <a:rPr lang="en-US" sz="1000" dirty="0">
                <a:solidFill>
                  <a:srgbClr val="D2E0EA"/>
                </a:solidFill>
                <a:latin typeface="Meiryo" pitchFamily="34" charset="0"/>
                <a:ea typeface="Meiryo" pitchFamily="34" charset="-122"/>
                <a:cs typeface="Meiryo" pitchFamily="34" charset="-120"/>
              </a:rPr>
              <a:t>聖建様向け</a:t>
            </a:r>
            <a:endParaRPr lang="en-US" sz="1000" dirty="0"/>
          </a:p>
        </p:txBody>
      </p:sp>
      <p:sp>
        <p:nvSpPr>
          <p:cNvPr id="43" name="Shape 41"/>
          <p:cNvSpPr/>
          <p:nvPr/>
        </p:nvSpPr>
        <p:spPr>
          <a:xfrm>
            <a:off x="8316773" y="2606040"/>
            <a:ext cx="3106826" cy="384048"/>
          </a:xfrm>
          <a:prstGeom prst="roundRect">
            <a:avLst>
              <a:gd name="adj" fmla="val 9524"/>
            </a:avLst>
          </a:prstGeom>
          <a:solidFill>
            <a:srgbClr val="F3F5F7"/>
          </a:solidFill>
          <a:ln/>
        </p:spPr>
      </p:sp>
      <p:sp>
        <p:nvSpPr>
          <p:cNvPr id="44" name="Text 42"/>
          <p:cNvSpPr txBox="1"/>
          <p:nvPr/>
        </p:nvSpPr>
        <p:spPr>
          <a:xfrm>
            <a:off x="8463077" y="2606040"/>
            <a:ext cx="2905658" cy="384048"/>
          </a:xfrm>
          <a:prstGeom prst="rect">
            <a:avLst/>
          </a:prstGeom>
          <a:noFill/>
          <a:ln/>
        </p:spPr>
        <p:txBody>
          <a:bodyPr wrap="square" lIns="0" tIns="0" rIns="0" bIns="0" rtlCol="0" anchor="ctr"/>
          <a:lstStyle/>
          <a:p>
            <a:pPr indent="0" marL="0">
              <a:buNone/>
            </a:pPr>
            <a:r>
              <a:rPr lang="en-US" sz="1050" dirty="0">
                <a:solidFill>
                  <a:srgbClr val="1C2A38"/>
                </a:solidFill>
                <a:latin typeface="Meiryo" pitchFamily="34" charset="0"/>
                <a:ea typeface="Meiryo" pitchFamily="34" charset="-122"/>
                <a:cs typeface="Meiryo" pitchFamily="34" charset="-120"/>
              </a:rPr>
              <a:t>本人確認の承認キュー</a:t>
            </a:r>
            <a:endParaRPr lang="en-US" sz="1050" dirty="0"/>
          </a:p>
        </p:txBody>
      </p:sp>
      <p:sp>
        <p:nvSpPr>
          <p:cNvPr id="45" name="Shape 43"/>
          <p:cNvSpPr/>
          <p:nvPr/>
        </p:nvSpPr>
        <p:spPr>
          <a:xfrm>
            <a:off x="8316773" y="3081528"/>
            <a:ext cx="3106826" cy="384048"/>
          </a:xfrm>
          <a:prstGeom prst="roundRect">
            <a:avLst>
              <a:gd name="adj" fmla="val 9524"/>
            </a:avLst>
          </a:prstGeom>
          <a:solidFill>
            <a:srgbClr val="F3F5F7"/>
          </a:solidFill>
          <a:ln/>
        </p:spPr>
      </p:sp>
      <p:sp>
        <p:nvSpPr>
          <p:cNvPr id="46" name="Text 44"/>
          <p:cNvSpPr txBox="1"/>
          <p:nvPr/>
        </p:nvSpPr>
        <p:spPr>
          <a:xfrm>
            <a:off x="8463077" y="3081528"/>
            <a:ext cx="2905658" cy="384048"/>
          </a:xfrm>
          <a:prstGeom prst="rect">
            <a:avLst/>
          </a:prstGeom>
          <a:noFill/>
          <a:ln/>
        </p:spPr>
        <p:txBody>
          <a:bodyPr wrap="square" lIns="0" tIns="0" rIns="0" bIns="0" rtlCol="0" anchor="ctr"/>
          <a:lstStyle/>
          <a:p>
            <a:pPr indent="0" marL="0">
              <a:buNone/>
            </a:pPr>
            <a:r>
              <a:rPr lang="en-US" sz="1050" dirty="0">
                <a:solidFill>
                  <a:srgbClr val="1C2A38"/>
                </a:solidFill>
                <a:latin typeface="Meiryo" pitchFamily="34" charset="0"/>
                <a:ea typeface="Meiryo" pitchFamily="34" charset="-122"/>
                <a:cs typeface="Meiryo" pitchFamily="34" charset="-120"/>
              </a:rPr>
              <a:t>顔照合アラートの確認</a:t>
            </a:r>
            <a:endParaRPr lang="en-US" sz="1050" dirty="0"/>
          </a:p>
        </p:txBody>
      </p:sp>
      <p:sp>
        <p:nvSpPr>
          <p:cNvPr id="47" name="Shape 45"/>
          <p:cNvSpPr/>
          <p:nvPr/>
        </p:nvSpPr>
        <p:spPr>
          <a:xfrm>
            <a:off x="8316773" y="3557016"/>
            <a:ext cx="3106826" cy="384048"/>
          </a:xfrm>
          <a:prstGeom prst="roundRect">
            <a:avLst>
              <a:gd name="adj" fmla="val 9524"/>
            </a:avLst>
          </a:prstGeom>
          <a:solidFill>
            <a:srgbClr val="F3F5F7"/>
          </a:solidFill>
          <a:ln/>
        </p:spPr>
      </p:sp>
      <p:sp>
        <p:nvSpPr>
          <p:cNvPr id="48" name="Text 46"/>
          <p:cNvSpPr txBox="1"/>
          <p:nvPr/>
        </p:nvSpPr>
        <p:spPr>
          <a:xfrm>
            <a:off x="8463077" y="3557016"/>
            <a:ext cx="2905658" cy="384048"/>
          </a:xfrm>
          <a:prstGeom prst="rect">
            <a:avLst/>
          </a:prstGeom>
          <a:noFill/>
          <a:ln/>
        </p:spPr>
        <p:txBody>
          <a:bodyPr wrap="square" lIns="0" tIns="0" rIns="0" bIns="0" rtlCol="0" anchor="ctr"/>
          <a:lstStyle/>
          <a:p>
            <a:pPr indent="0" marL="0">
              <a:buNone/>
            </a:pPr>
            <a:r>
              <a:rPr lang="en-US" sz="1050" dirty="0">
                <a:solidFill>
                  <a:srgbClr val="1C2A38"/>
                </a:solidFill>
                <a:latin typeface="Meiryo" pitchFamily="34" charset="0"/>
                <a:ea typeface="Meiryo" pitchFamily="34" charset="-122"/>
                <a:cs typeface="Meiryo" pitchFamily="34" charset="-120"/>
              </a:rPr>
              <a:t>受講ログの照会・出力</a:t>
            </a:r>
            <a:endParaRPr lang="en-US" sz="1050" dirty="0"/>
          </a:p>
        </p:txBody>
      </p:sp>
      <p:sp>
        <p:nvSpPr>
          <p:cNvPr id="49" name="Shape 47"/>
          <p:cNvSpPr/>
          <p:nvPr/>
        </p:nvSpPr>
        <p:spPr>
          <a:xfrm>
            <a:off x="8316773" y="4032504"/>
            <a:ext cx="3106826" cy="384048"/>
          </a:xfrm>
          <a:prstGeom prst="roundRect">
            <a:avLst>
              <a:gd name="adj" fmla="val 9524"/>
            </a:avLst>
          </a:prstGeom>
          <a:solidFill>
            <a:srgbClr val="F3F5F7"/>
          </a:solidFill>
          <a:ln/>
        </p:spPr>
      </p:sp>
      <p:sp>
        <p:nvSpPr>
          <p:cNvPr id="50" name="Text 48"/>
          <p:cNvSpPr txBox="1"/>
          <p:nvPr/>
        </p:nvSpPr>
        <p:spPr>
          <a:xfrm>
            <a:off x="8463077" y="4032504"/>
            <a:ext cx="2905658" cy="384048"/>
          </a:xfrm>
          <a:prstGeom prst="rect">
            <a:avLst/>
          </a:prstGeom>
          <a:noFill/>
          <a:ln/>
        </p:spPr>
        <p:txBody>
          <a:bodyPr wrap="square" lIns="0" tIns="0" rIns="0" bIns="0" rtlCol="0" anchor="ctr"/>
          <a:lstStyle/>
          <a:p>
            <a:pPr indent="0" marL="0">
              <a:buNone/>
            </a:pPr>
            <a:r>
              <a:rPr lang="en-US" sz="1050" dirty="0">
                <a:solidFill>
                  <a:srgbClr val="1C2A38"/>
                </a:solidFill>
                <a:latin typeface="Meiryo" pitchFamily="34" charset="0"/>
                <a:ea typeface="Meiryo" pitchFamily="34" charset="-122"/>
                <a:cs typeface="Meiryo" pitchFamily="34" charset="-120"/>
              </a:rPr>
              <a:t>実技日程と出欠の管理</a:t>
            </a:r>
            <a:endParaRPr lang="en-US" sz="1050" dirty="0"/>
          </a:p>
        </p:txBody>
      </p:sp>
      <p:sp>
        <p:nvSpPr>
          <p:cNvPr id="51" name="Shape 49"/>
          <p:cNvSpPr/>
          <p:nvPr/>
        </p:nvSpPr>
        <p:spPr>
          <a:xfrm>
            <a:off x="8316773" y="4507992"/>
            <a:ext cx="3106826" cy="384048"/>
          </a:xfrm>
          <a:prstGeom prst="roundRect">
            <a:avLst>
              <a:gd name="adj" fmla="val 9524"/>
            </a:avLst>
          </a:prstGeom>
          <a:solidFill>
            <a:srgbClr val="F3F5F7"/>
          </a:solidFill>
          <a:ln/>
        </p:spPr>
      </p:sp>
      <p:sp>
        <p:nvSpPr>
          <p:cNvPr id="52" name="Text 50"/>
          <p:cNvSpPr txBox="1"/>
          <p:nvPr/>
        </p:nvSpPr>
        <p:spPr>
          <a:xfrm>
            <a:off x="8463077" y="4507992"/>
            <a:ext cx="2905658" cy="384048"/>
          </a:xfrm>
          <a:prstGeom prst="rect">
            <a:avLst/>
          </a:prstGeom>
          <a:noFill/>
          <a:ln/>
        </p:spPr>
        <p:txBody>
          <a:bodyPr wrap="square" lIns="0" tIns="0" rIns="0" bIns="0" rtlCol="0" anchor="ctr"/>
          <a:lstStyle/>
          <a:p>
            <a:pPr indent="0" marL="0">
              <a:buNone/>
            </a:pPr>
            <a:r>
              <a:rPr lang="en-US" sz="1050" dirty="0">
                <a:solidFill>
                  <a:srgbClr val="1C2A38"/>
                </a:solidFill>
                <a:latin typeface="Meiryo" pitchFamily="34" charset="0"/>
                <a:ea typeface="Meiryo" pitchFamily="34" charset="-122"/>
                <a:cs typeface="Meiryo" pitchFamily="34" charset="-120"/>
              </a:rPr>
              <a:t>修了証の発行・再発行</a:t>
            </a:r>
            <a:endParaRPr lang="en-US" sz="1050" dirty="0"/>
          </a:p>
        </p:txBody>
      </p:sp>
      <p:sp>
        <p:nvSpPr>
          <p:cNvPr id="53" name="Shape 51"/>
          <p:cNvSpPr/>
          <p:nvPr/>
        </p:nvSpPr>
        <p:spPr>
          <a:xfrm>
            <a:off x="8316773" y="4983480"/>
            <a:ext cx="3106826" cy="384048"/>
          </a:xfrm>
          <a:prstGeom prst="roundRect">
            <a:avLst>
              <a:gd name="adj" fmla="val 9524"/>
            </a:avLst>
          </a:prstGeom>
          <a:solidFill>
            <a:srgbClr val="F3F5F7"/>
          </a:solidFill>
          <a:ln/>
        </p:spPr>
      </p:sp>
      <p:sp>
        <p:nvSpPr>
          <p:cNvPr id="54" name="Text 52"/>
          <p:cNvSpPr txBox="1"/>
          <p:nvPr/>
        </p:nvSpPr>
        <p:spPr>
          <a:xfrm>
            <a:off x="8463077" y="4983480"/>
            <a:ext cx="2905658" cy="384048"/>
          </a:xfrm>
          <a:prstGeom prst="rect">
            <a:avLst/>
          </a:prstGeom>
          <a:noFill/>
          <a:ln/>
        </p:spPr>
        <p:txBody>
          <a:bodyPr wrap="square" lIns="0" tIns="0" rIns="0" bIns="0" rtlCol="0" anchor="ctr"/>
          <a:lstStyle/>
          <a:p>
            <a:pPr indent="0" marL="0">
              <a:buNone/>
            </a:pPr>
            <a:r>
              <a:rPr lang="en-US" sz="1050" dirty="0">
                <a:solidFill>
                  <a:srgbClr val="1C2A38"/>
                </a:solidFill>
                <a:latin typeface="Meiryo" pitchFamily="34" charset="0"/>
                <a:ea typeface="Meiryo" pitchFamily="34" charset="-122"/>
                <a:cs typeface="Meiryo" pitchFamily="34" charset="-120"/>
              </a:rPr>
              <a:t>売上・入金の管理</a:t>
            </a:r>
            <a:endParaRPr lang="en-US" sz="1050" dirty="0"/>
          </a:p>
        </p:txBody>
      </p:sp>
      <p:sp>
        <p:nvSpPr>
          <p:cNvPr id="55" name="Text 53"/>
          <p:cNvSpPr txBox="1"/>
          <p:nvPr/>
        </p:nvSpPr>
        <p:spPr>
          <a:xfrm>
            <a:off x="548640" y="5715000"/>
            <a:ext cx="11094415" cy="274320"/>
          </a:xfrm>
          <a:prstGeom prst="rect">
            <a:avLst/>
          </a:prstGeom>
          <a:noFill/>
          <a:ln/>
        </p:spPr>
        <p:txBody>
          <a:bodyPr wrap="square" lIns="0" tIns="0" rIns="0" bIns="0" rtlCol="0" anchor="ctr"/>
          <a:lstStyle/>
          <a:p>
            <a:pPr indent="0" marL="0">
              <a:buNone/>
            </a:pPr>
            <a:r>
              <a:rPr lang="en-US" sz="1050" dirty="0">
                <a:solidFill>
                  <a:srgbClr val="6B7B8A"/>
                </a:solidFill>
                <a:latin typeface="Meiryo" pitchFamily="34" charset="0"/>
                <a:ea typeface="Meiryo" pitchFamily="34" charset="-122"/>
                <a:cs typeface="Meiryo" pitchFamily="34" charset="-120"/>
              </a:rPr>
              <a:t>※ 本ページは機能構成のイメージです。実際の画面デザイン・項目はフェーズ0（要件定義）で確定します。</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5F7"/>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indent="0" marL="0">
              <a:buNone/>
            </a:pPr>
            <a:r>
              <a:rPr lang="en-US" sz="1100" b="1" spc="150" kern="0" dirty="0">
                <a:solidFill>
                  <a:srgbClr val="B87400"/>
                </a:solidFill>
                <a:latin typeface="Meiryo" pitchFamily="34" charset="0"/>
                <a:ea typeface="Meiryo" pitchFamily="34" charset="-122"/>
                <a:cs typeface="Meiryo" pitchFamily="34" charset="-120"/>
              </a:rPr>
              <a:t>VALUE</a:t>
            </a:r>
            <a:endParaRPr lang="en-US" sz="1100" dirty="0"/>
          </a:p>
        </p:txBody>
      </p:sp>
      <p:sp>
        <p:nvSpPr>
          <p:cNvPr id="3" name="Text 1"/>
          <p:cNvSpPr txBox="1"/>
          <p:nvPr/>
        </p:nvSpPr>
        <p:spPr>
          <a:xfrm>
            <a:off x="548640" y="603504"/>
            <a:ext cx="11094415" cy="548640"/>
          </a:xfrm>
          <a:prstGeom prst="rect">
            <a:avLst/>
          </a:prstGeom>
          <a:noFill/>
          <a:ln/>
        </p:spPr>
        <p:txBody>
          <a:bodyPr wrap="square" lIns="0" tIns="0" rIns="0" bIns="0" rtlCol="0" anchor="ctr"/>
          <a:lstStyle/>
          <a:p>
            <a:pPr indent="0" marL="0">
              <a:buNone/>
            </a:pPr>
            <a:r>
              <a:rPr lang="en-US" sz="2700" b="1" dirty="0">
                <a:solidFill>
                  <a:srgbClr val="16324F"/>
                </a:solidFill>
                <a:latin typeface="Meiryo" pitchFamily="34" charset="0"/>
                <a:ea typeface="Meiryo" pitchFamily="34" charset="-122"/>
                <a:cs typeface="Meiryo" pitchFamily="34" charset="-120"/>
              </a:rPr>
              <a:t>「本当に受講したのか」に、証拠で答える</a:t>
            </a:r>
            <a:endParaRPr lang="en-US" sz="2700" dirty="0"/>
          </a:p>
        </p:txBody>
      </p:sp>
      <p:sp>
        <p:nvSpPr>
          <p:cNvPr id="4" name="Text 2"/>
          <p:cNvSpPr txBox="1"/>
          <p:nvPr/>
        </p:nvSpPr>
        <p:spPr>
          <a:xfrm>
            <a:off x="548640" y="1188720"/>
            <a:ext cx="11094415" cy="329184"/>
          </a:xfrm>
          <a:prstGeom prst="rect">
            <a:avLst/>
          </a:prstGeom>
          <a:noFill/>
          <a:ln/>
        </p:spPr>
        <p:txBody>
          <a:bodyPr wrap="square" lIns="0" tIns="0" rIns="0" bIns="0" rtlCol="0" anchor="ctr"/>
          <a:lstStyle/>
          <a:p>
            <a:pPr indent="0" marL="0">
              <a:buNone/>
            </a:pPr>
            <a:r>
              <a:rPr lang="en-US" sz="1250" dirty="0">
                <a:solidFill>
                  <a:srgbClr val="6B7B8A"/>
                </a:solidFill>
                <a:latin typeface="Meiryo" pitchFamily="34" charset="0"/>
                <a:ea typeface="Meiryo" pitchFamily="34" charset="-122"/>
                <a:cs typeface="Meiryo" pitchFamily="34" charset="-120"/>
              </a:rPr>
              <a:t>受講確認の仕組みは、そのまま聖建様の営業材料になります。</a:t>
            </a:r>
            <a:endParaRPr lang="en-US" sz="1250" dirty="0"/>
          </a:p>
        </p:txBody>
      </p:sp>
      <p:sp>
        <p:nvSpPr>
          <p:cNvPr id="5" name="Text 3"/>
          <p:cNvSpPr txBox="1"/>
          <p:nvPr/>
        </p:nvSpPr>
        <p:spPr>
          <a:xfrm>
            <a:off x="548640" y="6382512"/>
            <a:ext cx="8686800" cy="256032"/>
          </a:xfrm>
          <a:prstGeom prst="rect">
            <a:avLst/>
          </a:prstGeom>
          <a:noFill/>
          <a:ln/>
        </p:spPr>
        <p:txBody>
          <a:bodyPr wrap="square" lIns="0" tIns="0" rIns="0" bIns="0" rtlCol="0" anchor="ctr"/>
          <a:lstStyle/>
          <a:p>
            <a:pPr indent="0" marL="0">
              <a:buNone/>
            </a:pPr>
            <a:r>
              <a:rPr lang="en-US" sz="900" dirty="0">
                <a:solidFill>
                  <a:srgbClr val="6B7B8A"/>
                </a:solidFill>
                <a:latin typeface="Meiryo" pitchFamily="34" charset="0"/>
                <a:ea typeface="Meiryo" pitchFamily="34" charset="-122"/>
                <a:cs typeface="Meiryo" pitchFamily="34" charset="-120"/>
              </a:rPr>
              <a:t>株式会社聖建 御中 ｜ 建設業 特別教育 オンライン受講プラットフォーム ご提案</a:t>
            </a:r>
            <a:endParaRPr lang="en-US" sz="900" dirty="0"/>
          </a:p>
        </p:txBody>
      </p:sp>
      <p:sp>
        <p:nvSpPr>
          <p:cNvPr id="6" name="Text 4"/>
          <p:cNvSpPr txBox="1"/>
          <p:nvPr/>
        </p:nvSpPr>
        <p:spPr>
          <a:xfrm>
            <a:off x="11002975" y="6382512"/>
            <a:ext cx="640080" cy="256032"/>
          </a:xfrm>
          <a:prstGeom prst="rect">
            <a:avLst/>
          </a:prstGeom>
          <a:noFill/>
          <a:ln/>
        </p:spPr>
        <p:txBody>
          <a:bodyPr wrap="square" lIns="0" tIns="0" rIns="0" bIns="0" rtlCol="0" anchor="ctr"/>
          <a:lstStyle/>
          <a:p>
            <a:pPr algn="r" indent="0" marL="0">
              <a:buNone/>
            </a:pPr>
            <a:r>
              <a:rPr lang="en-US" sz="1000" b="1" dirty="0">
                <a:solidFill>
                  <a:srgbClr val="3E6B8C"/>
                </a:solidFill>
                <a:latin typeface="Meiryo" pitchFamily="34" charset="0"/>
                <a:ea typeface="Meiryo" pitchFamily="34" charset="-122"/>
                <a:cs typeface="Meiryo" pitchFamily="34" charset="-120"/>
              </a:rPr>
              <a:t>11</a:t>
            </a:r>
            <a:endParaRPr lang="en-US" sz="1000" dirty="0"/>
          </a:p>
        </p:txBody>
      </p:sp>
      <p:sp>
        <p:nvSpPr>
          <p:cNvPr id="7" name="Shape 5"/>
          <p:cNvSpPr/>
          <p:nvPr/>
        </p:nvSpPr>
        <p:spPr>
          <a:xfrm>
            <a:off x="548640" y="1691640"/>
            <a:ext cx="11094415" cy="822960"/>
          </a:xfrm>
          <a:prstGeom prst="roundRect">
            <a:avLst>
              <a:gd name="adj" fmla="val 5556"/>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8" name="Shape 6"/>
          <p:cNvSpPr/>
          <p:nvPr/>
        </p:nvSpPr>
        <p:spPr>
          <a:xfrm>
            <a:off x="822960" y="1865376"/>
            <a:ext cx="475488" cy="475488"/>
          </a:xfrm>
          <a:prstGeom prst="ellipse">
            <a:avLst/>
          </a:prstGeom>
          <a:solidFill>
            <a:srgbClr val="16324F"/>
          </a:solidFill>
          <a:ln/>
        </p:spPr>
      </p:sp>
      <p:sp>
        <p:nvSpPr>
          <p:cNvPr id="9" name="Text 7"/>
          <p:cNvSpPr txBox="1"/>
          <p:nvPr/>
        </p:nvSpPr>
        <p:spPr>
          <a:xfrm>
            <a:off x="822960" y="1865376"/>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10" name="Text 8"/>
          <p:cNvSpPr txBox="1"/>
          <p:nvPr/>
        </p:nvSpPr>
        <p:spPr>
          <a:xfrm>
            <a:off x="1463040" y="1810512"/>
            <a:ext cx="3108960" cy="310896"/>
          </a:xfrm>
          <a:prstGeom prst="rect">
            <a:avLst/>
          </a:prstGeom>
          <a:noFill/>
          <a:ln/>
        </p:spPr>
        <p:txBody>
          <a:bodyPr wrap="square" lIns="0" tIns="0" rIns="0" bIns="0" rtlCol="0" anchor="ctr"/>
          <a:lstStyle/>
          <a:p>
            <a:pPr indent="0" marL="0">
              <a:buNone/>
            </a:pPr>
            <a:r>
              <a:rPr lang="en-US" sz="1400" b="1" dirty="0">
                <a:solidFill>
                  <a:srgbClr val="16324F"/>
                </a:solidFill>
                <a:latin typeface="Meiryo" pitchFamily="34" charset="0"/>
                <a:ea typeface="Meiryo" pitchFamily="34" charset="-122"/>
                <a:cs typeface="Meiryo" pitchFamily="34" charset="-120"/>
              </a:rPr>
              <a:t>受講証明の即時出力</a:t>
            </a:r>
            <a:endParaRPr lang="en-US" sz="1400" dirty="0"/>
          </a:p>
        </p:txBody>
      </p:sp>
      <p:sp>
        <p:nvSpPr>
          <p:cNvPr id="11" name="Text 9"/>
          <p:cNvSpPr txBox="1"/>
          <p:nvPr/>
        </p:nvSpPr>
        <p:spPr>
          <a:xfrm>
            <a:off x="1463040" y="2121408"/>
            <a:ext cx="9814255" cy="310896"/>
          </a:xfrm>
          <a:prstGeom prst="rect">
            <a:avLst/>
          </a:prstGeom>
          <a:noFill/>
          <a:ln/>
        </p:spPr>
        <p:txBody>
          <a:bodyPr wrap="square" lIns="0" tIns="0" rIns="0" bIns="0" rtlCol="0" anchor="ctr"/>
          <a:lstStyle/>
          <a:p>
            <a:pPr indent="0" marL="0">
              <a:buNone/>
            </a:pPr>
            <a:r>
              <a:rPr lang="en-US" sz="1100" dirty="0">
                <a:solidFill>
                  <a:srgbClr val="1C2A38"/>
                </a:solidFill>
                <a:latin typeface="Meiryo" pitchFamily="34" charset="0"/>
                <a:ea typeface="Meiryo" pitchFamily="34" charset="-122"/>
                <a:cs typeface="Meiryo" pitchFamily="34" charset="-120"/>
              </a:rPr>
              <a:t>受講者ごとにPDFの受講証明を発行。科目・実施日・視聴時間・顔照合の結果・テスト得点までを1枚に記載します。</a:t>
            </a:r>
            <a:endParaRPr lang="en-US" sz="1100" dirty="0"/>
          </a:p>
        </p:txBody>
      </p:sp>
      <p:sp>
        <p:nvSpPr>
          <p:cNvPr id="12" name="Shape 10"/>
          <p:cNvSpPr/>
          <p:nvPr/>
        </p:nvSpPr>
        <p:spPr>
          <a:xfrm>
            <a:off x="548640" y="2624328"/>
            <a:ext cx="11094415" cy="822960"/>
          </a:xfrm>
          <a:prstGeom prst="roundRect">
            <a:avLst>
              <a:gd name="adj" fmla="val 5556"/>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13" name="Shape 11"/>
          <p:cNvSpPr/>
          <p:nvPr/>
        </p:nvSpPr>
        <p:spPr>
          <a:xfrm>
            <a:off x="822960" y="2798064"/>
            <a:ext cx="475488" cy="475488"/>
          </a:xfrm>
          <a:prstGeom prst="ellipse">
            <a:avLst/>
          </a:prstGeom>
          <a:solidFill>
            <a:srgbClr val="16324F"/>
          </a:solidFill>
          <a:ln/>
        </p:spPr>
      </p:sp>
      <p:sp>
        <p:nvSpPr>
          <p:cNvPr id="14" name="Text 12"/>
          <p:cNvSpPr txBox="1"/>
          <p:nvPr/>
        </p:nvSpPr>
        <p:spPr>
          <a:xfrm>
            <a:off x="822960" y="2798064"/>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2</a:t>
            </a:r>
            <a:endParaRPr lang="en-US" sz="1400" dirty="0"/>
          </a:p>
        </p:txBody>
      </p:sp>
      <p:sp>
        <p:nvSpPr>
          <p:cNvPr id="15" name="Text 13"/>
          <p:cNvSpPr txBox="1"/>
          <p:nvPr/>
        </p:nvSpPr>
        <p:spPr>
          <a:xfrm>
            <a:off x="1463040" y="2743200"/>
            <a:ext cx="3108960" cy="310896"/>
          </a:xfrm>
          <a:prstGeom prst="rect">
            <a:avLst/>
          </a:prstGeom>
          <a:noFill/>
          <a:ln/>
        </p:spPr>
        <p:txBody>
          <a:bodyPr wrap="square" lIns="0" tIns="0" rIns="0" bIns="0" rtlCol="0" anchor="ctr"/>
          <a:lstStyle/>
          <a:p>
            <a:pPr indent="0" marL="0">
              <a:buNone/>
            </a:pPr>
            <a:r>
              <a:rPr lang="en-US" sz="1400" b="1" dirty="0">
                <a:solidFill>
                  <a:srgbClr val="16324F"/>
                </a:solidFill>
                <a:latin typeface="Meiryo" pitchFamily="34" charset="0"/>
                <a:ea typeface="Meiryo" pitchFamily="34" charset="-122"/>
                <a:cs typeface="Meiryo" pitchFamily="34" charset="-120"/>
              </a:rPr>
              <a:t>企業単位での一覧管理</a:t>
            </a:r>
            <a:endParaRPr lang="en-US" sz="1400" dirty="0"/>
          </a:p>
        </p:txBody>
      </p:sp>
      <p:sp>
        <p:nvSpPr>
          <p:cNvPr id="16" name="Text 14"/>
          <p:cNvSpPr txBox="1"/>
          <p:nvPr/>
        </p:nvSpPr>
        <p:spPr>
          <a:xfrm>
            <a:off x="1463040" y="3054096"/>
            <a:ext cx="9814255" cy="310896"/>
          </a:xfrm>
          <a:prstGeom prst="rect">
            <a:avLst/>
          </a:prstGeom>
          <a:noFill/>
          <a:ln/>
        </p:spPr>
        <p:txBody>
          <a:bodyPr wrap="square" lIns="0" tIns="0" rIns="0" bIns="0" rtlCol="0" anchor="ctr"/>
          <a:lstStyle/>
          <a:p>
            <a:pPr indent="0" marL="0">
              <a:buNone/>
            </a:pPr>
            <a:r>
              <a:rPr lang="en-US" sz="1100" dirty="0">
                <a:solidFill>
                  <a:srgbClr val="1C2A38"/>
                </a:solidFill>
                <a:latin typeface="Meiryo" pitchFamily="34" charset="0"/>
                <a:ea typeface="Meiryo" pitchFamily="34" charset="-122"/>
                <a:cs typeface="Meiryo" pitchFamily="34" charset="-120"/>
              </a:rPr>
              <a:t>発注企業のご担当者が、自社従業員の修了状況をいつでも確認できます。更新時期の管理にも使えます。</a:t>
            </a:r>
            <a:endParaRPr lang="en-US" sz="1100" dirty="0"/>
          </a:p>
        </p:txBody>
      </p:sp>
      <p:sp>
        <p:nvSpPr>
          <p:cNvPr id="17" name="Shape 15"/>
          <p:cNvSpPr/>
          <p:nvPr/>
        </p:nvSpPr>
        <p:spPr>
          <a:xfrm>
            <a:off x="548640" y="3557016"/>
            <a:ext cx="11094415" cy="822960"/>
          </a:xfrm>
          <a:prstGeom prst="roundRect">
            <a:avLst>
              <a:gd name="adj" fmla="val 5556"/>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18" name="Shape 16"/>
          <p:cNvSpPr/>
          <p:nvPr/>
        </p:nvSpPr>
        <p:spPr>
          <a:xfrm>
            <a:off x="822960" y="3730752"/>
            <a:ext cx="475488" cy="475488"/>
          </a:xfrm>
          <a:prstGeom prst="ellipse">
            <a:avLst/>
          </a:prstGeom>
          <a:solidFill>
            <a:srgbClr val="16324F"/>
          </a:solidFill>
          <a:ln/>
        </p:spPr>
      </p:sp>
      <p:sp>
        <p:nvSpPr>
          <p:cNvPr id="19" name="Text 17"/>
          <p:cNvSpPr txBox="1"/>
          <p:nvPr/>
        </p:nvSpPr>
        <p:spPr>
          <a:xfrm>
            <a:off x="822960" y="3730752"/>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20" name="Text 18"/>
          <p:cNvSpPr txBox="1"/>
          <p:nvPr/>
        </p:nvSpPr>
        <p:spPr>
          <a:xfrm>
            <a:off x="1463040" y="3675888"/>
            <a:ext cx="3108960" cy="310896"/>
          </a:xfrm>
          <a:prstGeom prst="rect">
            <a:avLst/>
          </a:prstGeom>
          <a:noFill/>
          <a:ln/>
        </p:spPr>
        <p:txBody>
          <a:bodyPr wrap="square" lIns="0" tIns="0" rIns="0" bIns="0" rtlCol="0" anchor="ctr"/>
          <a:lstStyle/>
          <a:p>
            <a:pPr indent="0" marL="0">
              <a:buNone/>
            </a:pPr>
            <a:r>
              <a:rPr lang="en-US" sz="1400" b="1" dirty="0">
                <a:solidFill>
                  <a:srgbClr val="16324F"/>
                </a:solidFill>
                <a:latin typeface="Meiryo" pitchFamily="34" charset="0"/>
                <a:ea typeface="Meiryo" pitchFamily="34" charset="-122"/>
                <a:cs typeface="Meiryo" pitchFamily="34" charset="-120"/>
              </a:rPr>
              <a:t>記録の自動保存</a:t>
            </a:r>
            <a:endParaRPr lang="en-US" sz="1400" dirty="0"/>
          </a:p>
        </p:txBody>
      </p:sp>
      <p:sp>
        <p:nvSpPr>
          <p:cNvPr id="21" name="Text 19"/>
          <p:cNvSpPr txBox="1"/>
          <p:nvPr/>
        </p:nvSpPr>
        <p:spPr>
          <a:xfrm>
            <a:off x="1463040" y="3986784"/>
            <a:ext cx="9814255" cy="310896"/>
          </a:xfrm>
          <a:prstGeom prst="rect">
            <a:avLst/>
          </a:prstGeom>
          <a:noFill/>
          <a:ln/>
        </p:spPr>
        <p:txBody>
          <a:bodyPr wrap="square" lIns="0" tIns="0" rIns="0" bIns="0" rtlCol="0" anchor="ctr"/>
          <a:lstStyle/>
          <a:p>
            <a:pPr indent="0" marL="0">
              <a:buNone/>
            </a:pPr>
            <a:r>
              <a:rPr lang="en-US" sz="1100" dirty="0">
                <a:solidFill>
                  <a:srgbClr val="1C2A38"/>
                </a:solidFill>
                <a:latin typeface="Meiryo" pitchFamily="34" charset="0"/>
                <a:ea typeface="Meiryo" pitchFamily="34" charset="-122"/>
                <a:cs typeface="Meiryo" pitchFamily="34" charset="-120"/>
              </a:rPr>
              <a:t>法定の3年を超えて自動保管。監督署の調査や元請からの要請にも、その場で応じられます。</a:t>
            </a:r>
            <a:endParaRPr lang="en-US" sz="1100" dirty="0"/>
          </a:p>
        </p:txBody>
      </p:sp>
      <p:sp>
        <p:nvSpPr>
          <p:cNvPr id="22" name="Shape 20"/>
          <p:cNvSpPr/>
          <p:nvPr/>
        </p:nvSpPr>
        <p:spPr>
          <a:xfrm>
            <a:off x="548640" y="4489704"/>
            <a:ext cx="11094415" cy="822960"/>
          </a:xfrm>
          <a:prstGeom prst="roundRect">
            <a:avLst>
              <a:gd name="adj" fmla="val 5556"/>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23" name="Shape 21"/>
          <p:cNvSpPr/>
          <p:nvPr/>
        </p:nvSpPr>
        <p:spPr>
          <a:xfrm>
            <a:off x="822960" y="4663440"/>
            <a:ext cx="475488" cy="475488"/>
          </a:xfrm>
          <a:prstGeom prst="ellipse">
            <a:avLst/>
          </a:prstGeom>
          <a:solidFill>
            <a:srgbClr val="16324F"/>
          </a:solidFill>
          <a:ln/>
        </p:spPr>
      </p:sp>
      <p:sp>
        <p:nvSpPr>
          <p:cNvPr id="24" name="Text 22"/>
          <p:cNvSpPr txBox="1"/>
          <p:nvPr/>
        </p:nvSpPr>
        <p:spPr>
          <a:xfrm>
            <a:off x="822960" y="466344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4</a:t>
            </a:r>
            <a:endParaRPr lang="en-US" sz="1400" dirty="0"/>
          </a:p>
        </p:txBody>
      </p:sp>
      <p:sp>
        <p:nvSpPr>
          <p:cNvPr id="25" name="Text 23"/>
          <p:cNvSpPr txBox="1"/>
          <p:nvPr/>
        </p:nvSpPr>
        <p:spPr>
          <a:xfrm>
            <a:off x="1463040" y="4608576"/>
            <a:ext cx="3108960" cy="310896"/>
          </a:xfrm>
          <a:prstGeom prst="rect">
            <a:avLst/>
          </a:prstGeom>
          <a:noFill/>
          <a:ln/>
        </p:spPr>
        <p:txBody>
          <a:bodyPr wrap="square" lIns="0" tIns="0" rIns="0" bIns="0" rtlCol="0" anchor="ctr"/>
          <a:lstStyle/>
          <a:p>
            <a:pPr indent="0" marL="0">
              <a:buNone/>
            </a:pPr>
            <a:r>
              <a:rPr lang="en-US" sz="1400" b="1" dirty="0">
                <a:solidFill>
                  <a:srgbClr val="16324F"/>
                </a:solidFill>
                <a:latin typeface="Meiryo" pitchFamily="34" charset="0"/>
                <a:ea typeface="Meiryo" pitchFamily="34" charset="-122"/>
                <a:cs typeface="Meiryo" pitchFamily="34" charset="-120"/>
              </a:rPr>
              <a:t>異常の自動検知</a:t>
            </a:r>
            <a:endParaRPr lang="en-US" sz="1400" dirty="0"/>
          </a:p>
        </p:txBody>
      </p:sp>
      <p:sp>
        <p:nvSpPr>
          <p:cNvPr id="26" name="Text 24"/>
          <p:cNvSpPr txBox="1"/>
          <p:nvPr/>
        </p:nvSpPr>
        <p:spPr>
          <a:xfrm>
            <a:off x="1463040" y="4919472"/>
            <a:ext cx="9814255" cy="310896"/>
          </a:xfrm>
          <a:prstGeom prst="rect">
            <a:avLst/>
          </a:prstGeom>
          <a:noFill/>
          <a:ln/>
        </p:spPr>
        <p:txBody>
          <a:bodyPr wrap="square" lIns="0" tIns="0" rIns="0" bIns="0" rtlCol="0" anchor="ctr"/>
          <a:lstStyle/>
          <a:p>
            <a:pPr indent="0" marL="0">
              <a:buNone/>
            </a:pPr>
            <a:r>
              <a:rPr lang="en-US" sz="1100" dirty="0">
                <a:solidFill>
                  <a:srgbClr val="1C2A38"/>
                </a:solidFill>
                <a:latin typeface="Meiryo" pitchFamily="34" charset="0"/>
                <a:ea typeface="Meiryo" pitchFamily="34" charset="-122"/>
                <a:cs typeface="Meiryo" pitchFamily="34" charset="-120"/>
              </a:rPr>
              <a:t>顔照合の不一致、視聴時間の不足、テストの不自然な回答パターンを検知してアラートを出します。</a:t>
            </a:r>
            <a:endParaRPr lang="en-US" sz="1100" dirty="0"/>
          </a:p>
        </p:txBody>
      </p:sp>
      <p:sp>
        <p:nvSpPr>
          <p:cNvPr id="27" name="Shape 25"/>
          <p:cNvSpPr/>
          <p:nvPr/>
        </p:nvSpPr>
        <p:spPr>
          <a:xfrm>
            <a:off x="548640" y="5486400"/>
            <a:ext cx="11094415" cy="566928"/>
          </a:xfrm>
          <a:prstGeom prst="roundRect">
            <a:avLst>
              <a:gd name="adj" fmla="val 8065"/>
            </a:avLst>
          </a:prstGeom>
          <a:solidFill>
            <a:srgbClr val="FCF1DC"/>
          </a:solidFill>
          <a:ln/>
        </p:spPr>
      </p:sp>
      <p:sp>
        <p:nvSpPr>
          <p:cNvPr id="28" name="Text 26"/>
          <p:cNvSpPr txBox="1"/>
          <p:nvPr/>
        </p:nvSpPr>
        <p:spPr>
          <a:xfrm>
            <a:off x="822960" y="5486400"/>
            <a:ext cx="10545775" cy="566928"/>
          </a:xfrm>
          <a:prstGeom prst="rect">
            <a:avLst/>
          </a:prstGeom>
          <a:noFill/>
          <a:ln/>
        </p:spPr>
        <p:txBody>
          <a:bodyPr wrap="square" lIns="0" tIns="0" rIns="0" bIns="0" rtlCol="0" anchor="ctr"/>
          <a:lstStyle/>
          <a:p>
            <a:pPr indent="0" marL="0">
              <a:buNone/>
            </a:pPr>
            <a:r>
              <a:rPr lang="en-US" sz="1250" b="1" dirty="0">
                <a:solidFill>
                  <a:srgbClr val="B87400"/>
                </a:solidFill>
                <a:latin typeface="Meiryo" pitchFamily="34" charset="0"/>
                <a:ea typeface="Meiryo" pitchFamily="34" charset="-122"/>
                <a:cs typeface="Meiryo" pitchFamily="34" charset="-120"/>
              </a:rPr>
              <a:t>競合が「安さ」で競うなかで、聖建様は「証明できること」で競う。これが価格を守る唯一の方法です。</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5F7"/>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indent="0" marL="0">
              <a:buNone/>
            </a:pPr>
            <a:r>
              <a:rPr lang="en-US" sz="1100" b="1" spc="150" kern="0" dirty="0">
                <a:solidFill>
                  <a:srgbClr val="B87400"/>
                </a:solidFill>
                <a:latin typeface="Meiryo" pitchFamily="34" charset="0"/>
                <a:ea typeface="Meiryo" pitchFamily="34" charset="-122"/>
                <a:cs typeface="Meiryo" pitchFamily="34" charset="-120"/>
              </a:rPr>
              <a:t>ANSWER TO Q2</a:t>
            </a:r>
            <a:endParaRPr lang="en-US" sz="1100" dirty="0"/>
          </a:p>
        </p:txBody>
      </p:sp>
      <p:sp>
        <p:nvSpPr>
          <p:cNvPr id="3" name="Text 1"/>
          <p:cNvSpPr txBox="1"/>
          <p:nvPr/>
        </p:nvSpPr>
        <p:spPr>
          <a:xfrm>
            <a:off x="548640" y="603504"/>
            <a:ext cx="11094415" cy="548640"/>
          </a:xfrm>
          <a:prstGeom prst="rect">
            <a:avLst/>
          </a:prstGeom>
          <a:noFill/>
          <a:ln/>
        </p:spPr>
        <p:txBody>
          <a:bodyPr wrap="square" lIns="0" tIns="0" rIns="0" bIns="0" rtlCol="0" anchor="ctr"/>
          <a:lstStyle/>
          <a:p>
            <a:pPr indent="0" marL="0">
              <a:buNone/>
            </a:pPr>
            <a:r>
              <a:rPr lang="en-US" sz="2700" b="1" dirty="0">
                <a:solidFill>
                  <a:srgbClr val="16324F"/>
                </a:solidFill>
                <a:latin typeface="Meiryo" pitchFamily="34" charset="0"/>
                <a:ea typeface="Meiryo" pitchFamily="34" charset="-122"/>
                <a:cs typeface="Meiryo" pitchFamily="34" charset="-120"/>
              </a:rPr>
              <a:t>講師と教材の確保 ─ 3案の比較</a:t>
            </a:r>
            <a:endParaRPr lang="en-US" sz="2700" dirty="0"/>
          </a:p>
        </p:txBody>
      </p:sp>
      <p:sp>
        <p:nvSpPr>
          <p:cNvPr id="4" name="Text 2"/>
          <p:cNvSpPr txBox="1"/>
          <p:nvPr/>
        </p:nvSpPr>
        <p:spPr>
          <a:xfrm>
            <a:off x="548640" y="1188720"/>
            <a:ext cx="11094415" cy="329184"/>
          </a:xfrm>
          <a:prstGeom prst="rect">
            <a:avLst/>
          </a:prstGeom>
          <a:noFill/>
          <a:ln/>
        </p:spPr>
        <p:txBody>
          <a:bodyPr wrap="square" lIns="0" tIns="0" rIns="0" bIns="0" rtlCol="0" anchor="ctr"/>
          <a:lstStyle/>
          <a:p>
            <a:pPr indent="0" marL="0">
              <a:buNone/>
            </a:pPr>
            <a:r>
              <a:rPr lang="en-US" sz="1250" dirty="0">
                <a:solidFill>
                  <a:srgbClr val="6B7B8A"/>
                </a:solidFill>
                <a:latin typeface="Meiryo" pitchFamily="34" charset="0"/>
                <a:ea typeface="Meiryo" pitchFamily="34" charset="-122"/>
                <a:cs typeface="Meiryo" pitchFamily="34" charset="-120"/>
              </a:rPr>
              <a:t>「未定・比較から相談したい」とのご回答を受け、費用・利益率・リスクで整理しました。</a:t>
            </a:r>
            <a:endParaRPr lang="en-US" sz="1250" dirty="0"/>
          </a:p>
        </p:txBody>
      </p:sp>
      <p:sp>
        <p:nvSpPr>
          <p:cNvPr id="5" name="Text 3"/>
          <p:cNvSpPr txBox="1"/>
          <p:nvPr/>
        </p:nvSpPr>
        <p:spPr>
          <a:xfrm>
            <a:off x="548640" y="6382512"/>
            <a:ext cx="8686800" cy="256032"/>
          </a:xfrm>
          <a:prstGeom prst="rect">
            <a:avLst/>
          </a:prstGeom>
          <a:noFill/>
          <a:ln/>
        </p:spPr>
        <p:txBody>
          <a:bodyPr wrap="square" lIns="0" tIns="0" rIns="0" bIns="0" rtlCol="0" anchor="ctr"/>
          <a:lstStyle/>
          <a:p>
            <a:pPr indent="0" marL="0">
              <a:buNone/>
            </a:pPr>
            <a:r>
              <a:rPr lang="en-US" sz="900" dirty="0">
                <a:solidFill>
                  <a:srgbClr val="6B7B8A"/>
                </a:solidFill>
                <a:latin typeface="Meiryo" pitchFamily="34" charset="0"/>
                <a:ea typeface="Meiryo" pitchFamily="34" charset="-122"/>
                <a:cs typeface="Meiryo" pitchFamily="34" charset="-120"/>
              </a:rPr>
              <a:t>株式会社聖建 御中 ｜ 建設業 特別教育 オンライン受講プラットフォーム ご提案</a:t>
            </a:r>
            <a:endParaRPr lang="en-US" sz="900" dirty="0"/>
          </a:p>
        </p:txBody>
      </p:sp>
      <p:sp>
        <p:nvSpPr>
          <p:cNvPr id="6" name="Text 4"/>
          <p:cNvSpPr txBox="1"/>
          <p:nvPr/>
        </p:nvSpPr>
        <p:spPr>
          <a:xfrm>
            <a:off x="11002975" y="6382512"/>
            <a:ext cx="640080" cy="256032"/>
          </a:xfrm>
          <a:prstGeom prst="rect">
            <a:avLst/>
          </a:prstGeom>
          <a:noFill/>
          <a:ln/>
        </p:spPr>
        <p:txBody>
          <a:bodyPr wrap="square" lIns="0" tIns="0" rIns="0" bIns="0" rtlCol="0" anchor="ctr"/>
          <a:lstStyle/>
          <a:p>
            <a:pPr algn="r" indent="0" marL="0">
              <a:buNone/>
            </a:pPr>
            <a:r>
              <a:rPr lang="en-US" sz="1000" b="1" dirty="0">
                <a:solidFill>
                  <a:srgbClr val="3E6B8C"/>
                </a:solidFill>
                <a:latin typeface="Meiryo" pitchFamily="34" charset="0"/>
                <a:ea typeface="Meiryo" pitchFamily="34" charset="-122"/>
                <a:cs typeface="Meiryo" pitchFamily="34" charset="-120"/>
              </a:rPr>
              <a:t>12</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1371600"/>
                <a:gridCol w="2651760"/>
                <a:gridCol w="1234440"/>
                <a:gridCol w="1234440"/>
                <a:gridCol w="2286000"/>
                <a:gridCol w="2316175"/>
              </a:tblGrid>
              <a:tr h="384048">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案</a:t>
                      </a:r>
                      <a:endParaRPr lang="en-US" sz="115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16324F"/>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内容</a:t>
                      </a:r>
                      <a:endParaRPr lang="en-US" sz="115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16324F"/>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初期費用</a:t>
                      </a:r>
                      <a:endParaRPr lang="en-US" sz="115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16324F"/>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継続費用</a:t>
                      </a:r>
                      <a:endParaRPr lang="en-US" sz="115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16324F"/>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強み</a:t>
                      </a:r>
                      <a:endParaRPr lang="en-US" sz="115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16324F"/>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留意点</a:t>
                      </a:r>
                      <a:endParaRPr lang="en-US" sz="115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16324F"/>
                    </a:solidFill>
                  </a:tcPr>
                </a:tc>
              </a:tr>
              <a:tr h="1234440">
                <a:tc>
                  <a:txBody>
                    <a:bodyPr/>
                    <a:lstStyle/>
                    <a:p>
                      <a:pPr algn="ctr" indent="0" marL="0">
                        <a:buNone/>
                      </a:pPr>
                      <a:r>
                        <a:rPr lang="en-US" sz="1000" b="1" dirty="0">
                          <a:solidFill>
                            <a:srgbClr val="16324F"/>
                          </a:solidFill>
                          <a:latin typeface="Meiryo" pitchFamily="34" charset="0"/>
                          <a:ea typeface="Meiryo" pitchFamily="34" charset="-122"/>
                          <a:cs typeface="Meiryo" pitchFamily="34" charset="-120"/>
                        </a:rPr>
                        <a:t>A</a:t>
                      </a:r>
                      <a:endParaRPr lang="en-US" sz="1000" dirty="0">
                        <a:latin typeface="Meiryo" charset="0"/>
                        <a:ea typeface="Meiryo" charset="0"/>
                        <a:cs typeface="Meiryo" charset="0"/>
                      </a:endParaRPr>
                    </a:p>
                    <a:p>
                      <a:pPr algn="ctr" indent="0" marL="0">
                        <a:buNone/>
                      </a:pPr>
                      <a:r>
                        <a:rPr lang="en-US" sz="1000" b="1" dirty="0">
                          <a:solidFill>
                            <a:srgbClr val="16324F"/>
                          </a:solidFill>
                          <a:latin typeface="Meiryo" pitchFamily="34" charset="0"/>
                          <a:ea typeface="Meiryo" pitchFamily="34" charset="-122"/>
                          <a:cs typeface="Meiryo" pitchFamily="34" charset="-120"/>
                        </a:rPr>
                        <a:t>自社講師</a:t>
                      </a:r>
                      <a:endParaRPr lang="en-US" sz="10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3F5F7"/>
                    </a:solidFill>
                  </a:tcPr>
                </a:tc>
                <a:tc>
                  <a:txBody>
                    <a:bodyPr/>
                    <a:lstStyle/>
                    <a:p>
                      <a:pPr indent="0" marL="0">
                        <a:buNone/>
                      </a:pPr>
                      <a:r>
                        <a:rPr lang="en-US" sz="1000" dirty="0">
                          <a:solidFill>
                            <a:srgbClr val="1C2A38"/>
                          </a:solidFill>
                          <a:latin typeface="Meiryo" pitchFamily="34" charset="0"/>
                          <a:ea typeface="Meiryo" pitchFamily="34" charset="-122"/>
                          <a:cs typeface="Meiryo" pitchFamily="34" charset="-120"/>
                        </a:rPr>
                        <a:t>聖建様の有資格者・実務経験者が講師を務め、講義を撮影して教材化する</a:t>
                      </a:r>
                      <a:endParaRPr lang="en-US" sz="10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C2A38"/>
                          </a:solidFill>
                          <a:latin typeface="Meiryo" pitchFamily="34" charset="0"/>
                          <a:ea typeface="Meiryo" pitchFamily="34" charset="-122"/>
                          <a:cs typeface="Meiryo" pitchFamily="34" charset="-120"/>
                        </a:rPr>
                        <a:t>中</a:t>
                      </a:r>
                      <a:endParaRPr lang="en-US" sz="1000" dirty="0">
                        <a:latin typeface="Meiryo" charset="0"/>
                        <a:ea typeface="Meiryo" charset="0"/>
                        <a:cs typeface="Meiryo" charset="0"/>
                      </a:endParaRPr>
                    </a:p>
                    <a:p>
                      <a:pPr algn="ctr" indent="0" marL="0">
                        <a:buNone/>
                      </a:pPr>
                      <a:r>
                        <a:rPr lang="en-US" sz="1000" dirty="0">
                          <a:solidFill>
                            <a:srgbClr val="1C2A38"/>
                          </a:solidFill>
                          <a:latin typeface="Meiryo" pitchFamily="34" charset="0"/>
                          <a:ea typeface="Meiryo" pitchFamily="34" charset="-122"/>
                          <a:cs typeface="Meiryo" pitchFamily="34" charset="-120"/>
                        </a:rPr>
                        <a:t>（撮影・編集）</a:t>
                      </a:r>
                      <a:endParaRPr lang="en-US" sz="10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E7D5B"/>
                          </a:solidFill>
                          <a:latin typeface="Meiryo" pitchFamily="34" charset="0"/>
                          <a:ea typeface="Meiryo" pitchFamily="34" charset="-122"/>
                          <a:cs typeface="Meiryo" pitchFamily="34" charset="-120"/>
                        </a:rPr>
                        <a:t>低</a:t>
                      </a:r>
                      <a:endParaRPr lang="en-US" sz="10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000" dirty="0">
                          <a:solidFill>
                            <a:srgbClr val="1C2A38"/>
                          </a:solidFill>
                          <a:latin typeface="Meiryo" pitchFamily="34" charset="0"/>
                          <a:ea typeface="Meiryo" pitchFamily="34" charset="-122"/>
                          <a:cs typeface="Meiryo" pitchFamily="34" charset="-120"/>
                        </a:rPr>
                        <a:t>利益率が最も高い。現場感のある独自教材になり、他社が真似できない</a:t>
                      </a:r>
                      <a:endParaRPr lang="en-US" sz="10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000" dirty="0">
                          <a:solidFill>
                            <a:srgbClr val="1C2A38"/>
                          </a:solidFill>
                          <a:latin typeface="Meiryo" pitchFamily="34" charset="0"/>
                          <a:ea typeface="Meiryo" pitchFamily="34" charset="-122"/>
                          <a:cs typeface="Meiryo" pitchFamily="34" charset="-120"/>
                        </a:rPr>
                        <a:t>「十分な知識と経験」を説明できる資料の整備が必要。教材制作の工数がかかる</a:t>
                      </a:r>
                      <a:endParaRPr lang="en-US" sz="10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r>
              <a:tr h="1234440">
                <a:tc>
                  <a:txBody>
                    <a:bodyPr/>
                    <a:lstStyle/>
                    <a:p>
                      <a:pPr algn="ctr" indent="0" marL="0">
                        <a:buNone/>
                      </a:pPr>
                      <a:r>
                        <a:rPr lang="en-US" sz="1000" b="1" dirty="0">
                          <a:solidFill>
                            <a:srgbClr val="16324F"/>
                          </a:solidFill>
                          <a:latin typeface="Meiryo" pitchFamily="34" charset="0"/>
                          <a:ea typeface="Meiryo" pitchFamily="34" charset="-122"/>
                          <a:cs typeface="Meiryo" pitchFamily="34" charset="-120"/>
                        </a:rPr>
                        <a:t>B</a:t>
                      </a:r>
                      <a:endParaRPr lang="en-US" sz="1000" dirty="0">
                        <a:latin typeface="Meiryo" charset="0"/>
                        <a:ea typeface="Meiryo" charset="0"/>
                        <a:cs typeface="Meiryo" charset="0"/>
                      </a:endParaRPr>
                    </a:p>
                    <a:p>
                      <a:pPr algn="ctr" indent="0" marL="0">
                        <a:buNone/>
                      </a:pPr>
                      <a:r>
                        <a:rPr lang="en-US" sz="1000" b="1" dirty="0">
                          <a:solidFill>
                            <a:srgbClr val="16324F"/>
                          </a:solidFill>
                          <a:latin typeface="Meiryo" pitchFamily="34" charset="0"/>
                          <a:ea typeface="Meiryo" pitchFamily="34" charset="-122"/>
                          <a:cs typeface="Meiryo" pitchFamily="34" charset="-120"/>
                        </a:rPr>
                        <a:t>外部講師に委託</a:t>
                      </a:r>
                      <a:endParaRPr lang="en-US" sz="1000" dirty="0">
                        <a:latin typeface="Meiryo" charset="0"/>
                        <a:ea typeface="Meiryo" charset="0"/>
                        <a:cs typeface="Meiryo" charset="0"/>
                      </a:endParaRPr>
                    </a:p>
                    <a:p>
                      <a:pPr algn="ctr" indent="0" marL="0">
                        <a:buNone/>
                      </a:pPr>
                      <a:r>
                        <a:rPr lang="en-US" sz="1000" b="1" dirty="0">
                          <a:solidFill>
                            <a:srgbClr val="16324F"/>
                          </a:solidFill>
                          <a:latin typeface="Meiryo" pitchFamily="34" charset="0"/>
                          <a:ea typeface="Meiryo" pitchFamily="34" charset="-122"/>
                          <a:cs typeface="Meiryo" pitchFamily="34" charset="-120"/>
                        </a:rPr>
                        <a:t>◎ 推奨</a:t>
                      </a:r>
                      <a:endParaRPr lang="en-US" sz="10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CF1DC"/>
                    </a:solidFill>
                  </a:tcPr>
                </a:tc>
                <a:tc>
                  <a:txBody>
                    <a:bodyPr/>
                    <a:lstStyle/>
                    <a:p>
                      <a:pPr indent="0" marL="0">
                        <a:buNone/>
                      </a:pPr>
                      <a:r>
                        <a:rPr lang="en-US" sz="1000" dirty="0">
                          <a:solidFill>
                            <a:srgbClr val="1C2A38"/>
                          </a:solidFill>
                          <a:latin typeface="Meiryo" pitchFamily="34" charset="0"/>
                          <a:ea typeface="Meiryo" pitchFamily="34" charset="-122"/>
                          <a:cs typeface="Meiryo" pitchFamily="34" charset="-120"/>
                        </a:rPr>
                        <a:t>労働安全衛生コンサルタント等に講師を依頼し、講義を収録して教材化する</a:t>
                      </a:r>
                      <a:endParaRPr lang="en-US" sz="10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C2A38"/>
                          </a:solidFill>
                          <a:latin typeface="Meiryo" pitchFamily="34" charset="0"/>
                          <a:ea typeface="Meiryo" pitchFamily="34" charset="-122"/>
                          <a:cs typeface="Meiryo" pitchFamily="34" charset="-120"/>
                        </a:rPr>
                        <a:t>中〜高</a:t>
                      </a:r>
                      <a:endParaRPr lang="en-US" sz="1000" dirty="0">
                        <a:latin typeface="Meiryo" charset="0"/>
                        <a:ea typeface="Meiryo" charset="0"/>
                        <a:cs typeface="Meiryo" charset="0"/>
                      </a:endParaRPr>
                    </a:p>
                    <a:p>
                      <a:pPr algn="ctr" indent="0" marL="0">
                        <a:buNone/>
                      </a:pPr>
                      <a:r>
                        <a:rPr lang="en-US" sz="1000" dirty="0">
                          <a:solidFill>
                            <a:srgbClr val="1C2A38"/>
                          </a:solidFill>
                          <a:latin typeface="Meiryo" pitchFamily="34" charset="0"/>
                          <a:ea typeface="Meiryo" pitchFamily="34" charset="-122"/>
                          <a:cs typeface="Meiryo" pitchFamily="34" charset="-120"/>
                        </a:rPr>
                        <a:t>（講師料＋撮影）</a:t>
                      </a:r>
                      <a:endParaRPr lang="en-US" sz="10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E7D5B"/>
                          </a:solidFill>
                          <a:latin typeface="Meiryo" pitchFamily="34" charset="0"/>
                          <a:ea typeface="Meiryo" pitchFamily="34" charset="-122"/>
                          <a:cs typeface="Meiryo" pitchFamily="34" charset="-120"/>
                        </a:rPr>
                        <a:t>低</a:t>
                      </a:r>
                      <a:endParaRPr lang="en-US" sz="1000" dirty="0">
                        <a:latin typeface="Meiryo" charset="0"/>
                        <a:ea typeface="Meiryo" charset="0"/>
                        <a:cs typeface="Meiryo" charset="0"/>
                      </a:endParaRPr>
                    </a:p>
                    <a:p>
                      <a:pPr algn="ctr" indent="0" marL="0">
                        <a:buNone/>
                      </a:pPr>
                      <a:r>
                        <a:rPr lang="en-US" sz="1000" b="1" dirty="0">
                          <a:solidFill>
                            <a:srgbClr val="2E7D5B"/>
                          </a:solidFill>
                          <a:latin typeface="Meiryo" pitchFamily="34" charset="0"/>
                          <a:ea typeface="Meiryo" pitchFamily="34" charset="-122"/>
                          <a:cs typeface="Meiryo" pitchFamily="34" charset="-120"/>
                        </a:rPr>
                        <a:t>（教材は資産化）</a:t>
                      </a:r>
                      <a:endParaRPr lang="en-US" sz="10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000" dirty="0">
                          <a:solidFill>
                            <a:srgbClr val="1C2A38"/>
                          </a:solidFill>
                          <a:latin typeface="Meiryo" pitchFamily="34" charset="0"/>
                          <a:ea typeface="Meiryo" pitchFamily="34" charset="-122"/>
                          <a:cs typeface="Meiryo" pitchFamily="34" charset="-120"/>
                        </a:rPr>
                        <a:t>講師要件の説明が最も明確。立ち上げ期の信頼性を確保しやすい</a:t>
                      </a:r>
                      <a:endParaRPr lang="en-US" sz="10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000" dirty="0">
                          <a:solidFill>
                            <a:srgbClr val="1C2A38"/>
                          </a:solidFill>
                          <a:latin typeface="Meiryo" pitchFamily="34" charset="0"/>
                          <a:ea typeface="Meiryo" pitchFamily="34" charset="-122"/>
                          <a:cs typeface="Meiryo" pitchFamily="34" charset="-120"/>
                        </a:rPr>
                        <a:t>科目を増やすたびに講師の手配が必要になる</a:t>
                      </a:r>
                      <a:endParaRPr lang="en-US" sz="10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r>
              <a:tr h="1234440">
                <a:tc>
                  <a:txBody>
                    <a:bodyPr/>
                    <a:lstStyle/>
                    <a:p>
                      <a:pPr algn="ctr" indent="0" marL="0">
                        <a:buNone/>
                      </a:pPr>
                      <a:r>
                        <a:rPr lang="en-US" sz="1000" b="1" dirty="0">
                          <a:solidFill>
                            <a:srgbClr val="16324F"/>
                          </a:solidFill>
                          <a:latin typeface="Meiryo" pitchFamily="34" charset="0"/>
                          <a:ea typeface="Meiryo" pitchFamily="34" charset="-122"/>
                          <a:cs typeface="Meiryo" pitchFamily="34" charset="-120"/>
                        </a:rPr>
                        <a:t>C</a:t>
                      </a:r>
                      <a:endParaRPr lang="en-US" sz="1000" dirty="0">
                        <a:latin typeface="Meiryo" charset="0"/>
                        <a:ea typeface="Meiryo" charset="0"/>
                        <a:cs typeface="Meiryo" charset="0"/>
                      </a:endParaRPr>
                    </a:p>
                    <a:p>
                      <a:pPr algn="ctr" indent="0" marL="0">
                        <a:buNone/>
                      </a:pPr>
                      <a:r>
                        <a:rPr lang="en-US" sz="1000" b="1" dirty="0">
                          <a:solidFill>
                            <a:srgbClr val="16324F"/>
                          </a:solidFill>
                          <a:latin typeface="Meiryo" pitchFamily="34" charset="0"/>
                          <a:ea typeface="Meiryo" pitchFamily="34" charset="-122"/>
                          <a:cs typeface="Meiryo" pitchFamily="34" charset="-120"/>
                        </a:rPr>
                        <a:t>市販教材を調達</a:t>
                      </a:r>
                      <a:endParaRPr lang="en-US" sz="10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3F5F7"/>
                    </a:solidFill>
                  </a:tcPr>
                </a:tc>
                <a:tc>
                  <a:txBody>
                    <a:bodyPr/>
                    <a:lstStyle/>
                    <a:p>
                      <a:pPr indent="0" marL="0">
                        <a:buNone/>
                      </a:pPr>
                      <a:r>
                        <a:rPr lang="en-US" sz="1000" dirty="0">
                          <a:solidFill>
                            <a:srgbClr val="1C2A38"/>
                          </a:solidFill>
                          <a:latin typeface="Meiryo" pitchFamily="34" charset="0"/>
                          <a:ea typeface="Meiryo" pitchFamily="34" charset="-122"/>
                          <a:cs typeface="Meiryo" pitchFamily="34" charset="-120"/>
                        </a:rPr>
                        <a:t>既存のeラーニング教材をライセンス調達し、システム側に注力する</a:t>
                      </a:r>
                      <a:endParaRPr lang="en-US" sz="10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E7D5B"/>
                          </a:solidFill>
                          <a:latin typeface="Meiryo" pitchFamily="34" charset="0"/>
                          <a:ea typeface="Meiryo" pitchFamily="34" charset="-122"/>
                          <a:cs typeface="Meiryo" pitchFamily="34" charset="-120"/>
                        </a:rPr>
                        <a:t>低</a:t>
                      </a:r>
                      <a:endParaRPr lang="en-US" sz="10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3402F"/>
                          </a:solidFill>
                          <a:latin typeface="Meiryo" pitchFamily="34" charset="0"/>
                          <a:ea typeface="Meiryo" pitchFamily="34" charset="-122"/>
                          <a:cs typeface="Meiryo" pitchFamily="34" charset="-120"/>
                        </a:rPr>
                        <a:t>高</a:t>
                      </a:r>
                      <a:endParaRPr lang="en-US" sz="1000" dirty="0">
                        <a:latin typeface="Meiryo" charset="0"/>
                        <a:ea typeface="Meiryo" charset="0"/>
                        <a:cs typeface="Meiryo" charset="0"/>
                      </a:endParaRPr>
                    </a:p>
                    <a:p>
                      <a:pPr algn="ctr" indent="0" marL="0">
                        <a:buNone/>
                      </a:pPr>
                      <a:r>
                        <a:rPr lang="en-US" sz="1000" b="1" dirty="0">
                          <a:solidFill>
                            <a:srgbClr val="B3402F"/>
                          </a:solidFill>
                          <a:latin typeface="Meiryo" pitchFamily="34" charset="0"/>
                          <a:ea typeface="Meiryo" pitchFamily="34" charset="-122"/>
                          <a:cs typeface="Meiryo" pitchFamily="34" charset="-120"/>
                        </a:rPr>
                        <a:t>（1名ごとの</a:t>
                      </a:r>
                      <a:endParaRPr lang="en-US" sz="1000" dirty="0">
                        <a:latin typeface="Meiryo" charset="0"/>
                        <a:ea typeface="Meiryo" charset="0"/>
                        <a:cs typeface="Meiryo" charset="0"/>
                      </a:endParaRPr>
                    </a:p>
                    <a:p>
                      <a:pPr algn="ctr" indent="0" marL="0">
                        <a:buNone/>
                      </a:pPr>
                      <a:r>
                        <a:rPr lang="en-US" sz="1000" b="1" dirty="0">
                          <a:solidFill>
                            <a:srgbClr val="B3402F"/>
                          </a:solidFill>
                          <a:latin typeface="Meiryo" pitchFamily="34" charset="0"/>
                          <a:ea typeface="Meiryo" pitchFamily="34" charset="-122"/>
                          <a:cs typeface="Meiryo" pitchFamily="34" charset="-120"/>
                        </a:rPr>
                        <a:t>ライセンス料）</a:t>
                      </a:r>
                      <a:endParaRPr lang="en-US" sz="10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000" dirty="0">
                          <a:solidFill>
                            <a:srgbClr val="1C2A38"/>
                          </a:solidFill>
                          <a:latin typeface="Meiryo" pitchFamily="34" charset="0"/>
                          <a:ea typeface="Meiryo" pitchFamily="34" charset="-122"/>
                          <a:cs typeface="Meiryo" pitchFamily="34" charset="-120"/>
                        </a:rPr>
                        <a:t>最短で開始できる。教材制作の負担がない</a:t>
                      </a:r>
                      <a:endParaRPr lang="en-US" sz="10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000" b="1" dirty="0">
                          <a:solidFill>
                            <a:srgbClr val="B3402F"/>
                          </a:solidFill>
                          <a:latin typeface="Meiryo" pitchFamily="34" charset="0"/>
                          <a:ea typeface="Meiryo" pitchFamily="34" charset="-122"/>
                          <a:cs typeface="Meiryo" pitchFamily="34" charset="-120"/>
                        </a:rPr>
                        <a:t>利益率が薄い。再販（外部提供）が許諾されない契約が多く、今回の事業モデルとは相性が悪い</a:t>
                      </a:r>
                      <a:endParaRPr lang="en-US" sz="10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5852160"/>
            <a:ext cx="11094415" cy="292608"/>
          </a:xfrm>
          <a:prstGeom prst="rect">
            <a:avLst/>
          </a:prstGeom>
          <a:noFill/>
          <a:ln/>
        </p:spPr>
        <p:txBody>
          <a:bodyPr wrap="square" lIns="0" tIns="0" rIns="0" bIns="0" rtlCol="0" anchor="ctr"/>
          <a:lstStyle/>
          <a:p>
            <a:pPr indent="0" marL="0">
              <a:buNone/>
            </a:pPr>
            <a:r>
              <a:rPr lang="en-US" sz="1000" dirty="0">
                <a:solidFill>
                  <a:srgbClr val="6B7B8A"/>
                </a:solidFill>
                <a:latin typeface="Meiryo" pitchFamily="34" charset="0"/>
                <a:ea typeface="Meiryo" pitchFamily="34" charset="-122"/>
                <a:cs typeface="Meiryo" pitchFamily="34" charset="-120"/>
              </a:rPr>
              <a:t>※ 特別教育の講師に法定の資格要件はありませんが、「十分な知識と経験を有する者」であることが求められます。いずれの案でも講師の経歴を記録に残す運用が必要です。</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5F7"/>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indent="0" marL="0">
              <a:buNone/>
            </a:pPr>
            <a:r>
              <a:rPr lang="en-US" sz="1100" b="1" spc="150" kern="0" dirty="0">
                <a:solidFill>
                  <a:srgbClr val="B87400"/>
                </a:solidFill>
                <a:latin typeface="Meiryo" pitchFamily="34" charset="0"/>
                <a:ea typeface="Meiryo" pitchFamily="34" charset="-122"/>
                <a:cs typeface="Meiryo" pitchFamily="34" charset="-120"/>
              </a:rPr>
              <a:t>RECOMMENDATION</a:t>
            </a:r>
            <a:endParaRPr lang="en-US" sz="1100" dirty="0"/>
          </a:p>
        </p:txBody>
      </p:sp>
      <p:sp>
        <p:nvSpPr>
          <p:cNvPr id="3" name="Text 1"/>
          <p:cNvSpPr txBox="1"/>
          <p:nvPr/>
        </p:nvSpPr>
        <p:spPr>
          <a:xfrm>
            <a:off x="548640" y="603504"/>
            <a:ext cx="11094415" cy="548640"/>
          </a:xfrm>
          <a:prstGeom prst="rect">
            <a:avLst/>
          </a:prstGeom>
          <a:noFill/>
          <a:ln/>
        </p:spPr>
        <p:txBody>
          <a:bodyPr wrap="square" lIns="0" tIns="0" rIns="0" bIns="0" rtlCol="0" anchor="ctr"/>
          <a:lstStyle/>
          <a:p>
            <a:pPr indent="0" marL="0">
              <a:buNone/>
            </a:pPr>
            <a:r>
              <a:rPr lang="en-US" sz="2700" b="1" dirty="0">
                <a:solidFill>
                  <a:srgbClr val="16324F"/>
                </a:solidFill>
                <a:latin typeface="Meiryo" pitchFamily="34" charset="0"/>
                <a:ea typeface="Meiryo" pitchFamily="34" charset="-122"/>
                <a:cs typeface="Meiryo" pitchFamily="34" charset="-120"/>
              </a:rPr>
              <a:t>推奨：B案で始め、A案へ移行する</a:t>
            </a:r>
            <a:endParaRPr lang="en-US" sz="2700" dirty="0"/>
          </a:p>
        </p:txBody>
      </p:sp>
      <p:sp>
        <p:nvSpPr>
          <p:cNvPr id="4" name="Text 2"/>
          <p:cNvSpPr txBox="1"/>
          <p:nvPr/>
        </p:nvSpPr>
        <p:spPr>
          <a:xfrm>
            <a:off x="548640" y="1188720"/>
            <a:ext cx="11094415" cy="329184"/>
          </a:xfrm>
          <a:prstGeom prst="rect">
            <a:avLst/>
          </a:prstGeom>
          <a:noFill/>
          <a:ln/>
        </p:spPr>
        <p:txBody>
          <a:bodyPr wrap="square" lIns="0" tIns="0" rIns="0" bIns="0" rtlCol="0" anchor="ctr"/>
          <a:lstStyle/>
          <a:p>
            <a:pPr indent="0" marL="0">
              <a:buNone/>
            </a:pPr>
            <a:r>
              <a:rPr lang="en-US" sz="1250" dirty="0">
                <a:solidFill>
                  <a:srgbClr val="6B7B8A"/>
                </a:solidFill>
                <a:latin typeface="Meiryo" pitchFamily="34" charset="0"/>
                <a:ea typeface="Meiryo" pitchFamily="34" charset="-122"/>
                <a:cs typeface="Meiryo" pitchFamily="34" charset="-120"/>
              </a:rPr>
              <a:t>立ち上げ期は信頼性を、軌道に乗ってからは利益率を取りにいきます。</a:t>
            </a:r>
            <a:endParaRPr lang="en-US" sz="1250" dirty="0"/>
          </a:p>
        </p:txBody>
      </p:sp>
      <p:sp>
        <p:nvSpPr>
          <p:cNvPr id="5" name="Text 3"/>
          <p:cNvSpPr txBox="1"/>
          <p:nvPr/>
        </p:nvSpPr>
        <p:spPr>
          <a:xfrm>
            <a:off x="548640" y="6382512"/>
            <a:ext cx="8686800" cy="256032"/>
          </a:xfrm>
          <a:prstGeom prst="rect">
            <a:avLst/>
          </a:prstGeom>
          <a:noFill/>
          <a:ln/>
        </p:spPr>
        <p:txBody>
          <a:bodyPr wrap="square" lIns="0" tIns="0" rIns="0" bIns="0" rtlCol="0" anchor="ctr"/>
          <a:lstStyle/>
          <a:p>
            <a:pPr indent="0" marL="0">
              <a:buNone/>
            </a:pPr>
            <a:r>
              <a:rPr lang="en-US" sz="900" dirty="0">
                <a:solidFill>
                  <a:srgbClr val="6B7B8A"/>
                </a:solidFill>
                <a:latin typeface="Meiryo" pitchFamily="34" charset="0"/>
                <a:ea typeface="Meiryo" pitchFamily="34" charset="-122"/>
                <a:cs typeface="Meiryo" pitchFamily="34" charset="-120"/>
              </a:rPr>
              <a:t>株式会社聖建 御中 ｜ 建設業 特別教育 オンライン受講プラットフォーム ご提案</a:t>
            </a:r>
            <a:endParaRPr lang="en-US" sz="900" dirty="0"/>
          </a:p>
        </p:txBody>
      </p:sp>
      <p:sp>
        <p:nvSpPr>
          <p:cNvPr id="6" name="Text 4"/>
          <p:cNvSpPr txBox="1"/>
          <p:nvPr/>
        </p:nvSpPr>
        <p:spPr>
          <a:xfrm>
            <a:off x="11002975" y="6382512"/>
            <a:ext cx="640080" cy="256032"/>
          </a:xfrm>
          <a:prstGeom prst="rect">
            <a:avLst/>
          </a:prstGeom>
          <a:noFill/>
          <a:ln/>
        </p:spPr>
        <p:txBody>
          <a:bodyPr wrap="square" lIns="0" tIns="0" rIns="0" bIns="0" rtlCol="0" anchor="ctr"/>
          <a:lstStyle/>
          <a:p>
            <a:pPr algn="r" indent="0" marL="0">
              <a:buNone/>
            </a:pPr>
            <a:r>
              <a:rPr lang="en-US" sz="1000" b="1" dirty="0">
                <a:solidFill>
                  <a:srgbClr val="3E6B8C"/>
                </a:solidFill>
                <a:latin typeface="Meiryo" pitchFamily="34" charset="0"/>
                <a:ea typeface="Meiryo" pitchFamily="34" charset="-122"/>
                <a:cs typeface="Meiryo" pitchFamily="34" charset="-120"/>
              </a:rPr>
              <a:t>13</a:t>
            </a:r>
            <a:endParaRPr lang="en-US" sz="1000" dirty="0"/>
          </a:p>
        </p:txBody>
      </p:sp>
      <p:sp>
        <p:nvSpPr>
          <p:cNvPr id="7" name="Shape 5"/>
          <p:cNvSpPr/>
          <p:nvPr/>
        </p:nvSpPr>
        <p:spPr>
          <a:xfrm>
            <a:off x="548640" y="1691640"/>
            <a:ext cx="3545738" cy="2606040"/>
          </a:xfrm>
          <a:prstGeom prst="roundRect">
            <a:avLst>
              <a:gd name="adj" fmla="val 1754"/>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8" name="Shape 6"/>
          <p:cNvSpPr/>
          <p:nvPr/>
        </p:nvSpPr>
        <p:spPr>
          <a:xfrm>
            <a:off x="804672" y="1901952"/>
            <a:ext cx="1051560" cy="292608"/>
          </a:xfrm>
          <a:prstGeom prst="roundRect">
            <a:avLst>
              <a:gd name="adj" fmla="val 50000"/>
            </a:avLst>
          </a:prstGeom>
          <a:solidFill>
            <a:srgbClr val="E8960C"/>
          </a:solidFill>
          <a:ln/>
        </p:spPr>
      </p:sp>
      <p:sp>
        <p:nvSpPr>
          <p:cNvPr id="9" name="Text 7"/>
          <p:cNvSpPr txBox="1"/>
          <p:nvPr/>
        </p:nvSpPr>
        <p:spPr>
          <a:xfrm>
            <a:off x="804672" y="1901952"/>
            <a:ext cx="1051560" cy="292608"/>
          </a:xfrm>
          <a:prstGeom prst="rect">
            <a:avLst/>
          </a:prstGeom>
          <a:noFill/>
          <a:ln/>
        </p:spPr>
        <p:txBody>
          <a:bodyPr wrap="square" lIns="0" tIns="0" rIns="0" bIns="0" rtlCol="0" anchor="ctr"/>
          <a:lstStyle/>
          <a:p>
            <a:pPr algn="ctr" indent="0" marL="0">
              <a:buNone/>
            </a:pPr>
            <a:r>
              <a:rPr lang="en-US" sz="1000" b="1" dirty="0">
                <a:solidFill>
                  <a:srgbClr val="0C1D2E"/>
                </a:solidFill>
                <a:latin typeface="Meiryo" pitchFamily="34" charset="0"/>
                <a:ea typeface="Meiryo" pitchFamily="34" charset="-122"/>
                <a:cs typeface="Meiryo" pitchFamily="34" charset="-120"/>
              </a:rPr>
              <a:t>STEP 1</a:t>
            </a:r>
            <a:endParaRPr lang="en-US" sz="1000" dirty="0"/>
          </a:p>
        </p:txBody>
      </p:sp>
      <p:sp>
        <p:nvSpPr>
          <p:cNvPr id="10" name="Text 8"/>
          <p:cNvSpPr txBox="1"/>
          <p:nvPr/>
        </p:nvSpPr>
        <p:spPr>
          <a:xfrm>
            <a:off x="1938528" y="1901952"/>
            <a:ext cx="1899818" cy="292608"/>
          </a:xfrm>
          <a:prstGeom prst="rect">
            <a:avLst/>
          </a:prstGeom>
          <a:noFill/>
          <a:ln/>
        </p:spPr>
        <p:txBody>
          <a:bodyPr wrap="square" lIns="0" tIns="0" rIns="0" bIns="0" rtlCol="0" anchor="ctr"/>
          <a:lstStyle/>
          <a:p>
            <a:pPr indent="0" marL="0">
              <a:buNone/>
            </a:pPr>
            <a:r>
              <a:rPr lang="en-US" sz="1100" b="1" dirty="0">
                <a:solidFill>
                  <a:srgbClr val="6B7B8A"/>
                </a:solidFill>
                <a:latin typeface="Meiryo" pitchFamily="34" charset="0"/>
                <a:ea typeface="Meiryo" pitchFamily="34" charset="-122"/>
                <a:cs typeface="Meiryo" pitchFamily="34" charset="-120"/>
              </a:rPr>
              <a:t>1〜3か月</a:t>
            </a:r>
            <a:endParaRPr lang="en-US" sz="1100" dirty="0"/>
          </a:p>
        </p:txBody>
      </p:sp>
      <p:sp>
        <p:nvSpPr>
          <p:cNvPr id="11" name="Text 9"/>
          <p:cNvSpPr txBox="1"/>
          <p:nvPr/>
        </p:nvSpPr>
        <p:spPr>
          <a:xfrm>
            <a:off x="804672" y="2331720"/>
            <a:ext cx="3033674" cy="777240"/>
          </a:xfrm>
          <a:prstGeom prst="rect">
            <a:avLst/>
          </a:prstGeom>
          <a:noFill/>
          <a:ln/>
        </p:spPr>
        <p:txBody>
          <a:bodyPr wrap="square" lIns="0" tIns="0" rIns="0" bIns="0" rtlCol="0" anchor="ctr"/>
          <a:lstStyle/>
          <a:p>
            <a:pPr indent="0" marL="0">
              <a:lnSpc>
                <a:spcPct val="120000"/>
              </a:lnSpc>
              <a:buNone/>
            </a:pPr>
            <a:r>
              <a:rPr lang="en-US" sz="1400" b="1" dirty="0">
                <a:solidFill>
                  <a:srgbClr val="16324F"/>
                </a:solidFill>
                <a:latin typeface="Meiryo" pitchFamily="34" charset="0"/>
                <a:ea typeface="Meiryo" pitchFamily="34" charset="-122"/>
                <a:cs typeface="Meiryo" pitchFamily="34" charset="-120"/>
              </a:rPr>
              <a:t>外部講師を招いて第1科目を収録</a:t>
            </a:r>
            <a:endParaRPr lang="en-US" sz="1400" dirty="0"/>
          </a:p>
        </p:txBody>
      </p:sp>
      <p:sp>
        <p:nvSpPr>
          <p:cNvPr id="12" name="Text 10"/>
          <p:cNvSpPr txBox="1"/>
          <p:nvPr/>
        </p:nvSpPr>
        <p:spPr>
          <a:xfrm>
            <a:off x="804672" y="3154680"/>
            <a:ext cx="3033674" cy="1005840"/>
          </a:xfrm>
          <a:prstGeom prst="rect">
            <a:avLst/>
          </a:prstGeom>
          <a:noFill/>
          <a:ln/>
        </p:spPr>
        <p:txBody>
          <a:bodyPr wrap="square" lIns="0" tIns="0" rIns="0" bIns="0" rtlCol="0" anchor="ctr"/>
          <a:lstStyle/>
          <a:p>
            <a:pPr indent="0" marL="0">
              <a:lnSpc>
                <a:spcPct val="125000"/>
              </a:lnSpc>
              <a:buNone/>
            </a:pPr>
            <a:r>
              <a:rPr lang="en-US" sz="1100" dirty="0">
                <a:solidFill>
                  <a:srgbClr val="1C2A38"/>
                </a:solidFill>
                <a:latin typeface="Meiryo" pitchFamily="34" charset="0"/>
                <a:ea typeface="Meiryo" pitchFamily="34" charset="-122"/>
                <a:cs typeface="Meiryo" pitchFamily="34" charset="-120"/>
              </a:rPr>
              <a:t>講師要件の担保が最も明確な形で立ち上げます。収録した講義は聖建様の資産として残ります。</a:t>
            </a:r>
            <a:endParaRPr lang="en-US" sz="1100" dirty="0"/>
          </a:p>
        </p:txBody>
      </p:sp>
      <p:sp>
        <p:nvSpPr>
          <p:cNvPr id="13" name="Shape 11"/>
          <p:cNvSpPr/>
          <p:nvPr/>
        </p:nvSpPr>
        <p:spPr>
          <a:xfrm rot="5400000">
            <a:off x="4144670" y="2880360"/>
            <a:ext cx="100584" cy="219456"/>
          </a:xfrm>
          <a:prstGeom prst="triangle">
            <a:avLst/>
          </a:prstGeom>
          <a:solidFill>
            <a:srgbClr val="3E6B8C"/>
          </a:solidFill>
          <a:ln/>
        </p:spPr>
      </p:sp>
      <p:sp>
        <p:nvSpPr>
          <p:cNvPr id="14" name="Shape 12"/>
          <p:cNvSpPr/>
          <p:nvPr/>
        </p:nvSpPr>
        <p:spPr>
          <a:xfrm>
            <a:off x="4322978" y="1691640"/>
            <a:ext cx="3545738" cy="2606040"/>
          </a:xfrm>
          <a:prstGeom prst="roundRect">
            <a:avLst>
              <a:gd name="adj" fmla="val 1754"/>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15" name="Shape 13"/>
          <p:cNvSpPr/>
          <p:nvPr/>
        </p:nvSpPr>
        <p:spPr>
          <a:xfrm>
            <a:off x="4579010" y="1901952"/>
            <a:ext cx="1051560" cy="292608"/>
          </a:xfrm>
          <a:prstGeom prst="roundRect">
            <a:avLst>
              <a:gd name="adj" fmla="val 50000"/>
            </a:avLst>
          </a:prstGeom>
          <a:solidFill>
            <a:srgbClr val="E8960C"/>
          </a:solidFill>
          <a:ln/>
        </p:spPr>
      </p:sp>
      <p:sp>
        <p:nvSpPr>
          <p:cNvPr id="16" name="Text 14"/>
          <p:cNvSpPr txBox="1"/>
          <p:nvPr/>
        </p:nvSpPr>
        <p:spPr>
          <a:xfrm>
            <a:off x="4579010" y="1901952"/>
            <a:ext cx="1051560" cy="292608"/>
          </a:xfrm>
          <a:prstGeom prst="rect">
            <a:avLst/>
          </a:prstGeom>
          <a:noFill/>
          <a:ln/>
        </p:spPr>
        <p:txBody>
          <a:bodyPr wrap="square" lIns="0" tIns="0" rIns="0" bIns="0" rtlCol="0" anchor="ctr"/>
          <a:lstStyle/>
          <a:p>
            <a:pPr algn="ctr" indent="0" marL="0">
              <a:buNone/>
            </a:pPr>
            <a:r>
              <a:rPr lang="en-US" sz="1000" b="1" dirty="0">
                <a:solidFill>
                  <a:srgbClr val="0C1D2E"/>
                </a:solidFill>
                <a:latin typeface="Meiryo" pitchFamily="34" charset="0"/>
                <a:ea typeface="Meiryo" pitchFamily="34" charset="-122"/>
                <a:cs typeface="Meiryo" pitchFamily="34" charset="-120"/>
              </a:rPr>
              <a:t>STEP 2</a:t>
            </a:r>
            <a:endParaRPr lang="en-US" sz="1000" dirty="0"/>
          </a:p>
        </p:txBody>
      </p:sp>
      <p:sp>
        <p:nvSpPr>
          <p:cNvPr id="17" name="Text 15"/>
          <p:cNvSpPr txBox="1"/>
          <p:nvPr/>
        </p:nvSpPr>
        <p:spPr>
          <a:xfrm>
            <a:off x="5712866" y="1901952"/>
            <a:ext cx="1899818" cy="292608"/>
          </a:xfrm>
          <a:prstGeom prst="rect">
            <a:avLst/>
          </a:prstGeom>
          <a:noFill/>
          <a:ln/>
        </p:spPr>
        <p:txBody>
          <a:bodyPr wrap="square" lIns="0" tIns="0" rIns="0" bIns="0" rtlCol="0" anchor="ctr"/>
          <a:lstStyle/>
          <a:p>
            <a:pPr indent="0" marL="0">
              <a:buNone/>
            </a:pPr>
            <a:r>
              <a:rPr lang="en-US" sz="1100" b="1" dirty="0">
                <a:solidFill>
                  <a:srgbClr val="6B7B8A"/>
                </a:solidFill>
                <a:latin typeface="Meiryo" pitchFamily="34" charset="0"/>
                <a:ea typeface="Meiryo" pitchFamily="34" charset="-122"/>
                <a:cs typeface="Meiryo" pitchFamily="34" charset="-120"/>
              </a:rPr>
              <a:t>4〜9か月</a:t>
            </a:r>
            <a:endParaRPr lang="en-US" sz="1100" dirty="0"/>
          </a:p>
        </p:txBody>
      </p:sp>
      <p:sp>
        <p:nvSpPr>
          <p:cNvPr id="18" name="Text 16"/>
          <p:cNvSpPr txBox="1"/>
          <p:nvPr/>
        </p:nvSpPr>
        <p:spPr>
          <a:xfrm>
            <a:off x="4579010" y="2331720"/>
            <a:ext cx="3033674" cy="777240"/>
          </a:xfrm>
          <a:prstGeom prst="rect">
            <a:avLst/>
          </a:prstGeom>
          <a:noFill/>
          <a:ln/>
        </p:spPr>
        <p:txBody>
          <a:bodyPr wrap="square" lIns="0" tIns="0" rIns="0" bIns="0" rtlCol="0" anchor="ctr"/>
          <a:lstStyle/>
          <a:p>
            <a:pPr indent="0" marL="0">
              <a:lnSpc>
                <a:spcPct val="120000"/>
              </a:lnSpc>
              <a:buNone/>
            </a:pPr>
            <a:r>
              <a:rPr lang="en-US" sz="1400" b="1" dirty="0">
                <a:solidFill>
                  <a:srgbClr val="16324F"/>
                </a:solidFill>
                <a:latin typeface="Meiryo" pitchFamily="34" charset="0"/>
                <a:ea typeface="Meiryo" pitchFamily="34" charset="-122"/>
                <a:cs typeface="Meiryo" pitchFamily="34" charset="-120"/>
              </a:rPr>
              <a:t>収録教材で運営開始・実績づくり</a:t>
            </a:r>
            <a:endParaRPr lang="en-US" sz="1400" dirty="0"/>
          </a:p>
        </p:txBody>
      </p:sp>
      <p:sp>
        <p:nvSpPr>
          <p:cNvPr id="19" name="Text 17"/>
          <p:cNvSpPr txBox="1"/>
          <p:nvPr/>
        </p:nvSpPr>
        <p:spPr>
          <a:xfrm>
            <a:off x="4579010" y="3154680"/>
            <a:ext cx="3033674" cy="1005840"/>
          </a:xfrm>
          <a:prstGeom prst="rect">
            <a:avLst/>
          </a:prstGeom>
          <a:noFill/>
          <a:ln/>
        </p:spPr>
        <p:txBody>
          <a:bodyPr wrap="square" lIns="0" tIns="0" rIns="0" bIns="0" rtlCol="0" anchor="ctr"/>
          <a:lstStyle/>
          <a:p>
            <a:pPr indent="0" marL="0">
              <a:lnSpc>
                <a:spcPct val="125000"/>
              </a:lnSpc>
              <a:buNone/>
            </a:pPr>
            <a:r>
              <a:rPr lang="en-US" sz="1100" dirty="0">
                <a:solidFill>
                  <a:srgbClr val="1C2A38"/>
                </a:solidFill>
                <a:latin typeface="Meiryo" pitchFamily="34" charset="0"/>
                <a:ea typeface="Meiryo" pitchFamily="34" charset="-122"/>
                <a:cs typeface="Meiryo" pitchFamily="34" charset="-120"/>
              </a:rPr>
              <a:t>受講者の反応、問い合わせの内容、実技会場の回し方など、運用ノウハウを蓄積します。</a:t>
            </a:r>
            <a:endParaRPr lang="en-US" sz="1100" dirty="0"/>
          </a:p>
        </p:txBody>
      </p:sp>
      <p:sp>
        <p:nvSpPr>
          <p:cNvPr id="20" name="Shape 18"/>
          <p:cNvSpPr/>
          <p:nvPr/>
        </p:nvSpPr>
        <p:spPr>
          <a:xfrm rot="5400000">
            <a:off x="7919009" y="2880360"/>
            <a:ext cx="100584" cy="219456"/>
          </a:xfrm>
          <a:prstGeom prst="triangle">
            <a:avLst/>
          </a:prstGeom>
          <a:solidFill>
            <a:srgbClr val="3E6B8C"/>
          </a:solidFill>
          <a:ln/>
        </p:spPr>
      </p:sp>
      <p:sp>
        <p:nvSpPr>
          <p:cNvPr id="21" name="Shape 19"/>
          <p:cNvSpPr/>
          <p:nvPr/>
        </p:nvSpPr>
        <p:spPr>
          <a:xfrm>
            <a:off x="8097317" y="1691640"/>
            <a:ext cx="3545738" cy="2606040"/>
          </a:xfrm>
          <a:prstGeom prst="roundRect">
            <a:avLst>
              <a:gd name="adj" fmla="val 1754"/>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22" name="Shape 20"/>
          <p:cNvSpPr/>
          <p:nvPr/>
        </p:nvSpPr>
        <p:spPr>
          <a:xfrm>
            <a:off x="8353349" y="1901952"/>
            <a:ext cx="1051560" cy="292608"/>
          </a:xfrm>
          <a:prstGeom prst="roundRect">
            <a:avLst>
              <a:gd name="adj" fmla="val 50000"/>
            </a:avLst>
          </a:prstGeom>
          <a:solidFill>
            <a:srgbClr val="E8960C"/>
          </a:solidFill>
          <a:ln/>
        </p:spPr>
      </p:sp>
      <p:sp>
        <p:nvSpPr>
          <p:cNvPr id="23" name="Text 21"/>
          <p:cNvSpPr txBox="1"/>
          <p:nvPr/>
        </p:nvSpPr>
        <p:spPr>
          <a:xfrm>
            <a:off x="8353349" y="1901952"/>
            <a:ext cx="1051560" cy="292608"/>
          </a:xfrm>
          <a:prstGeom prst="rect">
            <a:avLst/>
          </a:prstGeom>
          <a:noFill/>
          <a:ln/>
        </p:spPr>
        <p:txBody>
          <a:bodyPr wrap="square" lIns="0" tIns="0" rIns="0" bIns="0" rtlCol="0" anchor="ctr"/>
          <a:lstStyle/>
          <a:p>
            <a:pPr algn="ctr" indent="0" marL="0">
              <a:buNone/>
            </a:pPr>
            <a:r>
              <a:rPr lang="en-US" sz="1000" b="1" dirty="0">
                <a:solidFill>
                  <a:srgbClr val="0C1D2E"/>
                </a:solidFill>
                <a:latin typeface="Meiryo" pitchFamily="34" charset="0"/>
                <a:ea typeface="Meiryo" pitchFamily="34" charset="-122"/>
                <a:cs typeface="Meiryo" pitchFamily="34" charset="-120"/>
              </a:rPr>
              <a:t>STEP 3</a:t>
            </a:r>
            <a:endParaRPr lang="en-US" sz="1000" dirty="0"/>
          </a:p>
        </p:txBody>
      </p:sp>
      <p:sp>
        <p:nvSpPr>
          <p:cNvPr id="24" name="Text 22"/>
          <p:cNvSpPr txBox="1"/>
          <p:nvPr/>
        </p:nvSpPr>
        <p:spPr>
          <a:xfrm>
            <a:off x="9487205" y="1901952"/>
            <a:ext cx="1899818" cy="292608"/>
          </a:xfrm>
          <a:prstGeom prst="rect">
            <a:avLst/>
          </a:prstGeom>
          <a:noFill/>
          <a:ln/>
        </p:spPr>
        <p:txBody>
          <a:bodyPr wrap="square" lIns="0" tIns="0" rIns="0" bIns="0" rtlCol="0" anchor="ctr"/>
          <a:lstStyle/>
          <a:p>
            <a:pPr indent="0" marL="0">
              <a:buNone/>
            </a:pPr>
            <a:r>
              <a:rPr lang="en-US" sz="1100" b="1" dirty="0">
                <a:solidFill>
                  <a:srgbClr val="6B7B8A"/>
                </a:solidFill>
                <a:latin typeface="Meiryo" pitchFamily="34" charset="0"/>
                <a:ea typeface="Meiryo" pitchFamily="34" charset="-122"/>
                <a:cs typeface="Meiryo" pitchFamily="34" charset="-120"/>
              </a:rPr>
              <a:t>10か月〜</a:t>
            </a:r>
            <a:endParaRPr lang="en-US" sz="1100" dirty="0"/>
          </a:p>
        </p:txBody>
      </p:sp>
      <p:sp>
        <p:nvSpPr>
          <p:cNvPr id="25" name="Text 23"/>
          <p:cNvSpPr txBox="1"/>
          <p:nvPr/>
        </p:nvSpPr>
        <p:spPr>
          <a:xfrm>
            <a:off x="8353349" y="2331720"/>
            <a:ext cx="3033674" cy="777240"/>
          </a:xfrm>
          <a:prstGeom prst="rect">
            <a:avLst/>
          </a:prstGeom>
          <a:noFill/>
          <a:ln/>
        </p:spPr>
        <p:txBody>
          <a:bodyPr wrap="square" lIns="0" tIns="0" rIns="0" bIns="0" rtlCol="0" anchor="ctr"/>
          <a:lstStyle/>
          <a:p>
            <a:pPr indent="0" marL="0">
              <a:lnSpc>
                <a:spcPct val="120000"/>
              </a:lnSpc>
              <a:buNone/>
            </a:pPr>
            <a:r>
              <a:rPr lang="en-US" sz="1400" b="1" dirty="0">
                <a:solidFill>
                  <a:srgbClr val="16324F"/>
                </a:solidFill>
                <a:latin typeface="Meiryo" pitchFamily="34" charset="0"/>
                <a:ea typeface="Meiryo" pitchFamily="34" charset="-122"/>
                <a:cs typeface="Meiryo" pitchFamily="34" charset="-120"/>
              </a:rPr>
              <a:t>2科目目以降は自社講師へ移行</a:t>
            </a:r>
            <a:endParaRPr lang="en-US" sz="1400" dirty="0"/>
          </a:p>
        </p:txBody>
      </p:sp>
      <p:sp>
        <p:nvSpPr>
          <p:cNvPr id="26" name="Text 24"/>
          <p:cNvSpPr txBox="1"/>
          <p:nvPr/>
        </p:nvSpPr>
        <p:spPr>
          <a:xfrm>
            <a:off x="8353349" y="3154680"/>
            <a:ext cx="3033674" cy="1005840"/>
          </a:xfrm>
          <a:prstGeom prst="rect">
            <a:avLst/>
          </a:prstGeom>
          <a:noFill/>
          <a:ln/>
        </p:spPr>
        <p:txBody>
          <a:bodyPr wrap="square" lIns="0" tIns="0" rIns="0" bIns="0" rtlCol="0" anchor="ctr"/>
          <a:lstStyle/>
          <a:p>
            <a:pPr indent="0" marL="0">
              <a:lnSpc>
                <a:spcPct val="125000"/>
              </a:lnSpc>
              <a:buNone/>
            </a:pPr>
            <a:r>
              <a:rPr lang="en-US" sz="1100" dirty="0">
                <a:solidFill>
                  <a:srgbClr val="1C2A38"/>
                </a:solidFill>
                <a:latin typeface="Meiryo" pitchFamily="34" charset="0"/>
                <a:ea typeface="Meiryo" pitchFamily="34" charset="-122"/>
                <a:cs typeface="Meiryo" pitchFamily="34" charset="-120"/>
              </a:rPr>
              <a:t>社内のベテランが講師を務め、講師料を圧縮。利益率を引き上げながら科目を増やします。</a:t>
            </a:r>
            <a:endParaRPr lang="en-US" sz="1100" dirty="0"/>
          </a:p>
        </p:txBody>
      </p:sp>
      <p:sp>
        <p:nvSpPr>
          <p:cNvPr id="27" name="Shape 25"/>
          <p:cNvSpPr/>
          <p:nvPr/>
        </p:nvSpPr>
        <p:spPr>
          <a:xfrm>
            <a:off x="548640" y="4526280"/>
            <a:ext cx="11094415" cy="1325880"/>
          </a:xfrm>
          <a:prstGeom prst="roundRect">
            <a:avLst>
              <a:gd name="adj" fmla="val 3448"/>
            </a:avLst>
          </a:prstGeom>
          <a:solidFill>
            <a:srgbClr val="16324F"/>
          </a:solidFill>
          <a:ln/>
        </p:spPr>
      </p:sp>
      <p:sp>
        <p:nvSpPr>
          <p:cNvPr id="28" name="Text 26"/>
          <p:cNvSpPr txBox="1"/>
          <p:nvPr/>
        </p:nvSpPr>
        <p:spPr>
          <a:xfrm>
            <a:off x="868680" y="4709160"/>
            <a:ext cx="7315200" cy="329184"/>
          </a:xfrm>
          <a:prstGeom prst="rect">
            <a:avLst/>
          </a:prstGeom>
          <a:noFill/>
          <a:ln/>
        </p:spPr>
        <p:txBody>
          <a:bodyPr wrap="square" lIns="0" tIns="0" rIns="0" bIns="0" rtlCol="0" anchor="ctr"/>
          <a:lstStyle/>
          <a:p>
            <a:pPr indent="0" marL="0">
              <a:buNone/>
            </a:pPr>
            <a:r>
              <a:rPr lang="en-US" sz="1400" b="1" dirty="0">
                <a:solidFill>
                  <a:srgbClr val="E8960C"/>
                </a:solidFill>
                <a:latin typeface="Meiryo" pitchFamily="34" charset="0"/>
                <a:ea typeface="Meiryo" pitchFamily="34" charset="-122"/>
                <a:cs typeface="Meiryo" pitchFamily="34" charset="-120"/>
              </a:rPr>
              <a:t>なぜC案（市販教材の調達）を推奨しないのか</a:t>
            </a:r>
            <a:endParaRPr lang="en-US" sz="1400" dirty="0"/>
          </a:p>
        </p:txBody>
      </p:sp>
      <p:sp>
        <p:nvSpPr>
          <p:cNvPr id="29" name="Text 27"/>
          <p:cNvSpPr txBox="1"/>
          <p:nvPr/>
        </p:nvSpPr>
        <p:spPr>
          <a:xfrm>
            <a:off x="868680" y="5074920"/>
            <a:ext cx="10454335" cy="685800"/>
          </a:xfrm>
          <a:prstGeom prst="rect">
            <a:avLst/>
          </a:prstGeom>
          <a:noFill/>
          <a:ln/>
        </p:spPr>
        <p:txBody>
          <a:bodyPr wrap="square" lIns="0" tIns="0" rIns="0" bIns="0" rtlCol="0" anchor="ctr"/>
          <a:lstStyle/>
          <a:p>
            <a:pPr indent="0" marL="0">
              <a:lnSpc>
                <a:spcPct val="125000"/>
              </a:lnSpc>
              <a:buNone/>
            </a:pPr>
            <a:r>
              <a:rPr lang="en-US" sz="1100" dirty="0">
                <a:solidFill>
                  <a:srgbClr val="D6E2EC"/>
                </a:solidFill>
                <a:latin typeface="Meiryo" pitchFamily="34" charset="0"/>
                <a:ea typeface="Meiryo" pitchFamily="34" charset="-122"/>
                <a:cs typeface="Meiryo" pitchFamily="34" charset="-120"/>
              </a:rPr>
              <a:t>市販のeラーニング教材は「自社の従業員に受講させる」ことを前提にライセンスされているものが大半で、第三者への再販・有料提供が許諾されないケースが多く見られます。外部提供を新規事業とする今回のモデルでは、契約上の制約と価格決定権を持てないことが致命的になります。まずは自社の資産となる教材を作ることをお勧めします。</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5F7"/>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indent="0" marL="0">
              <a:buNone/>
            </a:pPr>
            <a:r>
              <a:rPr lang="en-US" sz="1100" b="1" spc="150" kern="0" dirty="0">
                <a:solidFill>
                  <a:srgbClr val="B87400"/>
                </a:solidFill>
                <a:latin typeface="Meiryo" pitchFamily="34" charset="0"/>
                <a:ea typeface="Meiryo" pitchFamily="34" charset="-122"/>
                <a:cs typeface="Meiryo" pitchFamily="34" charset="-120"/>
              </a:rPr>
              <a:t>PRODUCT</a:t>
            </a:r>
            <a:endParaRPr lang="en-US" sz="1100" dirty="0"/>
          </a:p>
        </p:txBody>
      </p:sp>
      <p:sp>
        <p:nvSpPr>
          <p:cNvPr id="3" name="Text 1"/>
          <p:cNvSpPr txBox="1"/>
          <p:nvPr/>
        </p:nvSpPr>
        <p:spPr>
          <a:xfrm>
            <a:off x="548640" y="603504"/>
            <a:ext cx="11094415" cy="548640"/>
          </a:xfrm>
          <a:prstGeom prst="rect">
            <a:avLst/>
          </a:prstGeom>
          <a:noFill/>
          <a:ln/>
        </p:spPr>
        <p:txBody>
          <a:bodyPr wrap="square" lIns="0" tIns="0" rIns="0" bIns="0" rtlCol="0" anchor="ctr"/>
          <a:lstStyle/>
          <a:p>
            <a:pPr indent="0" marL="0">
              <a:buNone/>
            </a:pPr>
            <a:r>
              <a:rPr lang="en-US" sz="2700" b="1" dirty="0">
                <a:solidFill>
                  <a:srgbClr val="16324F"/>
                </a:solidFill>
                <a:latin typeface="Meiryo" pitchFamily="34" charset="0"/>
                <a:ea typeface="Meiryo" pitchFamily="34" charset="-122"/>
                <a:cs typeface="Meiryo" pitchFamily="34" charset="-120"/>
              </a:rPr>
              <a:t>商品設計 ─ 3つのプラン</a:t>
            </a:r>
            <a:endParaRPr lang="en-US" sz="2700" dirty="0"/>
          </a:p>
        </p:txBody>
      </p:sp>
      <p:sp>
        <p:nvSpPr>
          <p:cNvPr id="4" name="Text 2"/>
          <p:cNvSpPr txBox="1"/>
          <p:nvPr/>
        </p:nvSpPr>
        <p:spPr>
          <a:xfrm>
            <a:off x="548640" y="1188720"/>
            <a:ext cx="11094415" cy="329184"/>
          </a:xfrm>
          <a:prstGeom prst="rect">
            <a:avLst/>
          </a:prstGeom>
          <a:noFill/>
          <a:ln/>
        </p:spPr>
        <p:txBody>
          <a:bodyPr wrap="square" lIns="0" tIns="0" rIns="0" bIns="0" rtlCol="0" anchor="ctr"/>
          <a:lstStyle/>
          <a:p>
            <a:pPr indent="0" marL="0">
              <a:buNone/>
            </a:pPr>
            <a:r>
              <a:rPr lang="en-US" sz="1250" dirty="0">
                <a:solidFill>
                  <a:srgbClr val="6B7B8A"/>
                </a:solidFill>
                <a:latin typeface="Meiryo" pitchFamily="34" charset="0"/>
                <a:ea typeface="Meiryo" pitchFamily="34" charset="-122"/>
                <a:cs typeface="Meiryo" pitchFamily="34" charset="-120"/>
              </a:rPr>
              <a:t>学科と実技を分けることで、商圏の広さと単価の高さを両立します。</a:t>
            </a:r>
            <a:endParaRPr lang="en-US" sz="1250" dirty="0"/>
          </a:p>
        </p:txBody>
      </p:sp>
      <p:sp>
        <p:nvSpPr>
          <p:cNvPr id="5" name="Text 3"/>
          <p:cNvSpPr txBox="1"/>
          <p:nvPr/>
        </p:nvSpPr>
        <p:spPr>
          <a:xfrm>
            <a:off x="548640" y="6382512"/>
            <a:ext cx="8686800" cy="256032"/>
          </a:xfrm>
          <a:prstGeom prst="rect">
            <a:avLst/>
          </a:prstGeom>
          <a:noFill/>
          <a:ln/>
        </p:spPr>
        <p:txBody>
          <a:bodyPr wrap="square" lIns="0" tIns="0" rIns="0" bIns="0" rtlCol="0" anchor="ctr"/>
          <a:lstStyle/>
          <a:p>
            <a:pPr indent="0" marL="0">
              <a:buNone/>
            </a:pPr>
            <a:r>
              <a:rPr lang="en-US" sz="900" dirty="0">
                <a:solidFill>
                  <a:srgbClr val="6B7B8A"/>
                </a:solidFill>
                <a:latin typeface="Meiryo" pitchFamily="34" charset="0"/>
                <a:ea typeface="Meiryo" pitchFamily="34" charset="-122"/>
                <a:cs typeface="Meiryo" pitchFamily="34" charset="-120"/>
              </a:rPr>
              <a:t>株式会社聖建 御中 ｜ 建設業 特別教育 オンライン受講プラットフォーム ご提案</a:t>
            </a:r>
            <a:endParaRPr lang="en-US" sz="900" dirty="0"/>
          </a:p>
        </p:txBody>
      </p:sp>
      <p:sp>
        <p:nvSpPr>
          <p:cNvPr id="6" name="Text 4"/>
          <p:cNvSpPr txBox="1"/>
          <p:nvPr/>
        </p:nvSpPr>
        <p:spPr>
          <a:xfrm>
            <a:off x="11002975" y="6382512"/>
            <a:ext cx="640080" cy="256032"/>
          </a:xfrm>
          <a:prstGeom prst="rect">
            <a:avLst/>
          </a:prstGeom>
          <a:noFill/>
          <a:ln/>
        </p:spPr>
        <p:txBody>
          <a:bodyPr wrap="square" lIns="0" tIns="0" rIns="0" bIns="0" rtlCol="0" anchor="ctr"/>
          <a:lstStyle/>
          <a:p>
            <a:pPr algn="r" indent="0" marL="0">
              <a:buNone/>
            </a:pPr>
            <a:r>
              <a:rPr lang="en-US" sz="1000" b="1" dirty="0">
                <a:solidFill>
                  <a:srgbClr val="3E6B8C"/>
                </a:solidFill>
                <a:latin typeface="Meiryo" pitchFamily="34" charset="0"/>
                <a:ea typeface="Meiryo" pitchFamily="34" charset="-122"/>
                <a:cs typeface="Meiryo" pitchFamily="34" charset="-120"/>
              </a:rPr>
              <a:t>14</a:t>
            </a:r>
            <a:endParaRPr lang="en-US" sz="1000" dirty="0"/>
          </a:p>
        </p:txBody>
      </p:sp>
      <p:sp>
        <p:nvSpPr>
          <p:cNvPr id="7" name="Shape 5"/>
          <p:cNvSpPr/>
          <p:nvPr/>
        </p:nvSpPr>
        <p:spPr>
          <a:xfrm>
            <a:off x="548640" y="1691640"/>
            <a:ext cx="3545738" cy="3154680"/>
          </a:xfrm>
          <a:prstGeom prst="roundRect">
            <a:avLst>
              <a:gd name="adj" fmla="val 1449"/>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8" name="Shape 6"/>
          <p:cNvSpPr/>
          <p:nvPr/>
        </p:nvSpPr>
        <p:spPr>
          <a:xfrm>
            <a:off x="548640" y="1691640"/>
            <a:ext cx="3545738" cy="566928"/>
          </a:xfrm>
          <a:prstGeom prst="roundRect">
            <a:avLst>
              <a:gd name="adj" fmla="val 8065"/>
            </a:avLst>
          </a:prstGeom>
          <a:solidFill>
            <a:srgbClr val="3E6B8C"/>
          </a:solidFill>
          <a:ln/>
        </p:spPr>
      </p:sp>
      <p:sp>
        <p:nvSpPr>
          <p:cNvPr id="9" name="Text 7"/>
          <p:cNvSpPr txBox="1"/>
          <p:nvPr/>
        </p:nvSpPr>
        <p:spPr>
          <a:xfrm>
            <a:off x="804672" y="1691640"/>
            <a:ext cx="3033674" cy="566928"/>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プランA</a:t>
            </a:r>
            <a:endParaRPr lang="en-US" sz="1400" dirty="0"/>
          </a:p>
        </p:txBody>
      </p:sp>
      <p:sp>
        <p:nvSpPr>
          <p:cNvPr id="10" name="Text 8"/>
          <p:cNvSpPr txBox="1"/>
          <p:nvPr/>
        </p:nvSpPr>
        <p:spPr>
          <a:xfrm>
            <a:off x="804672" y="2395728"/>
            <a:ext cx="3033674" cy="365760"/>
          </a:xfrm>
          <a:prstGeom prst="rect">
            <a:avLst/>
          </a:prstGeom>
          <a:noFill/>
          <a:ln/>
        </p:spPr>
        <p:txBody>
          <a:bodyPr wrap="square" lIns="0" tIns="0" rIns="0" bIns="0" rtlCol="0" anchor="ctr"/>
          <a:lstStyle/>
          <a:p>
            <a:pPr indent="0" marL="0">
              <a:buNone/>
            </a:pPr>
            <a:r>
              <a:rPr lang="en-US" sz="1400" b="1" dirty="0">
                <a:solidFill>
                  <a:srgbClr val="16324F"/>
                </a:solidFill>
                <a:latin typeface="Meiryo" pitchFamily="34" charset="0"/>
                <a:ea typeface="Meiryo" pitchFamily="34" charset="-122"/>
                <a:cs typeface="Meiryo" pitchFamily="34" charset="-120"/>
              </a:rPr>
              <a:t>学科オンラインのみ</a:t>
            </a:r>
            <a:endParaRPr lang="en-US" sz="1400" dirty="0"/>
          </a:p>
        </p:txBody>
      </p:sp>
      <p:sp>
        <p:nvSpPr>
          <p:cNvPr id="11" name="Text 9"/>
          <p:cNvSpPr txBox="1"/>
          <p:nvPr/>
        </p:nvSpPr>
        <p:spPr>
          <a:xfrm>
            <a:off x="804672" y="2761488"/>
            <a:ext cx="3033674" cy="402336"/>
          </a:xfrm>
          <a:prstGeom prst="rect">
            <a:avLst/>
          </a:prstGeom>
          <a:noFill/>
          <a:ln/>
        </p:spPr>
        <p:txBody>
          <a:bodyPr wrap="square" lIns="0" tIns="0" rIns="0" bIns="0" rtlCol="0" anchor="ctr"/>
          <a:lstStyle/>
          <a:p>
            <a:pPr indent="0" marL="0">
              <a:buNone/>
            </a:pPr>
            <a:r>
              <a:rPr lang="en-US" sz="2100" b="1" dirty="0">
                <a:solidFill>
                  <a:srgbClr val="B87400"/>
                </a:solidFill>
                <a:latin typeface="Meiryo" pitchFamily="34" charset="0"/>
                <a:ea typeface="Meiryo" pitchFamily="34" charset="-122"/>
                <a:cs typeface="Meiryo" pitchFamily="34" charset="-120"/>
              </a:rPr>
              <a:t>8,000〜10,000円</a:t>
            </a:r>
            <a:endParaRPr lang="en-US" sz="2100" dirty="0"/>
          </a:p>
        </p:txBody>
      </p:sp>
      <p:sp>
        <p:nvSpPr>
          <p:cNvPr id="12" name="Text 10"/>
          <p:cNvSpPr txBox="1"/>
          <p:nvPr/>
        </p:nvSpPr>
        <p:spPr>
          <a:xfrm>
            <a:off x="804672" y="3163824"/>
            <a:ext cx="3033674" cy="237744"/>
          </a:xfrm>
          <a:prstGeom prst="rect">
            <a:avLst/>
          </a:prstGeom>
          <a:noFill/>
          <a:ln/>
        </p:spPr>
        <p:txBody>
          <a:bodyPr wrap="square" lIns="0" tIns="0" rIns="0" bIns="0" rtlCol="0" anchor="ctr"/>
          <a:lstStyle/>
          <a:p>
            <a:pPr indent="0" marL="0">
              <a:buNone/>
            </a:pPr>
            <a:r>
              <a:rPr lang="en-US" sz="1050" dirty="0">
                <a:solidFill>
                  <a:srgbClr val="6B7B8A"/>
                </a:solidFill>
                <a:latin typeface="Meiryo" pitchFamily="34" charset="0"/>
                <a:ea typeface="Meiryo" pitchFamily="34" charset="-122"/>
                <a:cs typeface="Meiryo" pitchFamily="34" charset="-120"/>
              </a:rPr>
              <a:t>／  1名</a:t>
            </a:r>
            <a:endParaRPr lang="en-US" sz="1050" dirty="0"/>
          </a:p>
        </p:txBody>
      </p:sp>
      <p:sp>
        <p:nvSpPr>
          <p:cNvPr id="13" name="Text 11"/>
          <p:cNvSpPr txBox="1"/>
          <p:nvPr/>
        </p:nvSpPr>
        <p:spPr>
          <a:xfrm>
            <a:off x="822960" y="3529584"/>
            <a:ext cx="2997098" cy="1225296"/>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1C2A38"/>
                </a:solidFill>
                <a:latin typeface="Meiryo" pitchFamily="34" charset="0"/>
                <a:ea typeface="Meiryo" pitchFamily="34" charset="-122"/>
                <a:cs typeface="Meiryo" pitchFamily="34" charset="-120"/>
              </a:rPr>
              <a:t>実技は受講者の所属事業者が実施</a:t>
            </a:r>
            <a:endParaRPr lang="en-US" sz="1050" dirty="0"/>
          </a:p>
          <a:p>
            <a:pPr marL="342900" indent="-342900">
              <a:spcAft>
                <a:spcPts val="600"/>
              </a:spcAft>
              <a:buSzPct val="100000"/>
              <a:buChar char="•"/>
            </a:pPr>
            <a:r>
              <a:rPr lang="en-US" sz="1050" dirty="0">
                <a:solidFill>
                  <a:srgbClr val="1C2A38"/>
                </a:solidFill>
                <a:latin typeface="Meiryo" pitchFamily="34" charset="0"/>
                <a:ea typeface="Meiryo" pitchFamily="34" charset="-122"/>
                <a:cs typeface="Meiryo" pitchFamily="34" charset="-120"/>
              </a:rPr>
              <a:t>商圏：全国</a:t>
            </a:r>
            <a:endParaRPr lang="en-US" sz="1050" dirty="0"/>
          </a:p>
          <a:p>
            <a:pPr marL="342900" indent="-342900">
              <a:spcAft>
                <a:spcPts val="600"/>
              </a:spcAft>
              <a:buSzPct val="100000"/>
              <a:buChar char="•"/>
            </a:pPr>
            <a:r>
              <a:rPr lang="en-US" sz="1050" dirty="0">
                <a:solidFill>
                  <a:srgbClr val="1C2A38"/>
                </a:solidFill>
                <a:latin typeface="Meiryo" pitchFamily="34" charset="0"/>
                <a:ea typeface="Meiryo" pitchFamily="34" charset="-122"/>
                <a:cs typeface="Meiryo" pitchFamily="34" charset="-120"/>
              </a:rPr>
              <a:t>粗利率が高い主力商品</a:t>
            </a:r>
            <a:endParaRPr lang="en-US" sz="1050" dirty="0"/>
          </a:p>
          <a:p>
            <a:pPr marL="342900" indent="-342900">
              <a:spcAft>
                <a:spcPts val="600"/>
              </a:spcAft>
              <a:buSzPct val="100000"/>
              <a:buChar char="•"/>
            </a:pPr>
            <a:r>
              <a:rPr lang="en-US" sz="1050" dirty="0">
                <a:solidFill>
                  <a:srgbClr val="1C2A38"/>
                </a:solidFill>
                <a:latin typeface="Meiryo" pitchFamily="34" charset="0"/>
                <a:ea typeface="Meiryo" pitchFamily="34" charset="-122"/>
                <a:cs typeface="Meiryo" pitchFamily="34" charset="-120"/>
              </a:rPr>
              <a:t>フルハーネス等で一般的な提供形態</a:t>
            </a:r>
            <a:endParaRPr lang="en-US" sz="1050" dirty="0"/>
          </a:p>
        </p:txBody>
      </p:sp>
      <p:sp>
        <p:nvSpPr>
          <p:cNvPr id="14" name="Shape 12"/>
          <p:cNvSpPr/>
          <p:nvPr/>
        </p:nvSpPr>
        <p:spPr>
          <a:xfrm>
            <a:off x="4322978" y="1691640"/>
            <a:ext cx="3545738" cy="3154680"/>
          </a:xfrm>
          <a:prstGeom prst="roundRect">
            <a:avLst>
              <a:gd name="adj" fmla="val 1449"/>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15" name="Shape 13"/>
          <p:cNvSpPr/>
          <p:nvPr/>
        </p:nvSpPr>
        <p:spPr>
          <a:xfrm>
            <a:off x="4322978" y="1691640"/>
            <a:ext cx="3545738" cy="566928"/>
          </a:xfrm>
          <a:prstGeom prst="roundRect">
            <a:avLst>
              <a:gd name="adj" fmla="val 8065"/>
            </a:avLst>
          </a:prstGeom>
          <a:solidFill>
            <a:srgbClr val="B87400"/>
          </a:solidFill>
          <a:ln/>
        </p:spPr>
      </p:sp>
      <p:sp>
        <p:nvSpPr>
          <p:cNvPr id="16" name="Text 14"/>
          <p:cNvSpPr txBox="1"/>
          <p:nvPr/>
        </p:nvSpPr>
        <p:spPr>
          <a:xfrm>
            <a:off x="4579010" y="1691640"/>
            <a:ext cx="3033674" cy="566928"/>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プランB</a:t>
            </a:r>
            <a:endParaRPr lang="en-US" sz="1400" dirty="0"/>
          </a:p>
        </p:txBody>
      </p:sp>
      <p:sp>
        <p:nvSpPr>
          <p:cNvPr id="17" name="Text 15"/>
          <p:cNvSpPr txBox="1"/>
          <p:nvPr/>
        </p:nvSpPr>
        <p:spPr>
          <a:xfrm>
            <a:off x="4579010" y="2395728"/>
            <a:ext cx="3033674" cy="365760"/>
          </a:xfrm>
          <a:prstGeom prst="rect">
            <a:avLst/>
          </a:prstGeom>
          <a:noFill/>
          <a:ln/>
        </p:spPr>
        <p:txBody>
          <a:bodyPr wrap="square" lIns="0" tIns="0" rIns="0" bIns="0" rtlCol="0" anchor="ctr"/>
          <a:lstStyle/>
          <a:p>
            <a:pPr indent="0" marL="0">
              <a:buNone/>
            </a:pPr>
            <a:r>
              <a:rPr lang="en-US" sz="1400" b="1" dirty="0">
                <a:solidFill>
                  <a:srgbClr val="16324F"/>
                </a:solidFill>
                <a:latin typeface="Meiryo" pitchFamily="34" charset="0"/>
                <a:ea typeface="Meiryo" pitchFamily="34" charset="-122"/>
                <a:cs typeface="Meiryo" pitchFamily="34" charset="-120"/>
              </a:rPr>
              <a:t>学科＋実技（半田会場）</a:t>
            </a:r>
            <a:endParaRPr lang="en-US" sz="1400" dirty="0"/>
          </a:p>
        </p:txBody>
      </p:sp>
      <p:sp>
        <p:nvSpPr>
          <p:cNvPr id="18" name="Text 16"/>
          <p:cNvSpPr txBox="1"/>
          <p:nvPr/>
        </p:nvSpPr>
        <p:spPr>
          <a:xfrm>
            <a:off x="4579010" y="2761488"/>
            <a:ext cx="3033674" cy="402336"/>
          </a:xfrm>
          <a:prstGeom prst="rect">
            <a:avLst/>
          </a:prstGeom>
          <a:noFill/>
          <a:ln/>
        </p:spPr>
        <p:txBody>
          <a:bodyPr wrap="square" lIns="0" tIns="0" rIns="0" bIns="0" rtlCol="0" anchor="ctr"/>
          <a:lstStyle/>
          <a:p>
            <a:pPr indent="0" marL="0">
              <a:buNone/>
            </a:pPr>
            <a:r>
              <a:rPr lang="en-US" sz="2100" b="1" dirty="0">
                <a:solidFill>
                  <a:srgbClr val="B87400"/>
                </a:solidFill>
                <a:latin typeface="Meiryo" pitchFamily="34" charset="0"/>
                <a:ea typeface="Meiryo" pitchFamily="34" charset="-122"/>
                <a:cs typeface="Meiryo" pitchFamily="34" charset="-120"/>
              </a:rPr>
              <a:t>15,000〜20,000円</a:t>
            </a:r>
            <a:endParaRPr lang="en-US" sz="2100" dirty="0"/>
          </a:p>
        </p:txBody>
      </p:sp>
      <p:sp>
        <p:nvSpPr>
          <p:cNvPr id="19" name="Text 17"/>
          <p:cNvSpPr txBox="1"/>
          <p:nvPr/>
        </p:nvSpPr>
        <p:spPr>
          <a:xfrm>
            <a:off x="4579010" y="3163824"/>
            <a:ext cx="3033674" cy="237744"/>
          </a:xfrm>
          <a:prstGeom prst="rect">
            <a:avLst/>
          </a:prstGeom>
          <a:noFill/>
          <a:ln/>
        </p:spPr>
        <p:txBody>
          <a:bodyPr wrap="square" lIns="0" tIns="0" rIns="0" bIns="0" rtlCol="0" anchor="ctr"/>
          <a:lstStyle/>
          <a:p>
            <a:pPr indent="0" marL="0">
              <a:buNone/>
            </a:pPr>
            <a:r>
              <a:rPr lang="en-US" sz="1050" dirty="0">
                <a:solidFill>
                  <a:srgbClr val="6B7B8A"/>
                </a:solidFill>
                <a:latin typeface="Meiryo" pitchFamily="34" charset="0"/>
                <a:ea typeface="Meiryo" pitchFamily="34" charset="-122"/>
                <a:cs typeface="Meiryo" pitchFamily="34" charset="-120"/>
              </a:rPr>
              <a:t>／  1名</a:t>
            </a:r>
            <a:endParaRPr lang="en-US" sz="1050" dirty="0"/>
          </a:p>
        </p:txBody>
      </p:sp>
      <p:sp>
        <p:nvSpPr>
          <p:cNvPr id="20" name="Text 18"/>
          <p:cNvSpPr txBox="1"/>
          <p:nvPr/>
        </p:nvSpPr>
        <p:spPr>
          <a:xfrm>
            <a:off x="4597298" y="3529584"/>
            <a:ext cx="2997098" cy="1225296"/>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1C2A38"/>
                </a:solidFill>
                <a:latin typeface="Meiryo" pitchFamily="34" charset="0"/>
                <a:ea typeface="Meiryo" pitchFamily="34" charset="-122"/>
                <a:cs typeface="Meiryo" pitchFamily="34" charset="-120"/>
              </a:rPr>
              <a:t>実技まで一括で完結</a:t>
            </a:r>
            <a:endParaRPr lang="en-US" sz="1050" dirty="0"/>
          </a:p>
          <a:p>
            <a:pPr marL="342900" indent="-342900">
              <a:spcAft>
                <a:spcPts val="600"/>
              </a:spcAft>
              <a:buSzPct val="100000"/>
              <a:buChar char="•"/>
            </a:pPr>
            <a:r>
              <a:rPr lang="en-US" sz="1050" dirty="0">
                <a:solidFill>
                  <a:srgbClr val="1C2A38"/>
                </a:solidFill>
                <a:latin typeface="Meiryo" pitchFamily="34" charset="0"/>
                <a:ea typeface="Meiryo" pitchFamily="34" charset="-122"/>
                <a:cs typeface="Meiryo" pitchFamily="34" charset="-120"/>
              </a:rPr>
              <a:t>商圏：愛知・岐阜・三重</a:t>
            </a:r>
            <a:endParaRPr lang="en-US" sz="1050" dirty="0"/>
          </a:p>
          <a:p>
            <a:pPr marL="342900" indent="-342900">
              <a:spcAft>
                <a:spcPts val="600"/>
              </a:spcAft>
              <a:buSzPct val="100000"/>
              <a:buChar char="•"/>
            </a:pPr>
            <a:r>
              <a:rPr lang="en-US" sz="1050" dirty="0">
                <a:solidFill>
                  <a:srgbClr val="1C2A38"/>
                </a:solidFill>
                <a:latin typeface="Meiryo" pitchFamily="34" charset="0"/>
                <a:ea typeface="Meiryo" pitchFamily="34" charset="-122"/>
                <a:cs typeface="Meiryo" pitchFamily="34" charset="-120"/>
              </a:rPr>
              <a:t>単価が高く、差別化になる</a:t>
            </a:r>
            <a:endParaRPr lang="en-US" sz="1050" dirty="0"/>
          </a:p>
          <a:p>
            <a:pPr marL="342900" indent="-342900">
              <a:spcAft>
                <a:spcPts val="600"/>
              </a:spcAft>
              <a:buSzPct val="100000"/>
              <a:buChar char="•"/>
            </a:pPr>
            <a:r>
              <a:rPr lang="en-US" sz="1050" dirty="0">
                <a:solidFill>
                  <a:srgbClr val="1C2A38"/>
                </a:solidFill>
                <a:latin typeface="Meiryo" pitchFamily="34" charset="0"/>
                <a:ea typeface="Meiryo" pitchFamily="34" charset="-122"/>
                <a:cs typeface="Meiryo" pitchFamily="34" charset="-120"/>
              </a:rPr>
              <a:t>会場のキャパシティが上限になる</a:t>
            </a:r>
            <a:endParaRPr lang="en-US" sz="1050" dirty="0"/>
          </a:p>
        </p:txBody>
      </p:sp>
      <p:sp>
        <p:nvSpPr>
          <p:cNvPr id="21" name="Shape 19"/>
          <p:cNvSpPr/>
          <p:nvPr/>
        </p:nvSpPr>
        <p:spPr>
          <a:xfrm>
            <a:off x="8097317" y="1691640"/>
            <a:ext cx="3545738" cy="3154680"/>
          </a:xfrm>
          <a:prstGeom prst="roundRect">
            <a:avLst>
              <a:gd name="adj" fmla="val 1449"/>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22" name="Shape 20"/>
          <p:cNvSpPr/>
          <p:nvPr/>
        </p:nvSpPr>
        <p:spPr>
          <a:xfrm>
            <a:off x="8097317" y="1691640"/>
            <a:ext cx="3545738" cy="566928"/>
          </a:xfrm>
          <a:prstGeom prst="roundRect">
            <a:avLst>
              <a:gd name="adj" fmla="val 8065"/>
            </a:avLst>
          </a:prstGeom>
          <a:solidFill>
            <a:srgbClr val="16324F"/>
          </a:solidFill>
          <a:ln/>
        </p:spPr>
      </p:sp>
      <p:sp>
        <p:nvSpPr>
          <p:cNvPr id="23" name="Text 21"/>
          <p:cNvSpPr txBox="1"/>
          <p:nvPr/>
        </p:nvSpPr>
        <p:spPr>
          <a:xfrm>
            <a:off x="8353349" y="1691640"/>
            <a:ext cx="3033674" cy="566928"/>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プランC</a:t>
            </a:r>
            <a:endParaRPr lang="en-US" sz="1400" dirty="0"/>
          </a:p>
        </p:txBody>
      </p:sp>
      <p:sp>
        <p:nvSpPr>
          <p:cNvPr id="24" name="Text 22"/>
          <p:cNvSpPr txBox="1"/>
          <p:nvPr/>
        </p:nvSpPr>
        <p:spPr>
          <a:xfrm>
            <a:off x="8353349" y="2395728"/>
            <a:ext cx="3033674" cy="365760"/>
          </a:xfrm>
          <a:prstGeom prst="rect">
            <a:avLst/>
          </a:prstGeom>
          <a:noFill/>
          <a:ln/>
        </p:spPr>
        <p:txBody>
          <a:bodyPr wrap="square" lIns="0" tIns="0" rIns="0" bIns="0" rtlCol="0" anchor="ctr"/>
          <a:lstStyle/>
          <a:p>
            <a:pPr indent="0" marL="0">
              <a:buNone/>
            </a:pPr>
            <a:r>
              <a:rPr lang="en-US" sz="1400" b="1" dirty="0">
                <a:solidFill>
                  <a:srgbClr val="16324F"/>
                </a:solidFill>
                <a:latin typeface="Meiryo" pitchFamily="34" charset="0"/>
                <a:ea typeface="Meiryo" pitchFamily="34" charset="-122"/>
                <a:cs typeface="Meiryo" pitchFamily="34" charset="-120"/>
              </a:rPr>
              <a:t>企業一括・年間契約</a:t>
            </a:r>
            <a:endParaRPr lang="en-US" sz="1400" dirty="0"/>
          </a:p>
        </p:txBody>
      </p:sp>
      <p:sp>
        <p:nvSpPr>
          <p:cNvPr id="25" name="Text 23"/>
          <p:cNvSpPr txBox="1"/>
          <p:nvPr/>
        </p:nvSpPr>
        <p:spPr>
          <a:xfrm>
            <a:off x="8353349" y="2761488"/>
            <a:ext cx="3033674" cy="402336"/>
          </a:xfrm>
          <a:prstGeom prst="rect">
            <a:avLst/>
          </a:prstGeom>
          <a:noFill/>
          <a:ln/>
        </p:spPr>
        <p:txBody>
          <a:bodyPr wrap="square" lIns="0" tIns="0" rIns="0" bIns="0" rtlCol="0" anchor="ctr"/>
          <a:lstStyle/>
          <a:p>
            <a:pPr indent="0" marL="0">
              <a:buNone/>
            </a:pPr>
            <a:r>
              <a:rPr lang="en-US" sz="2100" b="1" dirty="0">
                <a:solidFill>
                  <a:srgbClr val="B87400"/>
                </a:solidFill>
                <a:latin typeface="Meiryo" pitchFamily="34" charset="0"/>
                <a:ea typeface="Meiryo" pitchFamily="34" charset="-122"/>
                <a:cs typeface="Meiryo" pitchFamily="34" charset="-120"/>
              </a:rPr>
              <a:t>個別お見積り</a:t>
            </a:r>
            <a:endParaRPr lang="en-US" sz="2100" dirty="0"/>
          </a:p>
        </p:txBody>
      </p:sp>
      <p:sp>
        <p:nvSpPr>
          <p:cNvPr id="26" name="Text 24"/>
          <p:cNvSpPr txBox="1"/>
          <p:nvPr/>
        </p:nvSpPr>
        <p:spPr>
          <a:xfrm>
            <a:off x="8353349" y="3163824"/>
            <a:ext cx="3033674" cy="237744"/>
          </a:xfrm>
          <a:prstGeom prst="rect">
            <a:avLst/>
          </a:prstGeom>
          <a:noFill/>
          <a:ln/>
        </p:spPr>
        <p:txBody>
          <a:bodyPr wrap="square" lIns="0" tIns="0" rIns="0" bIns="0" rtlCol="0" anchor="ctr"/>
          <a:lstStyle/>
          <a:p>
            <a:pPr indent="0" marL="0">
              <a:buNone/>
            </a:pPr>
            <a:r>
              <a:rPr lang="en-US" sz="1050" dirty="0">
                <a:solidFill>
                  <a:srgbClr val="6B7B8A"/>
                </a:solidFill>
                <a:latin typeface="Meiryo" pitchFamily="34" charset="0"/>
                <a:ea typeface="Meiryo" pitchFamily="34" charset="-122"/>
                <a:cs typeface="Meiryo" pitchFamily="34" charset="-120"/>
              </a:rPr>
              <a:t>／  年間</a:t>
            </a:r>
            <a:endParaRPr lang="en-US" sz="1050" dirty="0"/>
          </a:p>
        </p:txBody>
      </p:sp>
      <p:sp>
        <p:nvSpPr>
          <p:cNvPr id="27" name="Text 25"/>
          <p:cNvSpPr txBox="1"/>
          <p:nvPr/>
        </p:nvSpPr>
        <p:spPr>
          <a:xfrm>
            <a:off x="8371637" y="3529584"/>
            <a:ext cx="2997098" cy="1225296"/>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1C2A38"/>
                </a:solidFill>
                <a:latin typeface="Meiryo" pitchFamily="34" charset="0"/>
                <a:ea typeface="Meiryo" pitchFamily="34" charset="-122"/>
                <a:cs typeface="Meiryo" pitchFamily="34" charset="-120"/>
              </a:rPr>
              <a:t>複数科目・複数名をまとめて契約</a:t>
            </a:r>
            <a:endParaRPr lang="en-US" sz="1050" dirty="0"/>
          </a:p>
          <a:p>
            <a:pPr marL="342900" indent="-342900">
              <a:spcAft>
                <a:spcPts val="600"/>
              </a:spcAft>
              <a:buSzPct val="100000"/>
              <a:buChar char="•"/>
            </a:pPr>
            <a:r>
              <a:rPr lang="en-US" sz="1050" dirty="0">
                <a:solidFill>
                  <a:srgbClr val="1C2A38"/>
                </a:solidFill>
                <a:latin typeface="Meiryo" pitchFamily="34" charset="0"/>
                <a:ea typeface="Meiryo" pitchFamily="34" charset="-122"/>
                <a:cs typeface="Meiryo" pitchFamily="34" charset="-120"/>
              </a:rPr>
              <a:t>企業管理ポータル付き</a:t>
            </a:r>
            <a:endParaRPr lang="en-US" sz="1050" dirty="0"/>
          </a:p>
          <a:p>
            <a:pPr marL="342900" indent="-342900">
              <a:spcAft>
                <a:spcPts val="600"/>
              </a:spcAft>
              <a:buSzPct val="100000"/>
              <a:buChar char="•"/>
            </a:pPr>
            <a:r>
              <a:rPr lang="en-US" sz="1050" dirty="0">
                <a:solidFill>
                  <a:srgbClr val="1C2A38"/>
                </a:solidFill>
                <a:latin typeface="Meiryo" pitchFamily="34" charset="0"/>
                <a:ea typeface="Meiryo" pitchFamily="34" charset="-122"/>
                <a:cs typeface="Meiryo" pitchFamily="34" charset="-120"/>
              </a:rPr>
              <a:t>継続収益（ストック）化できる</a:t>
            </a:r>
            <a:endParaRPr lang="en-US" sz="1050" dirty="0"/>
          </a:p>
          <a:p>
            <a:pPr marL="342900" indent="-342900">
              <a:spcAft>
                <a:spcPts val="600"/>
              </a:spcAft>
              <a:buSzPct val="100000"/>
              <a:buChar char="•"/>
            </a:pPr>
            <a:r>
              <a:rPr lang="en-US" sz="1050" dirty="0">
                <a:solidFill>
                  <a:srgbClr val="1C2A38"/>
                </a:solidFill>
                <a:latin typeface="Meiryo" pitchFamily="34" charset="0"/>
                <a:ea typeface="Meiryo" pitchFamily="34" charset="-122"/>
                <a:cs typeface="Meiryo" pitchFamily="34" charset="-120"/>
              </a:rPr>
              <a:t>更新時期の案内で解約を防ぐ</a:t>
            </a:r>
            <a:endParaRPr lang="en-US" sz="1050" dirty="0"/>
          </a:p>
        </p:txBody>
      </p:sp>
      <p:sp>
        <p:nvSpPr>
          <p:cNvPr id="28" name="Shape 26"/>
          <p:cNvSpPr/>
          <p:nvPr/>
        </p:nvSpPr>
        <p:spPr>
          <a:xfrm>
            <a:off x="548640" y="5029200"/>
            <a:ext cx="11094415" cy="822960"/>
          </a:xfrm>
          <a:prstGeom prst="roundRect">
            <a:avLst>
              <a:gd name="adj" fmla="val 5556"/>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29" name="Text 27"/>
          <p:cNvSpPr txBox="1"/>
          <p:nvPr/>
        </p:nvSpPr>
        <p:spPr>
          <a:xfrm>
            <a:off x="868680" y="5120640"/>
            <a:ext cx="10454335" cy="310896"/>
          </a:xfrm>
          <a:prstGeom prst="rect">
            <a:avLst/>
          </a:prstGeom>
          <a:noFill/>
          <a:ln/>
        </p:spPr>
        <p:txBody>
          <a:bodyPr wrap="square" lIns="0" tIns="0" rIns="0" bIns="0" rtlCol="0" anchor="ctr"/>
          <a:lstStyle/>
          <a:p>
            <a:pPr indent="0" marL="0">
              <a:buNone/>
            </a:pPr>
            <a:r>
              <a:rPr lang="en-US" sz="1250" b="1" dirty="0">
                <a:solidFill>
                  <a:srgbClr val="16324F"/>
                </a:solidFill>
                <a:latin typeface="Meiryo" pitchFamily="34" charset="0"/>
                <a:ea typeface="Meiryo" pitchFamily="34" charset="-122"/>
                <a:cs typeface="Meiryo" pitchFamily="34" charset="-120"/>
              </a:rPr>
              <a:t>オプション商品　</a:t>
            </a:r>
            <a:pPr indent="0" marL="0">
              <a:buNone/>
            </a:pPr>
            <a:r>
              <a:rPr lang="en-US" sz="1150" dirty="0">
                <a:solidFill>
                  <a:srgbClr val="1C2A38"/>
                </a:solidFill>
                <a:latin typeface="Meiryo" pitchFamily="34" charset="0"/>
                <a:ea typeface="Meiryo" pitchFamily="34" charset="-122"/>
                <a:cs typeface="Meiryo" pitchFamily="34" charset="-120"/>
              </a:rPr>
              <a:t>修了証カードの発行　／　受講記録の代行保管　／　企業専用コースの制作　／　更新時期のリマインド配信</a:t>
            </a:r>
            <a:endParaRPr lang="en-US" sz="1250" dirty="0"/>
          </a:p>
        </p:txBody>
      </p:sp>
      <p:sp>
        <p:nvSpPr>
          <p:cNvPr id="30" name="Text 28"/>
          <p:cNvSpPr txBox="1"/>
          <p:nvPr/>
        </p:nvSpPr>
        <p:spPr>
          <a:xfrm>
            <a:off x="868680" y="5468112"/>
            <a:ext cx="10454335" cy="292608"/>
          </a:xfrm>
          <a:prstGeom prst="rect">
            <a:avLst/>
          </a:prstGeom>
          <a:noFill/>
          <a:ln/>
        </p:spPr>
        <p:txBody>
          <a:bodyPr wrap="square" lIns="0" tIns="0" rIns="0" bIns="0" rtlCol="0" anchor="ctr"/>
          <a:lstStyle/>
          <a:p>
            <a:pPr indent="0" marL="0">
              <a:buNone/>
            </a:pPr>
            <a:r>
              <a:rPr lang="en-US" sz="1000" dirty="0">
                <a:solidFill>
                  <a:srgbClr val="6B7B8A"/>
                </a:solidFill>
                <a:latin typeface="Meiryo" pitchFamily="34" charset="0"/>
                <a:ea typeface="Meiryo" pitchFamily="34" charset="-122"/>
                <a:cs typeface="Meiryo" pitchFamily="34" charset="-120"/>
              </a:rPr>
              <a:t>※ 価格は特別教育の一般的な受講料相場（8,000〜15,000円／1名）を踏まえた想定です。確定はフェーズ0で行います。</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5F7"/>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indent="0" marL="0">
              <a:buNone/>
            </a:pPr>
            <a:r>
              <a:rPr lang="en-US" sz="1100" b="1" spc="150" kern="0" dirty="0">
                <a:solidFill>
                  <a:srgbClr val="B87400"/>
                </a:solidFill>
                <a:latin typeface="Meiryo" pitchFamily="34" charset="0"/>
                <a:ea typeface="Meiryo" pitchFamily="34" charset="-122"/>
                <a:cs typeface="Meiryo" pitchFamily="34" charset="-120"/>
              </a:rPr>
              <a:t>SIMULATION</a:t>
            </a:r>
            <a:endParaRPr lang="en-US" sz="1100" dirty="0"/>
          </a:p>
        </p:txBody>
      </p:sp>
      <p:sp>
        <p:nvSpPr>
          <p:cNvPr id="3" name="Text 1"/>
          <p:cNvSpPr txBox="1"/>
          <p:nvPr/>
        </p:nvSpPr>
        <p:spPr>
          <a:xfrm>
            <a:off x="548640" y="603504"/>
            <a:ext cx="11094415" cy="548640"/>
          </a:xfrm>
          <a:prstGeom prst="rect">
            <a:avLst/>
          </a:prstGeom>
          <a:noFill/>
          <a:ln/>
        </p:spPr>
        <p:txBody>
          <a:bodyPr wrap="square" lIns="0" tIns="0" rIns="0" bIns="0" rtlCol="0" anchor="ctr"/>
          <a:lstStyle/>
          <a:p>
            <a:pPr indent="0" marL="0">
              <a:buNone/>
            </a:pPr>
            <a:r>
              <a:rPr lang="en-US" sz="2700" b="1" dirty="0">
                <a:solidFill>
                  <a:srgbClr val="16324F"/>
                </a:solidFill>
                <a:latin typeface="Meiryo" pitchFamily="34" charset="0"/>
                <a:ea typeface="Meiryo" pitchFamily="34" charset="-122"/>
                <a:cs typeface="Meiryo" pitchFamily="34" charset="-120"/>
              </a:rPr>
              <a:t>収支シミュレーション（仮試算）</a:t>
            </a:r>
            <a:endParaRPr lang="en-US" sz="2700" dirty="0"/>
          </a:p>
        </p:txBody>
      </p:sp>
      <p:sp>
        <p:nvSpPr>
          <p:cNvPr id="4" name="Text 2"/>
          <p:cNvSpPr txBox="1"/>
          <p:nvPr/>
        </p:nvSpPr>
        <p:spPr>
          <a:xfrm>
            <a:off x="548640" y="1188720"/>
            <a:ext cx="11094415" cy="329184"/>
          </a:xfrm>
          <a:prstGeom prst="rect">
            <a:avLst/>
          </a:prstGeom>
          <a:noFill/>
          <a:ln/>
        </p:spPr>
        <p:txBody>
          <a:bodyPr wrap="square" lIns="0" tIns="0" rIns="0" bIns="0" rtlCol="0" anchor="ctr"/>
          <a:lstStyle/>
          <a:p>
            <a:pPr indent="0" marL="0">
              <a:buNone/>
            </a:pPr>
            <a:r>
              <a:rPr lang="en-US" sz="1250" dirty="0">
                <a:solidFill>
                  <a:srgbClr val="6B7B8A"/>
                </a:solidFill>
                <a:latin typeface="Meiryo" pitchFamily="34" charset="0"/>
                <a:ea typeface="Meiryo" pitchFamily="34" charset="-122"/>
                <a:cs typeface="Meiryo" pitchFamily="34" charset="-120"/>
              </a:rPr>
              <a:t>前提を置いた試算です。実数値はフェーズ0で聖建様と一緒に詰めます。</a:t>
            </a:r>
            <a:endParaRPr lang="en-US" sz="1250" dirty="0"/>
          </a:p>
        </p:txBody>
      </p:sp>
      <p:sp>
        <p:nvSpPr>
          <p:cNvPr id="5" name="Text 3"/>
          <p:cNvSpPr txBox="1"/>
          <p:nvPr/>
        </p:nvSpPr>
        <p:spPr>
          <a:xfrm>
            <a:off x="548640" y="6382512"/>
            <a:ext cx="8686800" cy="256032"/>
          </a:xfrm>
          <a:prstGeom prst="rect">
            <a:avLst/>
          </a:prstGeom>
          <a:noFill/>
          <a:ln/>
        </p:spPr>
        <p:txBody>
          <a:bodyPr wrap="square" lIns="0" tIns="0" rIns="0" bIns="0" rtlCol="0" anchor="ctr"/>
          <a:lstStyle/>
          <a:p>
            <a:pPr indent="0" marL="0">
              <a:buNone/>
            </a:pPr>
            <a:r>
              <a:rPr lang="en-US" sz="900" dirty="0">
                <a:solidFill>
                  <a:srgbClr val="6B7B8A"/>
                </a:solidFill>
                <a:latin typeface="Meiryo" pitchFamily="34" charset="0"/>
                <a:ea typeface="Meiryo" pitchFamily="34" charset="-122"/>
                <a:cs typeface="Meiryo" pitchFamily="34" charset="-120"/>
              </a:rPr>
              <a:t>株式会社聖建 御中 ｜ 建設業 特別教育 オンライン受講プラットフォーム ご提案</a:t>
            </a:r>
            <a:endParaRPr lang="en-US" sz="900" dirty="0"/>
          </a:p>
        </p:txBody>
      </p:sp>
      <p:sp>
        <p:nvSpPr>
          <p:cNvPr id="6" name="Text 4"/>
          <p:cNvSpPr txBox="1"/>
          <p:nvPr/>
        </p:nvSpPr>
        <p:spPr>
          <a:xfrm>
            <a:off x="11002975" y="6382512"/>
            <a:ext cx="640080" cy="256032"/>
          </a:xfrm>
          <a:prstGeom prst="rect">
            <a:avLst/>
          </a:prstGeom>
          <a:noFill/>
          <a:ln/>
        </p:spPr>
        <p:txBody>
          <a:bodyPr wrap="square" lIns="0" tIns="0" rIns="0" bIns="0" rtlCol="0" anchor="ctr"/>
          <a:lstStyle/>
          <a:p>
            <a:pPr algn="r" indent="0" marL="0">
              <a:buNone/>
            </a:pPr>
            <a:r>
              <a:rPr lang="en-US" sz="1000" b="1" dirty="0">
                <a:solidFill>
                  <a:srgbClr val="3E6B8C"/>
                </a:solidFill>
                <a:latin typeface="Meiryo" pitchFamily="34" charset="0"/>
                <a:ea typeface="Meiryo" pitchFamily="34" charset="-122"/>
                <a:cs typeface="Meiryo" pitchFamily="34" charset="-120"/>
              </a:rPr>
              <a:t>15</a:t>
            </a:r>
            <a:endParaRPr lang="en-US" sz="1000" dirty="0"/>
          </a:p>
        </p:txBody>
      </p:sp>
      <p:graphicFrame>
        <p:nvGraphicFramePr>
          <p:cNvPr id="7" name="Chart 0" descr=""/>
          <p:cNvGraphicFramePr/>
          <p:nvPr/>
        </p:nvGraphicFramePr>
        <p:xfrm>
          <a:off x="548640" y="1737360"/>
          <a:ext cx="6766560" cy="40690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543800" y="1737360"/>
            <a:ext cx="4099255" cy="1417320"/>
          </a:xfrm>
          <a:prstGeom prst="roundRect">
            <a:avLst>
              <a:gd name="adj" fmla="val 3226"/>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9" name="Text 6"/>
          <p:cNvSpPr txBox="1"/>
          <p:nvPr/>
        </p:nvSpPr>
        <p:spPr>
          <a:xfrm>
            <a:off x="7799832" y="1847088"/>
            <a:ext cx="3587191" cy="274320"/>
          </a:xfrm>
          <a:prstGeom prst="rect">
            <a:avLst/>
          </a:prstGeom>
          <a:noFill/>
          <a:ln/>
        </p:spPr>
        <p:txBody>
          <a:bodyPr wrap="square" lIns="0" tIns="0" rIns="0" bIns="0" rtlCol="0" anchor="ctr"/>
          <a:lstStyle/>
          <a:p>
            <a:pPr indent="0" marL="0">
              <a:buNone/>
            </a:pPr>
            <a:r>
              <a:rPr lang="en-US" sz="1250" b="1" dirty="0">
                <a:solidFill>
                  <a:srgbClr val="16324F"/>
                </a:solidFill>
                <a:latin typeface="Meiryo" pitchFamily="34" charset="0"/>
                <a:ea typeface="Meiryo" pitchFamily="34" charset="-122"/>
                <a:cs typeface="Meiryo" pitchFamily="34" charset="-120"/>
              </a:rPr>
              <a:t>試算の前提</a:t>
            </a:r>
            <a:endParaRPr lang="en-US" sz="1250" dirty="0"/>
          </a:p>
        </p:txBody>
      </p:sp>
      <p:sp>
        <p:nvSpPr>
          <p:cNvPr id="10" name="Text 7"/>
          <p:cNvSpPr txBox="1"/>
          <p:nvPr/>
        </p:nvSpPr>
        <p:spPr>
          <a:xfrm>
            <a:off x="7799832" y="2157984"/>
            <a:ext cx="3587191" cy="868680"/>
          </a:xfrm>
          <a:prstGeom prst="rect">
            <a:avLst/>
          </a:prstGeom>
          <a:noFill/>
          <a:ln/>
        </p:spPr>
        <p:txBody>
          <a:bodyPr wrap="square" lIns="0" tIns="0" rIns="0" bIns="0" rtlCol="0" anchor="ctr"/>
          <a:lstStyle/>
          <a:p>
            <a:pPr indent="0" marL="0">
              <a:lnSpc>
                <a:spcPct val="120000"/>
              </a:lnSpc>
              <a:buNone/>
            </a:pPr>
            <a:r>
              <a:rPr lang="en-US" sz="1000" dirty="0">
                <a:solidFill>
                  <a:srgbClr val="1C2A38"/>
                </a:solidFill>
                <a:latin typeface="Meiryo" pitchFamily="34" charset="0"/>
                <a:ea typeface="Meiryo" pitchFamily="34" charset="-122"/>
                <a:cs typeface="Meiryo" pitchFamily="34" charset="-120"/>
              </a:rPr>
              <a:t>客単価：学科のみ 10,000円／学科＋実技 18,000円</a:t>
            </a:r>
            <a:endParaRPr lang="en-US" sz="1000" dirty="0"/>
          </a:p>
          <a:p>
            <a:pPr indent="0" marL="0">
              <a:lnSpc>
                <a:spcPct val="120000"/>
              </a:lnSpc>
              <a:buNone/>
            </a:pPr>
            <a:r>
              <a:rPr lang="en-US" sz="1000" dirty="0">
                <a:solidFill>
                  <a:srgbClr val="1C2A38"/>
                </a:solidFill>
                <a:latin typeface="Meiryo" pitchFamily="34" charset="0"/>
                <a:ea typeface="Meiryo" pitchFamily="34" charset="-122"/>
                <a:cs typeface="Meiryo" pitchFamily="34" charset="-120"/>
              </a:rPr>
              <a:t>変動費率：学科 15%（決済手数料・本人確認API・配信費）</a:t>
            </a:r>
            <a:endParaRPr lang="en-US" sz="1000" dirty="0"/>
          </a:p>
          <a:p>
            <a:pPr indent="0" marL="0">
              <a:lnSpc>
                <a:spcPct val="120000"/>
              </a:lnSpc>
              <a:buNone/>
            </a:pPr>
            <a:r>
              <a:rPr lang="en-US" sz="1000" dirty="0">
                <a:solidFill>
                  <a:srgbClr val="1C2A38"/>
                </a:solidFill>
                <a:latin typeface="Meiryo" pitchFamily="34" charset="0"/>
                <a:ea typeface="Meiryo" pitchFamily="34" charset="-122"/>
                <a:cs typeface="Meiryo" pitchFamily="34" charset="-120"/>
              </a:rPr>
              <a:t>　　　　　実技 45%（講師人件費・会場費）</a:t>
            </a:r>
            <a:endParaRPr lang="en-US" sz="1000" dirty="0"/>
          </a:p>
        </p:txBody>
      </p:sp>
      <p:sp>
        <p:nvSpPr>
          <p:cNvPr id="11" name="Shape 8"/>
          <p:cNvSpPr/>
          <p:nvPr/>
        </p:nvSpPr>
        <p:spPr>
          <a:xfrm>
            <a:off x="7543800" y="3310128"/>
            <a:ext cx="4099255" cy="1508760"/>
          </a:xfrm>
          <a:prstGeom prst="roundRect">
            <a:avLst>
              <a:gd name="adj" fmla="val 3030"/>
            </a:avLst>
          </a:prstGeom>
          <a:solidFill>
            <a:srgbClr val="16324F"/>
          </a:solidFill>
          <a:ln/>
        </p:spPr>
      </p:sp>
      <p:sp>
        <p:nvSpPr>
          <p:cNvPr id="12" name="Text 9"/>
          <p:cNvSpPr txBox="1"/>
          <p:nvPr/>
        </p:nvSpPr>
        <p:spPr>
          <a:xfrm>
            <a:off x="7799832" y="3419856"/>
            <a:ext cx="3587191" cy="274320"/>
          </a:xfrm>
          <a:prstGeom prst="rect">
            <a:avLst/>
          </a:prstGeom>
          <a:noFill/>
          <a:ln/>
        </p:spPr>
        <p:txBody>
          <a:bodyPr wrap="square" lIns="0" tIns="0" rIns="0" bIns="0" rtlCol="0" anchor="ctr"/>
          <a:lstStyle/>
          <a:p>
            <a:pPr indent="0" marL="0">
              <a:buNone/>
            </a:pPr>
            <a:r>
              <a:rPr lang="en-US" sz="1250" b="1" dirty="0">
                <a:solidFill>
                  <a:srgbClr val="E8960C"/>
                </a:solidFill>
                <a:latin typeface="Meiryo" pitchFamily="34" charset="0"/>
                <a:ea typeface="Meiryo" pitchFamily="34" charset="-122"/>
                <a:cs typeface="Meiryo" pitchFamily="34" charset="-120"/>
              </a:rPr>
              <a:t>想定粗利</a:t>
            </a:r>
            <a:endParaRPr lang="en-US" sz="1250" dirty="0"/>
          </a:p>
        </p:txBody>
      </p:sp>
      <p:sp>
        <p:nvSpPr>
          <p:cNvPr id="13" name="Text 10"/>
          <p:cNvSpPr txBox="1"/>
          <p:nvPr/>
        </p:nvSpPr>
        <p:spPr>
          <a:xfrm>
            <a:off x="7818120" y="3767328"/>
            <a:ext cx="1097280" cy="292608"/>
          </a:xfrm>
          <a:prstGeom prst="rect">
            <a:avLst/>
          </a:prstGeom>
          <a:noFill/>
          <a:ln/>
        </p:spPr>
        <p:txBody>
          <a:bodyPr wrap="square" lIns="0" tIns="0" rIns="0" bIns="0" rtlCol="0" anchor="ctr"/>
          <a:lstStyle/>
          <a:p>
            <a:pPr indent="0" marL="0">
              <a:buNone/>
            </a:pPr>
            <a:r>
              <a:rPr lang="en-US" sz="1100" dirty="0">
                <a:solidFill>
                  <a:srgbClr val="C3D2DF"/>
                </a:solidFill>
                <a:latin typeface="Meiryo" pitchFamily="34" charset="0"/>
                <a:ea typeface="Meiryo" pitchFamily="34" charset="-122"/>
                <a:cs typeface="Meiryo" pitchFamily="34" charset="-120"/>
              </a:rPr>
              <a:t>1年目</a:t>
            </a:r>
            <a:endParaRPr lang="en-US" sz="1100" dirty="0"/>
          </a:p>
        </p:txBody>
      </p:sp>
      <p:sp>
        <p:nvSpPr>
          <p:cNvPr id="14" name="Text 11"/>
          <p:cNvSpPr txBox="1"/>
          <p:nvPr/>
        </p:nvSpPr>
        <p:spPr>
          <a:xfrm>
            <a:off x="8823960" y="3767328"/>
            <a:ext cx="2544775" cy="292608"/>
          </a:xfrm>
          <a:prstGeom prst="rect">
            <a:avLst/>
          </a:prstGeom>
          <a:noFill/>
          <a:ln/>
        </p:spPr>
        <p:txBody>
          <a:bodyPr wrap="square" lIns="0" tIns="0" rIns="0" bIns="0" rtlCol="0" anchor="ctr"/>
          <a:lstStyle/>
          <a:p>
            <a:pPr algn="r" indent="0" marL="0">
              <a:buNone/>
            </a:pPr>
            <a:r>
              <a:rPr lang="en-US" sz="1400" b="1" dirty="0">
                <a:solidFill>
                  <a:srgbClr val="FFFFFF"/>
                </a:solidFill>
                <a:latin typeface="Meiryo" pitchFamily="34" charset="0"/>
                <a:ea typeface="Meiryo" pitchFamily="34" charset="-122"/>
                <a:cs typeface="Meiryo" pitchFamily="34" charset="-120"/>
              </a:rPr>
              <a:t>262万円</a:t>
            </a:r>
            <a:endParaRPr lang="en-US" sz="1400" dirty="0"/>
          </a:p>
        </p:txBody>
      </p:sp>
      <p:sp>
        <p:nvSpPr>
          <p:cNvPr id="15" name="Text 12"/>
          <p:cNvSpPr txBox="1"/>
          <p:nvPr/>
        </p:nvSpPr>
        <p:spPr>
          <a:xfrm>
            <a:off x="7818120" y="4096512"/>
            <a:ext cx="1097280" cy="292608"/>
          </a:xfrm>
          <a:prstGeom prst="rect">
            <a:avLst/>
          </a:prstGeom>
          <a:noFill/>
          <a:ln/>
        </p:spPr>
        <p:txBody>
          <a:bodyPr wrap="square" lIns="0" tIns="0" rIns="0" bIns="0" rtlCol="0" anchor="ctr"/>
          <a:lstStyle/>
          <a:p>
            <a:pPr indent="0" marL="0">
              <a:buNone/>
            </a:pPr>
            <a:r>
              <a:rPr lang="en-US" sz="1100" dirty="0">
                <a:solidFill>
                  <a:srgbClr val="C3D2DF"/>
                </a:solidFill>
                <a:latin typeface="Meiryo" pitchFamily="34" charset="0"/>
                <a:ea typeface="Meiryo" pitchFamily="34" charset="-122"/>
                <a:cs typeface="Meiryo" pitchFamily="34" charset="-120"/>
              </a:rPr>
              <a:t>2年目</a:t>
            </a:r>
            <a:endParaRPr lang="en-US" sz="1100" dirty="0"/>
          </a:p>
        </p:txBody>
      </p:sp>
      <p:sp>
        <p:nvSpPr>
          <p:cNvPr id="16" name="Text 13"/>
          <p:cNvSpPr txBox="1"/>
          <p:nvPr/>
        </p:nvSpPr>
        <p:spPr>
          <a:xfrm>
            <a:off x="8823960" y="4096512"/>
            <a:ext cx="2544775" cy="292608"/>
          </a:xfrm>
          <a:prstGeom prst="rect">
            <a:avLst/>
          </a:prstGeom>
          <a:noFill/>
          <a:ln/>
        </p:spPr>
        <p:txBody>
          <a:bodyPr wrap="square" lIns="0" tIns="0" rIns="0" bIns="0" rtlCol="0" anchor="ctr"/>
          <a:lstStyle/>
          <a:p>
            <a:pPr algn="r" indent="0" marL="0">
              <a:buNone/>
            </a:pPr>
            <a:r>
              <a:rPr lang="en-US" sz="1400" b="1" dirty="0">
                <a:solidFill>
                  <a:srgbClr val="FFFFFF"/>
                </a:solidFill>
                <a:latin typeface="Meiryo" pitchFamily="34" charset="0"/>
                <a:ea typeface="Meiryo" pitchFamily="34" charset="-122"/>
                <a:cs typeface="Meiryo" pitchFamily="34" charset="-120"/>
              </a:rPr>
              <a:t>708万円</a:t>
            </a:r>
            <a:endParaRPr lang="en-US" sz="1400" dirty="0"/>
          </a:p>
        </p:txBody>
      </p:sp>
      <p:sp>
        <p:nvSpPr>
          <p:cNvPr id="17" name="Text 14"/>
          <p:cNvSpPr txBox="1"/>
          <p:nvPr/>
        </p:nvSpPr>
        <p:spPr>
          <a:xfrm>
            <a:off x="7818120" y="4425696"/>
            <a:ext cx="1097280" cy="292608"/>
          </a:xfrm>
          <a:prstGeom prst="rect">
            <a:avLst/>
          </a:prstGeom>
          <a:noFill/>
          <a:ln/>
        </p:spPr>
        <p:txBody>
          <a:bodyPr wrap="square" lIns="0" tIns="0" rIns="0" bIns="0" rtlCol="0" anchor="ctr"/>
          <a:lstStyle/>
          <a:p>
            <a:pPr indent="0" marL="0">
              <a:buNone/>
            </a:pPr>
            <a:r>
              <a:rPr lang="en-US" sz="1100" dirty="0">
                <a:solidFill>
                  <a:srgbClr val="C3D2DF"/>
                </a:solidFill>
                <a:latin typeface="Meiryo" pitchFamily="34" charset="0"/>
                <a:ea typeface="Meiryo" pitchFamily="34" charset="-122"/>
                <a:cs typeface="Meiryo" pitchFamily="34" charset="-120"/>
              </a:rPr>
              <a:t>3年目</a:t>
            </a:r>
            <a:endParaRPr lang="en-US" sz="1100" dirty="0"/>
          </a:p>
        </p:txBody>
      </p:sp>
      <p:sp>
        <p:nvSpPr>
          <p:cNvPr id="18" name="Text 15"/>
          <p:cNvSpPr txBox="1"/>
          <p:nvPr/>
        </p:nvSpPr>
        <p:spPr>
          <a:xfrm>
            <a:off x="8823960" y="4425696"/>
            <a:ext cx="2544775" cy="292608"/>
          </a:xfrm>
          <a:prstGeom prst="rect">
            <a:avLst/>
          </a:prstGeom>
          <a:noFill/>
          <a:ln/>
        </p:spPr>
        <p:txBody>
          <a:bodyPr wrap="square" lIns="0" tIns="0" rIns="0" bIns="0" rtlCol="0" anchor="ctr"/>
          <a:lstStyle/>
          <a:p>
            <a:pPr algn="r" indent="0" marL="0">
              <a:buNone/>
            </a:pPr>
            <a:r>
              <a:rPr lang="en-US" sz="1400" b="1" dirty="0">
                <a:solidFill>
                  <a:srgbClr val="FFFFFF"/>
                </a:solidFill>
                <a:latin typeface="Meiryo" pitchFamily="34" charset="0"/>
                <a:ea typeface="Meiryo" pitchFamily="34" charset="-122"/>
                <a:cs typeface="Meiryo" pitchFamily="34" charset="-120"/>
              </a:rPr>
              <a:t>1,331万円</a:t>
            </a:r>
            <a:endParaRPr lang="en-US" sz="1400" dirty="0"/>
          </a:p>
        </p:txBody>
      </p:sp>
      <p:sp>
        <p:nvSpPr>
          <p:cNvPr id="19" name="Shape 16"/>
          <p:cNvSpPr/>
          <p:nvPr/>
        </p:nvSpPr>
        <p:spPr>
          <a:xfrm>
            <a:off x="7543800" y="4974336"/>
            <a:ext cx="4099255" cy="832104"/>
          </a:xfrm>
          <a:prstGeom prst="roundRect">
            <a:avLst>
              <a:gd name="adj" fmla="val 5495"/>
            </a:avLst>
          </a:prstGeom>
          <a:solidFill>
            <a:srgbClr val="FCF1DC"/>
          </a:solidFill>
          <a:ln/>
        </p:spPr>
      </p:sp>
      <p:sp>
        <p:nvSpPr>
          <p:cNvPr id="20" name="Text 17"/>
          <p:cNvSpPr txBox="1"/>
          <p:nvPr/>
        </p:nvSpPr>
        <p:spPr>
          <a:xfrm>
            <a:off x="7799832" y="4974336"/>
            <a:ext cx="3587191" cy="832104"/>
          </a:xfrm>
          <a:prstGeom prst="rect">
            <a:avLst/>
          </a:prstGeom>
          <a:noFill/>
          <a:ln/>
        </p:spPr>
        <p:txBody>
          <a:bodyPr wrap="square" lIns="0" tIns="0" rIns="0" bIns="0" rtlCol="0" anchor="ctr"/>
          <a:lstStyle/>
          <a:p>
            <a:pPr indent="0" marL="0">
              <a:lnSpc>
                <a:spcPct val="120000"/>
              </a:lnSpc>
              <a:buNone/>
            </a:pPr>
            <a:r>
              <a:rPr lang="en-US" sz="1100" b="1" dirty="0">
                <a:solidFill>
                  <a:srgbClr val="B87400"/>
                </a:solidFill>
                <a:latin typeface="Meiryo" pitchFamily="34" charset="0"/>
                <a:ea typeface="Meiryo" pitchFamily="34" charset="-122"/>
                <a:cs typeface="Meiryo" pitchFamily="34" charset="-120"/>
              </a:rPr>
              <a:t>初期投資を500万円と仮定した場合、2年目の途中で累計粗利が投資額を上回る試算です。</a:t>
            </a:r>
            <a:endParaRPr lang="en-US" sz="1100" dirty="0"/>
          </a:p>
        </p:txBody>
      </p:sp>
      <p:sp>
        <p:nvSpPr>
          <p:cNvPr id="21" name="Text 18"/>
          <p:cNvSpPr txBox="1"/>
          <p:nvPr/>
        </p:nvSpPr>
        <p:spPr>
          <a:xfrm>
            <a:off x="548640" y="5897880"/>
            <a:ext cx="11094415" cy="256032"/>
          </a:xfrm>
          <a:prstGeom prst="rect">
            <a:avLst/>
          </a:prstGeom>
          <a:noFill/>
          <a:ln/>
        </p:spPr>
        <p:txBody>
          <a:bodyPr wrap="square" lIns="0" tIns="0" rIns="0" bIns="0" rtlCol="0" anchor="ctr"/>
          <a:lstStyle/>
          <a:p>
            <a:pPr indent="0" marL="0">
              <a:buNone/>
            </a:pPr>
            <a:r>
              <a:rPr lang="en-US" sz="1000" dirty="0">
                <a:solidFill>
                  <a:srgbClr val="6B7B8A"/>
                </a:solidFill>
                <a:latin typeface="Meiryo" pitchFamily="34" charset="0"/>
                <a:ea typeface="Meiryo" pitchFamily="34" charset="-122"/>
                <a:cs typeface="Meiryo" pitchFamily="34" charset="-120"/>
              </a:rPr>
              <a:t>※ 本試算は一般的な受講料相場に基づく仮置きであり、売上を保証するものではありません。</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5F7"/>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indent="0" marL="0">
              <a:buNone/>
            </a:pPr>
            <a:r>
              <a:rPr lang="en-US" sz="1100" b="1" spc="150" kern="0" dirty="0">
                <a:solidFill>
                  <a:srgbClr val="B87400"/>
                </a:solidFill>
                <a:latin typeface="Meiryo" pitchFamily="34" charset="0"/>
                <a:ea typeface="Meiryo" pitchFamily="34" charset="-122"/>
                <a:cs typeface="Meiryo" pitchFamily="34" charset="-120"/>
              </a:rPr>
              <a:t>SCHEDULE</a:t>
            </a:r>
            <a:endParaRPr lang="en-US" sz="1100" dirty="0"/>
          </a:p>
        </p:txBody>
      </p:sp>
      <p:sp>
        <p:nvSpPr>
          <p:cNvPr id="3" name="Text 1"/>
          <p:cNvSpPr txBox="1"/>
          <p:nvPr/>
        </p:nvSpPr>
        <p:spPr>
          <a:xfrm>
            <a:off x="548640" y="603504"/>
            <a:ext cx="11094415" cy="548640"/>
          </a:xfrm>
          <a:prstGeom prst="rect">
            <a:avLst/>
          </a:prstGeom>
          <a:noFill/>
          <a:ln/>
        </p:spPr>
        <p:txBody>
          <a:bodyPr wrap="square" lIns="0" tIns="0" rIns="0" bIns="0" rtlCol="0" anchor="ctr"/>
          <a:lstStyle/>
          <a:p>
            <a:pPr indent="0" marL="0">
              <a:buNone/>
            </a:pPr>
            <a:r>
              <a:rPr lang="en-US" sz="2700" b="1" dirty="0">
                <a:solidFill>
                  <a:srgbClr val="16324F"/>
                </a:solidFill>
                <a:latin typeface="Meiryo" pitchFamily="34" charset="0"/>
                <a:ea typeface="Meiryo" pitchFamily="34" charset="-122"/>
                <a:cs typeface="Meiryo" pitchFamily="34" charset="-120"/>
              </a:rPr>
              <a:t>導入スケジュール</a:t>
            </a:r>
            <a:endParaRPr lang="en-US" sz="2700" dirty="0"/>
          </a:p>
        </p:txBody>
      </p:sp>
      <p:sp>
        <p:nvSpPr>
          <p:cNvPr id="4" name="Text 2"/>
          <p:cNvSpPr txBox="1"/>
          <p:nvPr/>
        </p:nvSpPr>
        <p:spPr>
          <a:xfrm>
            <a:off x="548640" y="1188720"/>
            <a:ext cx="11094415" cy="329184"/>
          </a:xfrm>
          <a:prstGeom prst="rect">
            <a:avLst/>
          </a:prstGeom>
          <a:noFill/>
          <a:ln/>
        </p:spPr>
        <p:txBody>
          <a:bodyPr wrap="square" lIns="0" tIns="0" rIns="0" bIns="0" rtlCol="0" anchor="ctr"/>
          <a:lstStyle/>
          <a:p>
            <a:pPr indent="0" marL="0">
              <a:buNone/>
            </a:pPr>
            <a:r>
              <a:rPr lang="en-US" sz="1250" dirty="0">
                <a:solidFill>
                  <a:srgbClr val="6B7B8A"/>
                </a:solidFill>
                <a:latin typeface="Meiryo" pitchFamily="34" charset="0"/>
                <a:ea typeface="Meiryo" pitchFamily="34" charset="-122"/>
                <a:cs typeface="Meiryo" pitchFamily="34" charset="-120"/>
              </a:rPr>
              <a:t>稼働時期は未定とのことでしたので、段階投資型の計画をご提案します。</a:t>
            </a:r>
            <a:endParaRPr lang="en-US" sz="1250" dirty="0"/>
          </a:p>
        </p:txBody>
      </p:sp>
      <p:sp>
        <p:nvSpPr>
          <p:cNvPr id="5" name="Text 3"/>
          <p:cNvSpPr txBox="1"/>
          <p:nvPr/>
        </p:nvSpPr>
        <p:spPr>
          <a:xfrm>
            <a:off x="548640" y="6382512"/>
            <a:ext cx="8686800" cy="256032"/>
          </a:xfrm>
          <a:prstGeom prst="rect">
            <a:avLst/>
          </a:prstGeom>
          <a:noFill/>
          <a:ln/>
        </p:spPr>
        <p:txBody>
          <a:bodyPr wrap="square" lIns="0" tIns="0" rIns="0" bIns="0" rtlCol="0" anchor="ctr"/>
          <a:lstStyle/>
          <a:p>
            <a:pPr indent="0" marL="0">
              <a:buNone/>
            </a:pPr>
            <a:r>
              <a:rPr lang="en-US" sz="900" dirty="0">
                <a:solidFill>
                  <a:srgbClr val="6B7B8A"/>
                </a:solidFill>
                <a:latin typeface="Meiryo" pitchFamily="34" charset="0"/>
                <a:ea typeface="Meiryo" pitchFamily="34" charset="-122"/>
                <a:cs typeface="Meiryo" pitchFamily="34" charset="-120"/>
              </a:rPr>
              <a:t>株式会社聖建 御中 ｜ 建設業 特別教育 オンライン受講プラットフォーム ご提案</a:t>
            </a:r>
            <a:endParaRPr lang="en-US" sz="900" dirty="0"/>
          </a:p>
        </p:txBody>
      </p:sp>
      <p:sp>
        <p:nvSpPr>
          <p:cNvPr id="6" name="Text 4"/>
          <p:cNvSpPr txBox="1"/>
          <p:nvPr/>
        </p:nvSpPr>
        <p:spPr>
          <a:xfrm>
            <a:off x="11002975" y="6382512"/>
            <a:ext cx="640080" cy="256032"/>
          </a:xfrm>
          <a:prstGeom prst="rect">
            <a:avLst/>
          </a:prstGeom>
          <a:noFill/>
          <a:ln/>
        </p:spPr>
        <p:txBody>
          <a:bodyPr wrap="square" lIns="0" tIns="0" rIns="0" bIns="0" rtlCol="0" anchor="ctr"/>
          <a:lstStyle/>
          <a:p>
            <a:pPr algn="r" indent="0" marL="0">
              <a:buNone/>
            </a:pPr>
            <a:r>
              <a:rPr lang="en-US" sz="1000" b="1" dirty="0">
                <a:solidFill>
                  <a:srgbClr val="3E6B8C"/>
                </a:solidFill>
                <a:latin typeface="Meiryo" pitchFamily="34" charset="0"/>
                <a:ea typeface="Meiryo" pitchFamily="34" charset="-122"/>
                <a:cs typeface="Meiryo" pitchFamily="34" charset="-120"/>
              </a:rPr>
              <a:t>16</a:t>
            </a:r>
            <a:endParaRPr lang="en-US" sz="1000" dirty="0"/>
          </a:p>
        </p:txBody>
      </p:sp>
      <p:sp>
        <p:nvSpPr>
          <p:cNvPr id="7" name="Shape 5"/>
          <p:cNvSpPr/>
          <p:nvPr/>
        </p:nvSpPr>
        <p:spPr>
          <a:xfrm>
            <a:off x="548640" y="1737360"/>
            <a:ext cx="11094415" cy="914400"/>
          </a:xfrm>
          <a:prstGeom prst="roundRect">
            <a:avLst>
              <a:gd name="adj" fmla="val 5000"/>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8" name="Shape 6"/>
          <p:cNvSpPr/>
          <p:nvPr/>
        </p:nvSpPr>
        <p:spPr>
          <a:xfrm>
            <a:off x="749808" y="1920240"/>
            <a:ext cx="1170432" cy="548640"/>
          </a:xfrm>
          <a:prstGeom prst="roundRect">
            <a:avLst>
              <a:gd name="adj" fmla="val 8333"/>
            </a:avLst>
          </a:prstGeom>
          <a:solidFill>
            <a:srgbClr val="16324F"/>
          </a:solidFill>
          <a:ln/>
        </p:spPr>
      </p:sp>
      <p:sp>
        <p:nvSpPr>
          <p:cNvPr id="9" name="Text 7"/>
          <p:cNvSpPr txBox="1"/>
          <p:nvPr/>
        </p:nvSpPr>
        <p:spPr>
          <a:xfrm>
            <a:off x="749808" y="1920240"/>
            <a:ext cx="1170432"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フェーズ0</a:t>
            </a:r>
            <a:endParaRPr lang="en-US" sz="1200" dirty="0"/>
          </a:p>
        </p:txBody>
      </p:sp>
      <p:sp>
        <p:nvSpPr>
          <p:cNvPr id="10" name="Text 8"/>
          <p:cNvSpPr txBox="1"/>
          <p:nvPr/>
        </p:nvSpPr>
        <p:spPr>
          <a:xfrm>
            <a:off x="2066544" y="1883664"/>
            <a:ext cx="1005840" cy="274320"/>
          </a:xfrm>
          <a:prstGeom prst="rect">
            <a:avLst/>
          </a:prstGeom>
          <a:noFill/>
          <a:ln/>
        </p:spPr>
        <p:txBody>
          <a:bodyPr wrap="square" lIns="0" tIns="0" rIns="0" bIns="0" rtlCol="0" anchor="ctr"/>
          <a:lstStyle/>
          <a:p>
            <a:pPr indent="0" marL="0">
              <a:buNone/>
            </a:pPr>
            <a:r>
              <a:rPr lang="en-US" sz="1100" b="1" dirty="0">
                <a:solidFill>
                  <a:srgbClr val="B87400"/>
                </a:solidFill>
                <a:latin typeface="Meiryo" pitchFamily="34" charset="0"/>
                <a:ea typeface="Meiryo" pitchFamily="34" charset="-122"/>
                <a:cs typeface="Meiryo" pitchFamily="34" charset="-120"/>
              </a:rPr>
              <a:t>1か月</a:t>
            </a:r>
            <a:endParaRPr lang="en-US" sz="1100" dirty="0"/>
          </a:p>
        </p:txBody>
      </p:sp>
      <p:sp>
        <p:nvSpPr>
          <p:cNvPr id="11" name="Text 9"/>
          <p:cNvSpPr txBox="1"/>
          <p:nvPr/>
        </p:nvSpPr>
        <p:spPr>
          <a:xfrm>
            <a:off x="3108960" y="1865376"/>
            <a:ext cx="3657600" cy="310896"/>
          </a:xfrm>
          <a:prstGeom prst="rect">
            <a:avLst/>
          </a:prstGeom>
          <a:noFill/>
          <a:ln/>
        </p:spPr>
        <p:txBody>
          <a:bodyPr wrap="square" lIns="0" tIns="0" rIns="0" bIns="0" rtlCol="0" anchor="ctr"/>
          <a:lstStyle/>
          <a:p>
            <a:pPr indent="0" marL="0">
              <a:buNone/>
            </a:pPr>
            <a:r>
              <a:rPr lang="en-US" sz="1400" b="1" dirty="0">
                <a:solidFill>
                  <a:srgbClr val="16324F"/>
                </a:solidFill>
                <a:latin typeface="Meiryo" pitchFamily="34" charset="0"/>
                <a:ea typeface="Meiryo" pitchFamily="34" charset="-122"/>
                <a:cs typeface="Meiryo" pitchFamily="34" charset="-120"/>
              </a:rPr>
              <a:t>事業設計・要件定義</a:t>
            </a:r>
            <a:endParaRPr lang="en-US" sz="1400" dirty="0"/>
          </a:p>
        </p:txBody>
      </p:sp>
      <p:sp>
        <p:nvSpPr>
          <p:cNvPr id="12" name="Text 10"/>
          <p:cNvSpPr txBox="1"/>
          <p:nvPr/>
        </p:nvSpPr>
        <p:spPr>
          <a:xfrm>
            <a:off x="2066544" y="2212848"/>
            <a:ext cx="9265615" cy="329184"/>
          </a:xfrm>
          <a:prstGeom prst="rect">
            <a:avLst/>
          </a:prstGeom>
          <a:noFill/>
          <a:ln/>
        </p:spPr>
        <p:txBody>
          <a:bodyPr wrap="square" lIns="0" tIns="0" rIns="0" bIns="0" rtlCol="0" anchor="ctr"/>
          <a:lstStyle/>
          <a:p>
            <a:pPr indent="0" marL="0">
              <a:buNone/>
            </a:pPr>
            <a:r>
              <a:rPr lang="en-US" sz="1050" dirty="0">
                <a:solidFill>
                  <a:srgbClr val="1C2A38"/>
                </a:solidFill>
                <a:latin typeface="Meiryo" pitchFamily="34" charset="0"/>
                <a:ea typeface="Meiryo" pitchFamily="34" charset="-122"/>
                <a:cs typeface="Meiryo" pitchFamily="34" charset="-120"/>
              </a:rPr>
              <a:t>第1弾科目の決定／講師方針の確定／価格・利用規約・特定商取引法表記の整備／個人情報の取扱い方針の策定</a:t>
            </a:r>
            <a:endParaRPr lang="en-US" sz="1050" dirty="0"/>
          </a:p>
        </p:txBody>
      </p:sp>
      <p:sp>
        <p:nvSpPr>
          <p:cNvPr id="13" name="Shape 11"/>
          <p:cNvSpPr/>
          <p:nvPr/>
        </p:nvSpPr>
        <p:spPr>
          <a:xfrm>
            <a:off x="548640" y="2788920"/>
            <a:ext cx="11094415" cy="914400"/>
          </a:xfrm>
          <a:prstGeom prst="roundRect">
            <a:avLst>
              <a:gd name="adj" fmla="val 5000"/>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14" name="Shape 12"/>
          <p:cNvSpPr/>
          <p:nvPr/>
        </p:nvSpPr>
        <p:spPr>
          <a:xfrm>
            <a:off x="749808" y="2971800"/>
            <a:ext cx="1170432" cy="548640"/>
          </a:xfrm>
          <a:prstGeom prst="roundRect">
            <a:avLst>
              <a:gd name="adj" fmla="val 8333"/>
            </a:avLst>
          </a:prstGeom>
          <a:solidFill>
            <a:srgbClr val="3E6B8C"/>
          </a:solidFill>
          <a:ln/>
        </p:spPr>
      </p:sp>
      <p:sp>
        <p:nvSpPr>
          <p:cNvPr id="15" name="Text 13"/>
          <p:cNvSpPr txBox="1"/>
          <p:nvPr/>
        </p:nvSpPr>
        <p:spPr>
          <a:xfrm>
            <a:off x="749808" y="2971800"/>
            <a:ext cx="1170432"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フェーズ1</a:t>
            </a:r>
            <a:endParaRPr lang="en-US" sz="1200" dirty="0"/>
          </a:p>
        </p:txBody>
      </p:sp>
      <p:sp>
        <p:nvSpPr>
          <p:cNvPr id="16" name="Text 14"/>
          <p:cNvSpPr txBox="1"/>
          <p:nvPr/>
        </p:nvSpPr>
        <p:spPr>
          <a:xfrm>
            <a:off x="2066544" y="2935224"/>
            <a:ext cx="1005840" cy="274320"/>
          </a:xfrm>
          <a:prstGeom prst="rect">
            <a:avLst/>
          </a:prstGeom>
          <a:noFill/>
          <a:ln/>
        </p:spPr>
        <p:txBody>
          <a:bodyPr wrap="square" lIns="0" tIns="0" rIns="0" bIns="0" rtlCol="0" anchor="ctr"/>
          <a:lstStyle/>
          <a:p>
            <a:pPr indent="0" marL="0">
              <a:buNone/>
            </a:pPr>
            <a:r>
              <a:rPr lang="en-US" sz="1100" b="1" dirty="0">
                <a:solidFill>
                  <a:srgbClr val="B87400"/>
                </a:solidFill>
                <a:latin typeface="Meiryo" pitchFamily="34" charset="0"/>
                <a:ea typeface="Meiryo" pitchFamily="34" charset="-122"/>
                <a:cs typeface="Meiryo" pitchFamily="34" charset="-120"/>
              </a:rPr>
              <a:t>2〜4か月</a:t>
            </a:r>
            <a:endParaRPr lang="en-US" sz="1100" dirty="0"/>
          </a:p>
        </p:txBody>
      </p:sp>
      <p:sp>
        <p:nvSpPr>
          <p:cNvPr id="17" name="Text 15"/>
          <p:cNvSpPr txBox="1"/>
          <p:nvPr/>
        </p:nvSpPr>
        <p:spPr>
          <a:xfrm>
            <a:off x="3108960" y="2916936"/>
            <a:ext cx="3657600" cy="310896"/>
          </a:xfrm>
          <a:prstGeom prst="rect">
            <a:avLst/>
          </a:prstGeom>
          <a:noFill/>
          <a:ln/>
        </p:spPr>
        <p:txBody>
          <a:bodyPr wrap="square" lIns="0" tIns="0" rIns="0" bIns="0" rtlCol="0" anchor="ctr"/>
          <a:lstStyle/>
          <a:p>
            <a:pPr indent="0" marL="0">
              <a:buNone/>
            </a:pPr>
            <a:r>
              <a:rPr lang="en-US" sz="1400" b="1" dirty="0">
                <a:solidFill>
                  <a:srgbClr val="16324F"/>
                </a:solidFill>
                <a:latin typeface="Meiryo" pitchFamily="34" charset="0"/>
                <a:ea typeface="Meiryo" pitchFamily="34" charset="-122"/>
                <a:cs typeface="Meiryo" pitchFamily="34" charset="-120"/>
              </a:rPr>
              <a:t>MVP構築・テスト運用</a:t>
            </a:r>
            <a:endParaRPr lang="en-US" sz="1400" dirty="0"/>
          </a:p>
        </p:txBody>
      </p:sp>
      <p:sp>
        <p:nvSpPr>
          <p:cNvPr id="18" name="Text 16"/>
          <p:cNvSpPr txBox="1"/>
          <p:nvPr/>
        </p:nvSpPr>
        <p:spPr>
          <a:xfrm>
            <a:off x="2066544" y="3264408"/>
            <a:ext cx="9265615" cy="329184"/>
          </a:xfrm>
          <a:prstGeom prst="rect">
            <a:avLst/>
          </a:prstGeom>
          <a:noFill/>
          <a:ln/>
        </p:spPr>
        <p:txBody>
          <a:bodyPr wrap="square" lIns="0" tIns="0" rIns="0" bIns="0" rtlCol="0" anchor="ctr"/>
          <a:lstStyle/>
          <a:p>
            <a:pPr indent="0" marL="0">
              <a:buNone/>
            </a:pPr>
            <a:r>
              <a:rPr lang="en-US" sz="1050" dirty="0">
                <a:solidFill>
                  <a:srgbClr val="1C2A38"/>
                </a:solidFill>
                <a:latin typeface="Meiryo" pitchFamily="34" charset="0"/>
                <a:ea typeface="Meiryo" pitchFamily="34" charset="-122"/>
                <a:cs typeface="Meiryo" pitchFamily="34" charset="-120"/>
              </a:rPr>
              <a:t>受講者ポータル／本人確認・顔照合／学科動画配信／視聴ログ／テスト／修了証発行／決済</a:t>
            </a:r>
            <a:endParaRPr lang="en-US" sz="1050" dirty="0"/>
          </a:p>
        </p:txBody>
      </p:sp>
      <p:sp>
        <p:nvSpPr>
          <p:cNvPr id="19" name="Shape 17"/>
          <p:cNvSpPr/>
          <p:nvPr/>
        </p:nvSpPr>
        <p:spPr>
          <a:xfrm>
            <a:off x="548640" y="3840480"/>
            <a:ext cx="11094415" cy="914400"/>
          </a:xfrm>
          <a:prstGeom prst="roundRect">
            <a:avLst>
              <a:gd name="adj" fmla="val 5000"/>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20" name="Shape 18"/>
          <p:cNvSpPr/>
          <p:nvPr/>
        </p:nvSpPr>
        <p:spPr>
          <a:xfrm>
            <a:off x="749808" y="4023360"/>
            <a:ext cx="1170432" cy="548640"/>
          </a:xfrm>
          <a:prstGeom prst="roundRect">
            <a:avLst>
              <a:gd name="adj" fmla="val 8333"/>
            </a:avLst>
          </a:prstGeom>
          <a:solidFill>
            <a:srgbClr val="3E6B8C"/>
          </a:solidFill>
          <a:ln/>
        </p:spPr>
      </p:sp>
      <p:sp>
        <p:nvSpPr>
          <p:cNvPr id="21" name="Text 19"/>
          <p:cNvSpPr txBox="1"/>
          <p:nvPr/>
        </p:nvSpPr>
        <p:spPr>
          <a:xfrm>
            <a:off x="749808" y="4023360"/>
            <a:ext cx="1170432"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フェーズ2</a:t>
            </a:r>
            <a:endParaRPr lang="en-US" sz="1200" dirty="0"/>
          </a:p>
        </p:txBody>
      </p:sp>
      <p:sp>
        <p:nvSpPr>
          <p:cNvPr id="22" name="Text 20"/>
          <p:cNvSpPr txBox="1"/>
          <p:nvPr/>
        </p:nvSpPr>
        <p:spPr>
          <a:xfrm>
            <a:off x="2066544" y="3986784"/>
            <a:ext cx="1005840" cy="274320"/>
          </a:xfrm>
          <a:prstGeom prst="rect">
            <a:avLst/>
          </a:prstGeom>
          <a:noFill/>
          <a:ln/>
        </p:spPr>
        <p:txBody>
          <a:bodyPr wrap="square" lIns="0" tIns="0" rIns="0" bIns="0" rtlCol="0" anchor="ctr"/>
          <a:lstStyle/>
          <a:p>
            <a:pPr indent="0" marL="0">
              <a:buNone/>
            </a:pPr>
            <a:r>
              <a:rPr lang="en-US" sz="1100" b="1" dirty="0">
                <a:solidFill>
                  <a:srgbClr val="B87400"/>
                </a:solidFill>
                <a:latin typeface="Meiryo" pitchFamily="34" charset="0"/>
                <a:ea typeface="Meiryo" pitchFamily="34" charset="-122"/>
                <a:cs typeface="Meiryo" pitchFamily="34" charset="-120"/>
              </a:rPr>
              <a:t>5〜7か月</a:t>
            </a:r>
            <a:endParaRPr lang="en-US" sz="1100" dirty="0"/>
          </a:p>
        </p:txBody>
      </p:sp>
      <p:sp>
        <p:nvSpPr>
          <p:cNvPr id="23" name="Text 21"/>
          <p:cNvSpPr txBox="1"/>
          <p:nvPr/>
        </p:nvSpPr>
        <p:spPr>
          <a:xfrm>
            <a:off x="3108960" y="3968496"/>
            <a:ext cx="3657600" cy="310896"/>
          </a:xfrm>
          <a:prstGeom prst="rect">
            <a:avLst/>
          </a:prstGeom>
          <a:noFill/>
          <a:ln/>
        </p:spPr>
        <p:txBody>
          <a:bodyPr wrap="square" lIns="0" tIns="0" rIns="0" bIns="0" rtlCol="0" anchor="ctr"/>
          <a:lstStyle/>
          <a:p>
            <a:pPr indent="0" marL="0">
              <a:buNone/>
            </a:pPr>
            <a:r>
              <a:rPr lang="en-US" sz="1400" b="1" dirty="0">
                <a:solidFill>
                  <a:srgbClr val="16324F"/>
                </a:solidFill>
                <a:latin typeface="Meiryo" pitchFamily="34" charset="0"/>
                <a:ea typeface="Meiryo" pitchFamily="34" charset="-122"/>
                <a:cs typeface="Meiryo" pitchFamily="34" charset="-120"/>
              </a:rPr>
              <a:t>本格運用・機能拡張</a:t>
            </a:r>
            <a:endParaRPr lang="en-US" sz="1400" dirty="0"/>
          </a:p>
        </p:txBody>
      </p:sp>
      <p:sp>
        <p:nvSpPr>
          <p:cNvPr id="24" name="Text 22"/>
          <p:cNvSpPr txBox="1"/>
          <p:nvPr/>
        </p:nvSpPr>
        <p:spPr>
          <a:xfrm>
            <a:off x="2066544" y="4315968"/>
            <a:ext cx="9265615" cy="329184"/>
          </a:xfrm>
          <a:prstGeom prst="rect">
            <a:avLst/>
          </a:prstGeom>
          <a:noFill/>
          <a:ln/>
        </p:spPr>
        <p:txBody>
          <a:bodyPr wrap="square" lIns="0" tIns="0" rIns="0" bIns="0" rtlCol="0" anchor="ctr"/>
          <a:lstStyle/>
          <a:p>
            <a:pPr indent="0" marL="0">
              <a:buNone/>
            </a:pPr>
            <a:r>
              <a:rPr lang="en-US" sz="1050" dirty="0">
                <a:solidFill>
                  <a:srgbClr val="1C2A38"/>
                </a:solidFill>
                <a:latin typeface="Meiryo" pitchFamily="34" charset="0"/>
                <a:ea typeface="Meiryo" pitchFamily="34" charset="-122"/>
                <a:cs typeface="Meiryo" pitchFamily="34" charset="-120"/>
              </a:rPr>
              <a:t>企業管理ポータル／実技予約・出欠管理／一括請求／CSV出力／記録の自動保存</a:t>
            </a:r>
            <a:endParaRPr lang="en-US" sz="1050" dirty="0"/>
          </a:p>
        </p:txBody>
      </p:sp>
      <p:sp>
        <p:nvSpPr>
          <p:cNvPr id="25" name="Shape 23"/>
          <p:cNvSpPr/>
          <p:nvPr/>
        </p:nvSpPr>
        <p:spPr>
          <a:xfrm>
            <a:off x="548640" y="4892040"/>
            <a:ext cx="11094415" cy="914400"/>
          </a:xfrm>
          <a:prstGeom prst="roundRect">
            <a:avLst>
              <a:gd name="adj" fmla="val 5000"/>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26" name="Shape 24"/>
          <p:cNvSpPr/>
          <p:nvPr/>
        </p:nvSpPr>
        <p:spPr>
          <a:xfrm>
            <a:off x="749808" y="5074920"/>
            <a:ext cx="1170432" cy="548640"/>
          </a:xfrm>
          <a:prstGeom prst="roundRect">
            <a:avLst>
              <a:gd name="adj" fmla="val 8333"/>
            </a:avLst>
          </a:prstGeom>
          <a:solidFill>
            <a:srgbClr val="B87400"/>
          </a:solidFill>
          <a:ln/>
        </p:spPr>
      </p:sp>
      <p:sp>
        <p:nvSpPr>
          <p:cNvPr id="27" name="Text 25"/>
          <p:cNvSpPr txBox="1"/>
          <p:nvPr/>
        </p:nvSpPr>
        <p:spPr>
          <a:xfrm>
            <a:off x="749808" y="5074920"/>
            <a:ext cx="1170432"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フェーズ3</a:t>
            </a:r>
            <a:endParaRPr lang="en-US" sz="1200" dirty="0"/>
          </a:p>
        </p:txBody>
      </p:sp>
      <p:sp>
        <p:nvSpPr>
          <p:cNvPr id="28" name="Text 26"/>
          <p:cNvSpPr txBox="1"/>
          <p:nvPr/>
        </p:nvSpPr>
        <p:spPr>
          <a:xfrm>
            <a:off x="2066544" y="5038344"/>
            <a:ext cx="1005840" cy="274320"/>
          </a:xfrm>
          <a:prstGeom prst="rect">
            <a:avLst/>
          </a:prstGeom>
          <a:noFill/>
          <a:ln/>
        </p:spPr>
        <p:txBody>
          <a:bodyPr wrap="square" lIns="0" tIns="0" rIns="0" bIns="0" rtlCol="0" anchor="ctr"/>
          <a:lstStyle/>
          <a:p>
            <a:pPr indent="0" marL="0">
              <a:buNone/>
            </a:pPr>
            <a:r>
              <a:rPr lang="en-US" sz="1100" b="1" dirty="0">
                <a:solidFill>
                  <a:srgbClr val="B87400"/>
                </a:solidFill>
                <a:latin typeface="Meiryo" pitchFamily="34" charset="0"/>
                <a:ea typeface="Meiryo" pitchFamily="34" charset="-122"/>
                <a:cs typeface="Meiryo" pitchFamily="34" charset="-120"/>
              </a:rPr>
              <a:t>8か月〜</a:t>
            </a:r>
            <a:endParaRPr lang="en-US" sz="1100" dirty="0"/>
          </a:p>
        </p:txBody>
      </p:sp>
      <p:sp>
        <p:nvSpPr>
          <p:cNvPr id="29" name="Text 27"/>
          <p:cNvSpPr txBox="1"/>
          <p:nvPr/>
        </p:nvSpPr>
        <p:spPr>
          <a:xfrm>
            <a:off x="3108960" y="5020056"/>
            <a:ext cx="3657600" cy="310896"/>
          </a:xfrm>
          <a:prstGeom prst="rect">
            <a:avLst/>
          </a:prstGeom>
          <a:noFill/>
          <a:ln/>
        </p:spPr>
        <p:txBody>
          <a:bodyPr wrap="square" lIns="0" tIns="0" rIns="0" bIns="0" rtlCol="0" anchor="ctr"/>
          <a:lstStyle/>
          <a:p>
            <a:pPr indent="0" marL="0">
              <a:buNone/>
            </a:pPr>
            <a:r>
              <a:rPr lang="en-US" sz="1400" b="1" dirty="0">
                <a:solidFill>
                  <a:srgbClr val="16324F"/>
                </a:solidFill>
                <a:latin typeface="Meiryo" pitchFamily="34" charset="0"/>
                <a:ea typeface="Meiryo" pitchFamily="34" charset="-122"/>
                <a:cs typeface="Meiryo" pitchFamily="34" charset="-120"/>
              </a:rPr>
              <a:t>事業の拡大</a:t>
            </a:r>
            <a:endParaRPr lang="en-US" sz="1400" dirty="0"/>
          </a:p>
        </p:txBody>
      </p:sp>
      <p:sp>
        <p:nvSpPr>
          <p:cNvPr id="30" name="Text 28"/>
          <p:cNvSpPr txBox="1"/>
          <p:nvPr/>
        </p:nvSpPr>
        <p:spPr>
          <a:xfrm>
            <a:off x="2066544" y="5367528"/>
            <a:ext cx="9265615" cy="329184"/>
          </a:xfrm>
          <a:prstGeom prst="rect">
            <a:avLst/>
          </a:prstGeom>
          <a:noFill/>
          <a:ln/>
        </p:spPr>
        <p:txBody>
          <a:bodyPr wrap="square" lIns="0" tIns="0" rIns="0" bIns="0" rtlCol="0" anchor="ctr"/>
          <a:lstStyle/>
          <a:p>
            <a:pPr indent="0" marL="0">
              <a:buNone/>
            </a:pPr>
            <a:r>
              <a:rPr lang="en-US" sz="1050" dirty="0">
                <a:solidFill>
                  <a:srgbClr val="1C2A38"/>
                </a:solidFill>
                <a:latin typeface="Meiryo" pitchFamily="34" charset="0"/>
                <a:ea typeface="Meiryo" pitchFamily="34" charset="-122"/>
                <a:cs typeface="Meiryo" pitchFamily="34" charset="-120"/>
              </a:rPr>
              <a:t>科目の追加／AI顔認証の強化／他県への展開／企業年間契約の獲得</a:t>
            </a:r>
            <a:endParaRPr lang="en-US" sz="1050" dirty="0"/>
          </a:p>
        </p:txBody>
      </p:sp>
      <p:sp>
        <p:nvSpPr>
          <p:cNvPr id="31" name="Text 29"/>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050" dirty="0">
                <a:solidFill>
                  <a:srgbClr val="6B7B8A"/>
                </a:solidFill>
                <a:latin typeface="Meiryo" pitchFamily="34" charset="0"/>
                <a:ea typeface="Meiryo" pitchFamily="34" charset="-122"/>
                <a:cs typeface="Meiryo" pitchFamily="34" charset="-120"/>
              </a:rPr>
              <a:t>※ 各フェーズは前フェーズの結果を見て継続を判断できます。フェーズ1で反応が読めなければ、そこで一度立ち止まる判断も可能です。</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5F7"/>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indent="0" marL="0">
              <a:buNone/>
            </a:pPr>
            <a:r>
              <a:rPr lang="en-US" sz="1100" b="1" spc="150" kern="0" dirty="0">
                <a:solidFill>
                  <a:srgbClr val="B87400"/>
                </a:solidFill>
                <a:latin typeface="Meiryo" pitchFamily="34" charset="0"/>
                <a:ea typeface="Meiryo" pitchFamily="34" charset="-122"/>
                <a:cs typeface="Meiryo" pitchFamily="34" charset="-120"/>
              </a:rPr>
              <a:t>COST</a:t>
            </a:r>
            <a:endParaRPr lang="en-US" sz="1100" dirty="0"/>
          </a:p>
        </p:txBody>
      </p:sp>
      <p:sp>
        <p:nvSpPr>
          <p:cNvPr id="3" name="Text 1"/>
          <p:cNvSpPr txBox="1"/>
          <p:nvPr/>
        </p:nvSpPr>
        <p:spPr>
          <a:xfrm>
            <a:off x="548640" y="603504"/>
            <a:ext cx="11094415" cy="548640"/>
          </a:xfrm>
          <a:prstGeom prst="rect">
            <a:avLst/>
          </a:prstGeom>
          <a:noFill/>
          <a:ln/>
        </p:spPr>
        <p:txBody>
          <a:bodyPr wrap="square" lIns="0" tIns="0" rIns="0" bIns="0" rtlCol="0" anchor="ctr"/>
          <a:lstStyle/>
          <a:p>
            <a:pPr indent="0" marL="0">
              <a:buNone/>
            </a:pPr>
            <a:r>
              <a:rPr lang="en-US" sz="2700" b="1" dirty="0">
                <a:solidFill>
                  <a:srgbClr val="16324F"/>
                </a:solidFill>
                <a:latin typeface="Meiryo" pitchFamily="34" charset="0"/>
                <a:ea typeface="Meiryo" pitchFamily="34" charset="-122"/>
                <a:cs typeface="Meiryo" pitchFamily="34" charset="-120"/>
              </a:rPr>
              <a:t>概算費用</a:t>
            </a:r>
            <a:endParaRPr lang="en-US" sz="2700" dirty="0"/>
          </a:p>
        </p:txBody>
      </p:sp>
      <p:sp>
        <p:nvSpPr>
          <p:cNvPr id="4" name="Text 2"/>
          <p:cNvSpPr txBox="1"/>
          <p:nvPr/>
        </p:nvSpPr>
        <p:spPr>
          <a:xfrm>
            <a:off x="548640" y="1188720"/>
            <a:ext cx="11094415" cy="329184"/>
          </a:xfrm>
          <a:prstGeom prst="rect">
            <a:avLst/>
          </a:prstGeom>
          <a:noFill/>
          <a:ln/>
        </p:spPr>
        <p:txBody>
          <a:bodyPr wrap="square" lIns="0" tIns="0" rIns="0" bIns="0" rtlCol="0" anchor="ctr"/>
          <a:lstStyle/>
          <a:p>
            <a:pPr indent="0" marL="0">
              <a:buNone/>
            </a:pPr>
            <a:r>
              <a:rPr lang="en-US" sz="1250" dirty="0">
                <a:solidFill>
                  <a:srgbClr val="6B7B8A"/>
                </a:solidFill>
                <a:latin typeface="Meiryo" pitchFamily="34" charset="0"/>
                <a:ea typeface="Meiryo" pitchFamily="34" charset="-122"/>
                <a:cs typeface="Meiryo" pitchFamily="34" charset="-120"/>
              </a:rPr>
              <a:t>要件が固まる前の概算レンジです。正式なお見積りは要件確定後にご提示します。</a:t>
            </a:r>
            <a:endParaRPr lang="en-US" sz="1250" dirty="0"/>
          </a:p>
        </p:txBody>
      </p:sp>
      <p:sp>
        <p:nvSpPr>
          <p:cNvPr id="5" name="Text 3"/>
          <p:cNvSpPr txBox="1"/>
          <p:nvPr/>
        </p:nvSpPr>
        <p:spPr>
          <a:xfrm>
            <a:off x="548640" y="6382512"/>
            <a:ext cx="8686800" cy="256032"/>
          </a:xfrm>
          <a:prstGeom prst="rect">
            <a:avLst/>
          </a:prstGeom>
          <a:noFill/>
          <a:ln/>
        </p:spPr>
        <p:txBody>
          <a:bodyPr wrap="square" lIns="0" tIns="0" rIns="0" bIns="0" rtlCol="0" anchor="ctr"/>
          <a:lstStyle/>
          <a:p>
            <a:pPr indent="0" marL="0">
              <a:buNone/>
            </a:pPr>
            <a:r>
              <a:rPr lang="en-US" sz="900" dirty="0">
                <a:solidFill>
                  <a:srgbClr val="6B7B8A"/>
                </a:solidFill>
                <a:latin typeface="Meiryo" pitchFamily="34" charset="0"/>
                <a:ea typeface="Meiryo" pitchFamily="34" charset="-122"/>
                <a:cs typeface="Meiryo" pitchFamily="34" charset="-120"/>
              </a:rPr>
              <a:t>株式会社聖建 御中 ｜ 建設業 特別教育 オンライン受講プラットフォーム ご提案</a:t>
            </a:r>
            <a:endParaRPr lang="en-US" sz="900" dirty="0"/>
          </a:p>
        </p:txBody>
      </p:sp>
      <p:sp>
        <p:nvSpPr>
          <p:cNvPr id="6" name="Text 4"/>
          <p:cNvSpPr txBox="1"/>
          <p:nvPr/>
        </p:nvSpPr>
        <p:spPr>
          <a:xfrm>
            <a:off x="11002975" y="6382512"/>
            <a:ext cx="640080" cy="256032"/>
          </a:xfrm>
          <a:prstGeom prst="rect">
            <a:avLst/>
          </a:prstGeom>
          <a:noFill/>
          <a:ln/>
        </p:spPr>
        <p:txBody>
          <a:bodyPr wrap="square" lIns="0" tIns="0" rIns="0" bIns="0" rtlCol="0" anchor="ctr"/>
          <a:lstStyle/>
          <a:p>
            <a:pPr algn="r" indent="0" marL="0">
              <a:buNone/>
            </a:pPr>
            <a:r>
              <a:rPr lang="en-US" sz="1000" b="1" dirty="0">
                <a:solidFill>
                  <a:srgbClr val="3E6B8C"/>
                </a:solidFill>
                <a:latin typeface="Meiryo" pitchFamily="34" charset="0"/>
                <a:ea typeface="Meiryo" pitchFamily="34" charset="-122"/>
                <a:cs typeface="Meiryo"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926080"/>
                <a:gridCol w="2103120"/>
                <a:gridCol w="6065215"/>
              </a:tblGrid>
              <a:tr h="384048">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項目</a:t>
                      </a:r>
                      <a:endParaRPr lang="en-US" sz="115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16324F"/>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概算レンジ</a:t>
                      </a:r>
                      <a:endParaRPr lang="en-US" sz="115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16324F"/>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含まれるもの</a:t>
                      </a:r>
                      <a:endParaRPr lang="en-US" sz="115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16324F"/>
                    </a:solidFill>
                  </a:tcPr>
                </a:tc>
              </a:tr>
              <a:tr h="658368">
                <a:tc>
                  <a:txBody>
                    <a:bodyPr/>
                    <a:lstStyle/>
                    <a:p>
                      <a:pPr indent="0" marL="0">
                        <a:buNone/>
                      </a:pPr>
                      <a:r>
                        <a:rPr lang="en-US" sz="1100" b="1" dirty="0">
                          <a:solidFill>
                            <a:srgbClr val="16324F"/>
                          </a:solidFill>
                          <a:latin typeface="Meiryo" pitchFamily="34" charset="0"/>
                          <a:ea typeface="Meiryo" pitchFamily="34" charset="-122"/>
                          <a:cs typeface="Meiryo" pitchFamily="34" charset="-120"/>
                        </a:rPr>
                        <a:t>フェーズ0　事業設計・要件定義</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B8A"/>
                          </a:solidFill>
                          <a:latin typeface="Meiryo" pitchFamily="34" charset="0"/>
                          <a:ea typeface="Meiryo" pitchFamily="34" charset="-122"/>
                          <a:cs typeface="Meiryo" pitchFamily="34" charset="-120"/>
                        </a:rPr>
                        <a:t>別途ご相談</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100" dirty="0">
                          <a:solidFill>
                            <a:srgbClr val="1C2A38"/>
                          </a:solidFill>
                          <a:latin typeface="Meiryo" pitchFamily="34" charset="0"/>
                          <a:ea typeface="Meiryo" pitchFamily="34" charset="-122"/>
                          <a:cs typeface="Meiryo" pitchFamily="34" charset="-120"/>
                        </a:rPr>
                        <a:t>ヒアリング、業務フロー設計、要件定義書、画面設計、規約・表記類の整備支援</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r>
              <a:tr h="658368">
                <a:tc>
                  <a:txBody>
                    <a:bodyPr/>
                    <a:lstStyle/>
                    <a:p>
                      <a:pPr indent="0" marL="0">
                        <a:buNone/>
                      </a:pPr>
                      <a:r>
                        <a:rPr lang="en-US" sz="1100" b="1" dirty="0">
                          <a:solidFill>
                            <a:srgbClr val="16324F"/>
                          </a:solidFill>
                          <a:latin typeface="Meiryo" pitchFamily="34" charset="0"/>
                          <a:ea typeface="Meiryo" pitchFamily="34" charset="-122"/>
                          <a:cs typeface="Meiryo" pitchFamily="34" charset="-120"/>
                        </a:rPr>
                        <a:t>フェーズ1　MVP構築</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B87400"/>
                          </a:solidFill>
                          <a:latin typeface="Meiryo" pitchFamily="34" charset="0"/>
                          <a:ea typeface="Meiryo" pitchFamily="34" charset="-122"/>
                          <a:cs typeface="Meiryo" pitchFamily="34" charset="-120"/>
                        </a:rPr>
                        <a:t>250〜400万円</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100" dirty="0">
                          <a:solidFill>
                            <a:srgbClr val="1C2A38"/>
                          </a:solidFill>
                          <a:latin typeface="Meiryo" pitchFamily="34" charset="0"/>
                          <a:ea typeface="Meiryo" pitchFamily="34" charset="-122"/>
                          <a:cs typeface="Meiryo" pitchFamily="34" charset="-120"/>
                        </a:rPr>
                        <a:t>受講者ポータル、本人確認・顔照合、学科動画配信、視聴ログ、テスト、修了証発行、決済</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r>
              <a:tr h="658368">
                <a:tc>
                  <a:txBody>
                    <a:bodyPr/>
                    <a:lstStyle/>
                    <a:p>
                      <a:pPr indent="0" marL="0">
                        <a:buNone/>
                      </a:pPr>
                      <a:r>
                        <a:rPr lang="en-US" sz="1100" b="1" dirty="0">
                          <a:solidFill>
                            <a:srgbClr val="16324F"/>
                          </a:solidFill>
                          <a:latin typeface="Meiryo" pitchFamily="34" charset="0"/>
                          <a:ea typeface="Meiryo" pitchFamily="34" charset="-122"/>
                          <a:cs typeface="Meiryo" pitchFamily="34" charset="-120"/>
                        </a:rPr>
                        <a:t>フェーズ2　機能拡張</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B87400"/>
                          </a:solidFill>
                          <a:latin typeface="Meiryo" pitchFamily="34" charset="0"/>
                          <a:ea typeface="Meiryo" pitchFamily="34" charset="-122"/>
                          <a:cs typeface="Meiryo" pitchFamily="34" charset="-120"/>
                        </a:rPr>
                        <a:t>150〜250万円</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100" dirty="0">
                          <a:solidFill>
                            <a:srgbClr val="1C2A38"/>
                          </a:solidFill>
                          <a:latin typeface="Meiryo" pitchFamily="34" charset="0"/>
                          <a:ea typeface="Meiryo" pitchFamily="34" charset="-122"/>
                          <a:cs typeface="Meiryo" pitchFamily="34" charset="-120"/>
                        </a:rPr>
                        <a:t>企業管理ポータル、実技予約・出欠管理、一括請求、CSV出力、記録の自動保存</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r>
              <a:tr h="658368">
                <a:tc>
                  <a:txBody>
                    <a:bodyPr/>
                    <a:lstStyle/>
                    <a:p>
                      <a:pPr indent="0" marL="0">
                        <a:buNone/>
                      </a:pPr>
                      <a:r>
                        <a:rPr lang="en-US" sz="1100" b="1" dirty="0">
                          <a:solidFill>
                            <a:srgbClr val="16324F"/>
                          </a:solidFill>
                          <a:latin typeface="Meiryo" pitchFamily="34" charset="0"/>
                          <a:ea typeface="Meiryo" pitchFamily="34" charset="-122"/>
                          <a:cs typeface="Meiryo" pitchFamily="34" charset="-120"/>
                        </a:rPr>
                        <a:t>教材制作（推奨B案の場合）</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B87400"/>
                          </a:solidFill>
                          <a:latin typeface="Meiryo" pitchFamily="34" charset="0"/>
                          <a:ea typeface="Meiryo" pitchFamily="34" charset="-122"/>
                          <a:cs typeface="Meiryo" pitchFamily="34" charset="-120"/>
                        </a:rPr>
                        <a:t>40〜80万円／科目</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100" dirty="0">
                          <a:solidFill>
                            <a:srgbClr val="1C2A38"/>
                          </a:solidFill>
                          <a:latin typeface="Meiryo" pitchFamily="34" charset="0"/>
                          <a:ea typeface="Meiryo" pitchFamily="34" charset="-122"/>
                          <a:cs typeface="Meiryo" pitchFamily="34" charset="-120"/>
                        </a:rPr>
                        <a:t>外部講師の講師料、撮影、編集、テスト問題の作成、教材PDFの制作</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r>
              <a:tr h="658368">
                <a:tc>
                  <a:txBody>
                    <a:bodyPr/>
                    <a:lstStyle/>
                    <a:p>
                      <a:pPr indent="0" marL="0">
                        <a:buNone/>
                      </a:pPr>
                      <a:r>
                        <a:rPr lang="en-US" sz="1100" b="1" dirty="0">
                          <a:solidFill>
                            <a:srgbClr val="16324F"/>
                          </a:solidFill>
                          <a:latin typeface="Meiryo" pitchFamily="34" charset="0"/>
                          <a:ea typeface="Meiryo" pitchFamily="34" charset="-122"/>
                          <a:cs typeface="Meiryo" pitchFamily="34" charset="-120"/>
                        </a:rPr>
                        <a:t>月額運用費</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B87400"/>
                          </a:solidFill>
                          <a:latin typeface="Meiryo" pitchFamily="34" charset="0"/>
                          <a:ea typeface="Meiryo" pitchFamily="34" charset="-122"/>
                          <a:cs typeface="Meiryo" pitchFamily="34" charset="-120"/>
                        </a:rPr>
                        <a:t>5〜10万円＋従量</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100" dirty="0">
                          <a:solidFill>
                            <a:srgbClr val="1C2A38"/>
                          </a:solidFill>
                          <a:latin typeface="Meiryo" pitchFamily="34" charset="0"/>
                          <a:ea typeface="Meiryo" pitchFamily="34" charset="-122"/>
                          <a:cs typeface="Meiryo" pitchFamily="34" charset="-120"/>
                        </a:rPr>
                        <a:t>サーバー費、保守・障害対応、本人確認API（従量）、動画配信費（従量）</a:t>
                      </a:r>
                      <a:endParaRPr lang="en-US" sz="1100" dirty="0">
                        <a:latin typeface="Meiryo" charset="0"/>
                        <a:ea typeface="Meiryo" charset="0"/>
                        <a:cs typeface="Meiryo" charset="0"/>
                      </a:endParaRPr>
                    </a:p>
                  </a:txBody>
                  <a:tcPr marL="91440" marR="91440" marT="45720" marB="45720" anchor="ctr">
                    <a:lnL w="6350" cap="flat" cmpd="sng" algn="ctr">
                      <a:solidFill>
                        <a:srgbClr val="DCE3E9"/>
                      </a:solidFill>
                      <a:prstDash val="solid"/>
                      <a:round/>
                      <a:headEnd type="none" w="med" len="med"/>
                      <a:tailEnd type="none" w="med" len="med"/>
                    </a:lnL>
                    <a:lnR w="6350" cap="flat" cmpd="sng" algn="ctr">
                      <a:solidFill>
                        <a:srgbClr val="DCE3E9"/>
                      </a:solidFill>
                      <a:prstDash val="solid"/>
                      <a:round/>
                      <a:headEnd type="none" w="med" len="med"/>
                      <a:tailEnd type="none" w="med" len="med"/>
                    </a:lnR>
                    <a:lnT w="6350" cap="flat" cmpd="sng" algn="ctr">
                      <a:solidFill>
                        <a:srgbClr val="DCE3E9"/>
                      </a:solidFill>
                      <a:prstDash val="solid"/>
                      <a:round/>
                      <a:headEnd type="none" w="med" len="med"/>
                      <a:tailEnd type="none" w="med" len="med"/>
                    </a:lnT>
                    <a:lnB w="6350" cap="flat" cmpd="sng" algn="ctr">
                      <a:solidFill>
                        <a:srgbClr val="DCE3E9"/>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349240"/>
            <a:ext cx="11094415" cy="777240"/>
          </a:xfrm>
          <a:prstGeom prst="roundRect">
            <a:avLst>
              <a:gd name="adj" fmla="val 5882"/>
            </a:avLst>
          </a:prstGeom>
          <a:solidFill>
            <a:srgbClr val="FCF1DC"/>
          </a:solidFill>
          <a:ln/>
        </p:spPr>
      </p:sp>
      <p:sp>
        <p:nvSpPr>
          <p:cNvPr id="9" name="Text 6"/>
          <p:cNvSpPr txBox="1"/>
          <p:nvPr/>
        </p:nvSpPr>
        <p:spPr>
          <a:xfrm>
            <a:off x="822960" y="5349240"/>
            <a:ext cx="10545775" cy="777240"/>
          </a:xfrm>
          <a:prstGeom prst="rect">
            <a:avLst/>
          </a:prstGeom>
          <a:noFill/>
          <a:ln/>
        </p:spPr>
        <p:txBody>
          <a:bodyPr wrap="square" lIns="0" tIns="0" rIns="0" bIns="0" rtlCol="0" anchor="ctr"/>
          <a:lstStyle/>
          <a:p>
            <a:pPr indent="0" marL="0">
              <a:lnSpc>
                <a:spcPct val="125000"/>
              </a:lnSpc>
              <a:buNone/>
            </a:pPr>
            <a:r>
              <a:rPr lang="en-US" sz="1100" dirty="0">
                <a:solidFill>
                  <a:srgbClr val="B87400"/>
                </a:solidFill>
                <a:latin typeface="Meiryo" pitchFamily="34" charset="0"/>
                <a:ea typeface="Meiryo" pitchFamily="34" charset="-122"/>
                <a:cs typeface="Meiryo" pitchFamily="34" charset="-120"/>
              </a:rPr>
              <a:t>※ 上記は同種システムの一般的な相場に基づく概算レンジです。機能の絞り込みによって下振れも可能ですし、AI顔認証をリアルタイム常時照合（厳格案B）に引き上げる場合は上振れします。正式なお見積りはフェーズ0の完了後に別途ご提示いたします。</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5F7"/>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indent="0" marL="0">
              <a:buNone/>
            </a:pPr>
            <a:r>
              <a:rPr lang="en-US" sz="1100" b="1" spc="150" kern="0" dirty="0">
                <a:solidFill>
                  <a:srgbClr val="B87400"/>
                </a:solidFill>
                <a:latin typeface="Meiryo" pitchFamily="34" charset="0"/>
                <a:ea typeface="Meiryo" pitchFamily="34" charset="-122"/>
                <a:cs typeface="Meiryo" pitchFamily="34" charset="-120"/>
              </a:rPr>
              <a:t>RISK</a:t>
            </a:r>
            <a:endParaRPr lang="en-US" sz="1100" dirty="0"/>
          </a:p>
        </p:txBody>
      </p:sp>
      <p:sp>
        <p:nvSpPr>
          <p:cNvPr id="3" name="Text 1"/>
          <p:cNvSpPr txBox="1"/>
          <p:nvPr/>
        </p:nvSpPr>
        <p:spPr>
          <a:xfrm>
            <a:off x="548640" y="603504"/>
            <a:ext cx="11094415" cy="548640"/>
          </a:xfrm>
          <a:prstGeom prst="rect">
            <a:avLst/>
          </a:prstGeom>
          <a:noFill/>
          <a:ln/>
        </p:spPr>
        <p:txBody>
          <a:bodyPr wrap="square" lIns="0" tIns="0" rIns="0" bIns="0" rtlCol="0" anchor="ctr"/>
          <a:lstStyle/>
          <a:p>
            <a:pPr indent="0" marL="0">
              <a:buNone/>
            </a:pPr>
            <a:r>
              <a:rPr lang="en-US" sz="2700" b="1" dirty="0">
                <a:solidFill>
                  <a:srgbClr val="16324F"/>
                </a:solidFill>
                <a:latin typeface="Meiryo" pitchFamily="34" charset="0"/>
                <a:ea typeface="Meiryo" pitchFamily="34" charset="-122"/>
                <a:cs typeface="Meiryo" pitchFamily="34" charset="-120"/>
              </a:rPr>
              <a:t>想定されるリスクと対策</a:t>
            </a:r>
            <a:endParaRPr lang="en-US" sz="2700" dirty="0"/>
          </a:p>
        </p:txBody>
      </p:sp>
      <p:sp>
        <p:nvSpPr>
          <p:cNvPr id="4" name="Text 2"/>
          <p:cNvSpPr txBox="1"/>
          <p:nvPr/>
        </p:nvSpPr>
        <p:spPr>
          <a:xfrm>
            <a:off x="548640" y="1188720"/>
            <a:ext cx="11094415" cy="329184"/>
          </a:xfrm>
          <a:prstGeom prst="rect">
            <a:avLst/>
          </a:prstGeom>
          <a:noFill/>
          <a:ln/>
        </p:spPr>
        <p:txBody>
          <a:bodyPr wrap="square" lIns="0" tIns="0" rIns="0" bIns="0" rtlCol="0" anchor="ctr"/>
          <a:lstStyle/>
          <a:p>
            <a:pPr indent="0" marL="0">
              <a:buNone/>
            </a:pPr>
            <a:r>
              <a:rPr lang="en-US" sz="1250" dirty="0">
                <a:solidFill>
                  <a:srgbClr val="6B7B8A"/>
                </a:solidFill>
                <a:latin typeface="Meiryo" pitchFamily="34" charset="0"/>
                <a:ea typeface="Meiryo" pitchFamily="34" charset="-122"/>
                <a:cs typeface="Meiryo" pitchFamily="34" charset="-120"/>
              </a:rPr>
              <a:t>外部への有料提供だからこそ、先に手を打っておくべき点です。</a:t>
            </a:r>
            <a:endParaRPr lang="en-US" sz="1250" dirty="0"/>
          </a:p>
        </p:txBody>
      </p:sp>
      <p:sp>
        <p:nvSpPr>
          <p:cNvPr id="5" name="Text 3"/>
          <p:cNvSpPr txBox="1"/>
          <p:nvPr/>
        </p:nvSpPr>
        <p:spPr>
          <a:xfrm>
            <a:off x="548640" y="6382512"/>
            <a:ext cx="8686800" cy="256032"/>
          </a:xfrm>
          <a:prstGeom prst="rect">
            <a:avLst/>
          </a:prstGeom>
          <a:noFill/>
          <a:ln/>
        </p:spPr>
        <p:txBody>
          <a:bodyPr wrap="square" lIns="0" tIns="0" rIns="0" bIns="0" rtlCol="0" anchor="ctr"/>
          <a:lstStyle/>
          <a:p>
            <a:pPr indent="0" marL="0">
              <a:buNone/>
            </a:pPr>
            <a:r>
              <a:rPr lang="en-US" sz="900" dirty="0">
                <a:solidFill>
                  <a:srgbClr val="6B7B8A"/>
                </a:solidFill>
                <a:latin typeface="Meiryo" pitchFamily="34" charset="0"/>
                <a:ea typeface="Meiryo" pitchFamily="34" charset="-122"/>
                <a:cs typeface="Meiryo" pitchFamily="34" charset="-120"/>
              </a:rPr>
              <a:t>株式会社聖建 御中 ｜ 建設業 特別教育 オンライン受講プラットフォーム ご提案</a:t>
            </a:r>
            <a:endParaRPr lang="en-US" sz="900" dirty="0"/>
          </a:p>
        </p:txBody>
      </p:sp>
      <p:sp>
        <p:nvSpPr>
          <p:cNvPr id="6" name="Text 4"/>
          <p:cNvSpPr txBox="1"/>
          <p:nvPr/>
        </p:nvSpPr>
        <p:spPr>
          <a:xfrm>
            <a:off x="11002975" y="6382512"/>
            <a:ext cx="640080" cy="256032"/>
          </a:xfrm>
          <a:prstGeom prst="rect">
            <a:avLst/>
          </a:prstGeom>
          <a:noFill/>
          <a:ln/>
        </p:spPr>
        <p:txBody>
          <a:bodyPr wrap="square" lIns="0" tIns="0" rIns="0" bIns="0" rtlCol="0" anchor="ctr"/>
          <a:lstStyle/>
          <a:p>
            <a:pPr algn="r" indent="0" marL="0">
              <a:buNone/>
            </a:pPr>
            <a:r>
              <a:rPr lang="en-US" sz="1000" b="1" dirty="0">
                <a:solidFill>
                  <a:srgbClr val="3E6B8C"/>
                </a:solidFill>
                <a:latin typeface="Meiryo" pitchFamily="34" charset="0"/>
                <a:ea typeface="Meiryo" pitchFamily="34" charset="-122"/>
                <a:cs typeface="Meiryo" pitchFamily="34" charset="-120"/>
              </a:rPr>
              <a:t>18</a:t>
            </a:r>
            <a:endParaRPr lang="en-US" sz="1000" dirty="0"/>
          </a:p>
        </p:txBody>
      </p:sp>
      <p:sp>
        <p:nvSpPr>
          <p:cNvPr id="7" name="Shape 5"/>
          <p:cNvSpPr/>
          <p:nvPr/>
        </p:nvSpPr>
        <p:spPr>
          <a:xfrm>
            <a:off x="548640" y="1691640"/>
            <a:ext cx="5410048" cy="2011680"/>
          </a:xfrm>
          <a:prstGeom prst="roundRect">
            <a:avLst>
              <a:gd name="adj" fmla="val 2273"/>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8" name="Shape 6"/>
          <p:cNvSpPr/>
          <p:nvPr/>
        </p:nvSpPr>
        <p:spPr>
          <a:xfrm>
            <a:off x="804672" y="1929384"/>
            <a:ext cx="457200" cy="457200"/>
          </a:xfrm>
          <a:prstGeom prst="ellipse">
            <a:avLst/>
          </a:prstGeom>
          <a:solidFill>
            <a:srgbClr val="B3402F"/>
          </a:solidFill>
          <a:ln/>
        </p:spPr>
      </p:sp>
      <p:sp>
        <p:nvSpPr>
          <p:cNvPr id="9" name="Text 7"/>
          <p:cNvSpPr txBox="1"/>
          <p:nvPr/>
        </p:nvSpPr>
        <p:spPr>
          <a:xfrm>
            <a:off x="804672" y="19293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10" name="Text 8"/>
          <p:cNvSpPr txBox="1"/>
          <p:nvPr/>
        </p:nvSpPr>
        <p:spPr>
          <a:xfrm>
            <a:off x="1389888" y="1911096"/>
            <a:ext cx="4312768" cy="329184"/>
          </a:xfrm>
          <a:prstGeom prst="rect">
            <a:avLst/>
          </a:prstGeom>
          <a:noFill/>
          <a:ln/>
        </p:spPr>
        <p:txBody>
          <a:bodyPr wrap="square" lIns="0" tIns="0" rIns="0" bIns="0" rtlCol="0" anchor="ctr"/>
          <a:lstStyle/>
          <a:p>
            <a:pPr indent="0" marL="0">
              <a:buNone/>
            </a:pPr>
            <a:r>
              <a:rPr lang="en-US" sz="1450" b="1" dirty="0">
                <a:solidFill>
                  <a:srgbClr val="16324F"/>
                </a:solidFill>
                <a:latin typeface="Meiryo" pitchFamily="34" charset="0"/>
                <a:ea typeface="Meiryo" pitchFamily="34" charset="-122"/>
                <a:cs typeface="Meiryo" pitchFamily="34" charset="-120"/>
              </a:rPr>
              <a:t>個人情報の取扱い</a:t>
            </a:r>
            <a:endParaRPr lang="en-US" sz="1450" dirty="0"/>
          </a:p>
        </p:txBody>
      </p:sp>
      <p:sp>
        <p:nvSpPr>
          <p:cNvPr id="11" name="Text 9"/>
          <p:cNvSpPr txBox="1"/>
          <p:nvPr/>
        </p:nvSpPr>
        <p:spPr>
          <a:xfrm>
            <a:off x="822960" y="2331720"/>
            <a:ext cx="4861408" cy="457200"/>
          </a:xfrm>
          <a:prstGeom prst="rect">
            <a:avLst/>
          </a:prstGeom>
          <a:noFill/>
          <a:ln/>
        </p:spPr>
        <p:txBody>
          <a:bodyPr wrap="square" lIns="0" tIns="0" rIns="0" bIns="0" rtlCol="0" anchor="ctr"/>
          <a:lstStyle/>
          <a:p>
            <a:pPr indent="0" marL="0">
              <a:lnSpc>
                <a:spcPct val="120000"/>
              </a:lnSpc>
              <a:buNone/>
            </a:pPr>
            <a:r>
              <a:rPr lang="en-US" sz="1100" dirty="0">
                <a:solidFill>
                  <a:srgbClr val="B3402F"/>
                </a:solidFill>
                <a:latin typeface="Meiryo" pitchFamily="34" charset="0"/>
                <a:ea typeface="Meiryo" pitchFamily="34" charset="-122"/>
                <a:cs typeface="Meiryo" pitchFamily="34" charset="-120"/>
              </a:rPr>
              <a:t>本人確認書類と顔写真は、外部の受講者からお預かりする個人情報です。</a:t>
            </a:r>
            <a:endParaRPr lang="en-US" sz="1100" dirty="0"/>
          </a:p>
        </p:txBody>
      </p:sp>
      <p:sp>
        <p:nvSpPr>
          <p:cNvPr id="12" name="Shape 10"/>
          <p:cNvSpPr/>
          <p:nvPr/>
        </p:nvSpPr>
        <p:spPr>
          <a:xfrm>
            <a:off x="822960" y="2807208"/>
            <a:ext cx="4861408" cy="749808"/>
          </a:xfrm>
          <a:prstGeom prst="roundRect">
            <a:avLst>
              <a:gd name="adj" fmla="val 4878"/>
            </a:avLst>
          </a:prstGeom>
          <a:solidFill>
            <a:srgbClr val="F3F5F7"/>
          </a:solidFill>
          <a:ln/>
        </p:spPr>
      </p:sp>
      <p:sp>
        <p:nvSpPr>
          <p:cNvPr id="13" name="Text 11"/>
          <p:cNvSpPr txBox="1"/>
          <p:nvPr/>
        </p:nvSpPr>
        <p:spPr>
          <a:xfrm>
            <a:off x="960120" y="2807208"/>
            <a:ext cx="4587088" cy="749808"/>
          </a:xfrm>
          <a:prstGeom prst="rect">
            <a:avLst/>
          </a:prstGeom>
          <a:noFill/>
          <a:ln/>
        </p:spPr>
        <p:txBody>
          <a:bodyPr wrap="square" lIns="0" tIns="0" rIns="0" bIns="0" rtlCol="0" anchor="ctr"/>
          <a:lstStyle/>
          <a:p>
            <a:pPr indent="0" marL="0">
              <a:lnSpc>
                <a:spcPct val="120000"/>
              </a:lnSpc>
              <a:buNone/>
            </a:pPr>
            <a:r>
              <a:rPr lang="en-US" sz="1050" b="1" dirty="0">
                <a:solidFill>
                  <a:srgbClr val="2E7D5B"/>
                </a:solidFill>
                <a:latin typeface="Meiryo" pitchFamily="34" charset="0"/>
                <a:ea typeface="Meiryo" pitchFamily="34" charset="-122"/>
                <a:cs typeface="Meiryo" pitchFamily="34" charset="-120"/>
              </a:rPr>
              <a:t>対策　</a:t>
            </a:r>
            <a:pPr indent="0" marL="0">
              <a:lnSpc>
                <a:spcPct val="120000"/>
              </a:lnSpc>
              <a:buNone/>
            </a:pPr>
            <a:r>
              <a:rPr lang="en-US" sz="1050" dirty="0">
                <a:solidFill>
                  <a:srgbClr val="1C2A38"/>
                </a:solidFill>
                <a:latin typeface="Meiryo" pitchFamily="34" charset="0"/>
                <a:ea typeface="Meiryo" pitchFamily="34" charset="-122"/>
                <a:cs typeface="Meiryo" pitchFamily="34" charset="-120"/>
              </a:rPr>
              <a:t>暗号化して保存し、アクセス権限を限定。保存期間のポリシーを定め、プライバシーポリシーと利用規約をフェーズ0で整備します。</a:t>
            </a:r>
            <a:endParaRPr lang="en-US" sz="1050" dirty="0"/>
          </a:p>
        </p:txBody>
      </p:sp>
      <p:sp>
        <p:nvSpPr>
          <p:cNvPr id="14" name="Shape 12"/>
          <p:cNvSpPr/>
          <p:nvPr/>
        </p:nvSpPr>
        <p:spPr>
          <a:xfrm>
            <a:off x="6233008" y="1691640"/>
            <a:ext cx="5410048" cy="2011680"/>
          </a:xfrm>
          <a:prstGeom prst="roundRect">
            <a:avLst>
              <a:gd name="adj" fmla="val 2273"/>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15" name="Shape 13"/>
          <p:cNvSpPr/>
          <p:nvPr/>
        </p:nvSpPr>
        <p:spPr>
          <a:xfrm>
            <a:off x="6489040" y="1929384"/>
            <a:ext cx="457200" cy="457200"/>
          </a:xfrm>
          <a:prstGeom prst="ellipse">
            <a:avLst/>
          </a:prstGeom>
          <a:solidFill>
            <a:srgbClr val="B3402F"/>
          </a:solidFill>
          <a:ln/>
        </p:spPr>
      </p:sp>
      <p:sp>
        <p:nvSpPr>
          <p:cNvPr id="16" name="Text 14"/>
          <p:cNvSpPr txBox="1"/>
          <p:nvPr/>
        </p:nvSpPr>
        <p:spPr>
          <a:xfrm>
            <a:off x="6489040" y="19293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17" name="Text 15"/>
          <p:cNvSpPr txBox="1"/>
          <p:nvPr/>
        </p:nvSpPr>
        <p:spPr>
          <a:xfrm>
            <a:off x="7074256" y="1911096"/>
            <a:ext cx="4312768" cy="329184"/>
          </a:xfrm>
          <a:prstGeom prst="rect">
            <a:avLst/>
          </a:prstGeom>
          <a:noFill/>
          <a:ln/>
        </p:spPr>
        <p:txBody>
          <a:bodyPr wrap="square" lIns="0" tIns="0" rIns="0" bIns="0" rtlCol="0" anchor="ctr"/>
          <a:lstStyle/>
          <a:p>
            <a:pPr indent="0" marL="0">
              <a:buNone/>
            </a:pPr>
            <a:r>
              <a:rPr lang="en-US" sz="1450" b="1" dirty="0">
                <a:solidFill>
                  <a:srgbClr val="16324F"/>
                </a:solidFill>
                <a:latin typeface="Meiryo" pitchFamily="34" charset="0"/>
                <a:ea typeface="Meiryo" pitchFamily="34" charset="-122"/>
                <a:cs typeface="Meiryo" pitchFamily="34" charset="-120"/>
              </a:rPr>
              <a:t>講師要件の説明責任</a:t>
            </a:r>
            <a:endParaRPr lang="en-US" sz="1450" dirty="0"/>
          </a:p>
        </p:txBody>
      </p:sp>
      <p:sp>
        <p:nvSpPr>
          <p:cNvPr id="18" name="Text 16"/>
          <p:cNvSpPr txBox="1"/>
          <p:nvPr/>
        </p:nvSpPr>
        <p:spPr>
          <a:xfrm>
            <a:off x="6507328" y="2331720"/>
            <a:ext cx="4861408" cy="457200"/>
          </a:xfrm>
          <a:prstGeom prst="rect">
            <a:avLst/>
          </a:prstGeom>
          <a:noFill/>
          <a:ln/>
        </p:spPr>
        <p:txBody>
          <a:bodyPr wrap="square" lIns="0" tIns="0" rIns="0" bIns="0" rtlCol="0" anchor="ctr"/>
          <a:lstStyle/>
          <a:p>
            <a:pPr indent="0" marL="0">
              <a:lnSpc>
                <a:spcPct val="120000"/>
              </a:lnSpc>
              <a:buNone/>
            </a:pPr>
            <a:r>
              <a:rPr lang="en-US" sz="1100" dirty="0">
                <a:solidFill>
                  <a:srgbClr val="B3402F"/>
                </a:solidFill>
                <a:latin typeface="Meiryo" pitchFamily="34" charset="0"/>
                <a:ea typeface="Meiryo" pitchFamily="34" charset="-122"/>
                <a:cs typeface="Meiryo" pitchFamily="34" charset="-120"/>
              </a:rPr>
              <a:t>「十分な知識と経験を有する者」の説明を求められる可能性があります。</a:t>
            </a:r>
            <a:endParaRPr lang="en-US" sz="1100" dirty="0"/>
          </a:p>
        </p:txBody>
      </p:sp>
      <p:sp>
        <p:nvSpPr>
          <p:cNvPr id="19" name="Shape 17"/>
          <p:cNvSpPr/>
          <p:nvPr/>
        </p:nvSpPr>
        <p:spPr>
          <a:xfrm>
            <a:off x="6507328" y="2807208"/>
            <a:ext cx="4861408" cy="749808"/>
          </a:xfrm>
          <a:prstGeom prst="roundRect">
            <a:avLst>
              <a:gd name="adj" fmla="val 4878"/>
            </a:avLst>
          </a:prstGeom>
          <a:solidFill>
            <a:srgbClr val="F3F5F7"/>
          </a:solidFill>
          <a:ln/>
        </p:spPr>
      </p:sp>
      <p:sp>
        <p:nvSpPr>
          <p:cNvPr id="20" name="Text 18"/>
          <p:cNvSpPr txBox="1"/>
          <p:nvPr/>
        </p:nvSpPr>
        <p:spPr>
          <a:xfrm>
            <a:off x="6644488" y="2807208"/>
            <a:ext cx="4587088" cy="749808"/>
          </a:xfrm>
          <a:prstGeom prst="rect">
            <a:avLst/>
          </a:prstGeom>
          <a:noFill/>
          <a:ln/>
        </p:spPr>
        <p:txBody>
          <a:bodyPr wrap="square" lIns="0" tIns="0" rIns="0" bIns="0" rtlCol="0" anchor="ctr"/>
          <a:lstStyle/>
          <a:p>
            <a:pPr indent="0" marL="0">
              <a:lnSpc>
                <a:spcPct val="120000"/>
              </a:lnSpc>
              <a:buNone/>
            </a:pPr>
            <a:r>
              <a:rPr lang="en-US" sz="1050" b="1" dirty="0">
                <a:solidFill>
                  <a:srgbClr val="2E7D5B"/>
                </a:solidFill>
                <a:latin typeface="Meiryo" pitchFamily="34" charset="0"/>
                <a:ea typeface="Meiryo" pitchFamily="34" charset="-122"/>
                <a:cs typeface="Meiryo" pitchFamily="34" charset="-120"/>
              </a:rPr>
              <a:t>対策　</a:t>
            </a:r>
            <a:pPr indent="0" marL="0">
              <a:lnSpc>
                <a:spcPct val="120000"/>
              </a:lnSpc>
              <a:buNone/>
            </a:pPr>
            <a:r>
              <a:rPr lang="en-US" sz="1050" dirty="0">
                <a:solidFill>
                  <a:srgbClr val="1C2A38"/>
                </a:solidFill>
                <a:latin typeface="Meiryo" pitchFamily="34" charset="0"/>
                <a:ea typeface="Meiryo" pitchFamily="34" charset="-122"/>
                <a:cs typeface="Meiryo" pitchFamily="34" charset="-120"/>
              </a:rPr>
              <a:t>講師の経歴書を整備し、教材内と修了証に講師名を明示。B案で外部の有資格者を起用すれば、説明はさらに容易になります。</a:t>
            </a:r>
            <a:endParaRPr lang="en-US" sz="1050" dirty="0"/>
          </a:p>
        </p:txBody>
      </p:sp>
      <p:sp>
        <p:nvSpPr>
          <p:cNvPr id="21" name="Shape 19"/>
          <p:cNvSpPr/>
          <p:nvPr/>
        </p:nvSpPr>
        <p:spPr>
          <a:xfrm>
            <a:off x="548640" y="3959352"/>
            <a:ext cx="5410048" cy="2011680"/>
          </a:xfrm>
          <a:prstGeom prst="roundRect">
            <a:avLst>
              <a:gd name="adj" fmla="val 2273"/>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22" name="Shape 20"/>
          <p:cNvSpPr/>
          <p:nvPr/>
        </p:nvSpPr>
        <p:spPr>
          <a:xfrm>
            <a:off x="804672" y="4197096"/>
            <a:ext cx="457200" cy="457200"/>
          </a:xfrm>
          <a:prstGeom prst="ellipse">
            <a:avLst/>
          </a:prstGeom>
          <a:solidFill>
            <a:srgbClr val="B3402F"/>
          </a:solidFill>
          <a:ln/>
        </p:spPr>
      </p:sp>
      <p:sp>
        <p:nvSpPr>
          <p:cNvPr id="23" name="Text 21"/>
          <p:cNvSpPr txBox="1"/>
          <p:nvPr/>
        </p:nvSpPr>
        <p:spPr>
          <a:xfrm>
            <a:off x="804672" y="41970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24" name="Text 22"/>
          <p:cNvSpPr txBox="1"/>
          <p:nvPr/>
        </p:nvSpPr>
        <p:spPr>
          <a:xfrm>
            <a:off x="1389888" y="4178808"/>
            <a:ext cx="4312768" cy="329184"/>
          </a:xfrm>
          <a:prstGeom prst="rect">
            <a:avLst/>
          </a:prstGeom>
          <a:noFill/>
          <a:ln/>
        </p:spPr>
        <p:txBody>
          <a:bodyPr wrap="square" lIns="0" tIns="0" rIns="0" bIns="0" rtlCol="0" anchor="ctr"/>
          <a:lstStyle/>
          <a:p>
            <a:pPr indent="0" marL="0">
              <a:buNone/>
            </a:pPr>
            <a:r>
              <a:rPr lang="en-US" sz="1450" b="1" dirty="0">
                <a:solidFill>
                  <a:srgbClr val="16324F"/>
                </a:solidFill>
                <a:latin typeface="Meiryo" pitchFamily="34" charset="0"/>
                <a:ea typeface="Meiryo" pitchFamily="34" charset="-122"/>
                <a:cs typeface="Meiryo" pitchFamily="34" charset="-120"/>
              </a:rPr>
              <a:t>実技会場のキャパシティ</a:t>
            </a:r>
            <a:endParaRPr lang="en-US" sz="1450" dirty="0"/>
          </a:p>
        </p:txBody>
      </p:sp>
      <p:sp>
        <p:nvSpPr>
          <p:cNvPr id="25" name="Text 23"/>
          <p:cNvSpPr txBox="1"/>
          <p:nvPr/>
        </p:nvSpPr>
        <p:spPr>
          <a:xfrm>
            <a:off x="822960" y="4599432"/>
            <a:ext cx="4861408" cy="457200"/>
          </a:xfrm>
          <a:prstGeom prst="rect">
            <a:avLst/>
          </a:prstGeom>
          <a:noFill/>
          <a:ln/>
        </p:spPr>
        <p:txBody>
          <a:bodyPr wrap="square" lIns="0" tIns="0" rIns="0" bIns="0" rtlCol="0" anchor="ctr"/>
          <a:lstStyle/>
          <a:p>
            <a:pPr indent="0" marL="0">
              <a:lnSpc>
                <a:spcPct val="120000"/>
              </a:lnSpc>
              <a:buNone/>
            </a:pPr>
            <a:r>
              <a:rPr lang="en-US" sz="1100" dirty="0">
                <a:solidFill>
                  <a:srgbClr val="B3402F"/>
                </a:solidFill>
                <a:latin typeface="Meiryo" pitchFamily="34" charset="0"/>
                <a:ea typeface="Meiryo" pitchFamily="34" charset="-122"/>
                <a:cs typeface="Meiryo" pitchFamily="34" charset="-120"/>
              </a:rPr>
              <a:t>半田会場の定員が、そのままプランBの売上上限になります。</a:t>
            </a:r>
            <a:endParaRPr lang="en-US" sz="1100" dirty="0"/>
          </a:p>
        </p:txBody>
      </p:sp>
      <p:sp>
        <p:nvSpPr>
          <p:cNvPr id="26" name="Shape 24"/>
          <p:cNvSpPr/>
          <p:nvPr/>
        </p:nvSpPr>
        <p:spPr>
          <a:xfrm>
            <a:off x="822960" y="5074920"/>
            <a:ext cx="4861408" cy="749808"/>
          </a:xfrm>
          <a:prstGeom prst="roundRect">
            <a:avLst>
              <a:gd name="adj" fmla="val 4878"/>
            </a:avLst>
          </a:prstGeom>
          <a:solidFill>
            <a:srgbClr val="F3F5F7"/>
          </a:solidFill>
          <a:ln/>
        </p:spPr>
      </p:sp>
      <p:sp>
        <p:nvSpPr>
          <p:cNvPr id="27" name="Text 25"/>
          <p:cNvSpPr txBox="1"/>
          <p:nvPr/>
        </p:nvSpPr>
        <p:spPr>
          <a:xfrm>
            <a:off x="960120" y="5074920"/>
            <a:ext cx="4587088" cy="749808"/>
          </a:xfrm>
          <a:prstGeom prst="rect">
            <a:avLst/>
          </a:prstGeom>
          <a:noFill/>
          <a:ln/>
        </p:spPr>
        <p:txBody>
          <a:bodyPr wrap="square" lIns="0" tIns="0" rIns="0" bIns="0" rtlCol="0" anchor="ctr"/>
          <a:lstStyle/>
          <a:p>
            <a:pPr indent="0" marL="0">
              <a:lnSpc>
                <a:spcPct val="120000"/>
              </a:lnSpc>
              <a:buNone/>
            </a:pPr>
            <a:r>
              <a:rPr lang="en-US" sz="1050" b="1" dirty="0">
                <a:solidFill>
                  <a:srgbClr val="2E7D5B"/>
                </a:solidFill>
                <a:latin typeface="Meiryo" pitchFamily="34" charset="0"/>
                <a:ea typeface="Meiryo" pitchFamily="34" charset="-122"/>
                <a:cs typeface="Meiryo" pitchFamily="34" charset="-120"/>
              </a:rPr>
              <a:t>対策　</a:t>
            </a:r>
            <a:pPr indent="0" marL="0">
              <a:lnSpc>
                <a:spcPct val="120000"/>
              </a:lnSpc>
              <a:buNone/>
            </a:pPr>
            <a:r>
              <a:rPr lang="en-US" sz="1050" dirty="0">
                <a:solidFill>
                  <a:srgbClr val="1C2A38"/>
                </a:solidFill>
                <a:latin typeface="Meiryo" pitchFamily="34" charset="0"/>
                <a:ea typeface="Meiryo" pitchFamily="34" charset="-122"/>
                <a:cs typeface="Meiryo" pitchFamily="34" charset="-120"/>
              </a:rPr>
              <a:t>予約制と定員管理で平準化し、繁忙期は追加日程を設定。プランA（学科のみ）を併売して会場に依存しない売上を作ります。</a:t>
            </a:r>
            <a:endParaRPr lang="en-US" sz="1050" dirty="0"/>
          </a:p>
        </p:txBody>
      </p:sp>
      <p:sp>
        <p:nvSpPr>
          <p:cNvPr id="28" name="Shape 26"/>
          <p:cNvSpPr/>
          <p:nvPr/>
        </p:nvSpPr>
        <p:spPr>
          <a:xfrm>
            <a:off x="6233008" y="3959352"/>
            <a:ext cx="5410048" cy="2011680"/>
          </a:xfrm>
          <a:prstGeom prst="roundRect">
            <a:avLst>
              <a:gd name="adj" fmla="val 2273"/>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29" name="Shape 27"/>
          <p:cNvSpPr/>
          <p:nvPr/>
        </p:nvSpPr>
        <p:spPr>
          <a:xfrm>
            <a:off x="6489040" y="4197096"/>
            <a:ext cx="457200" cy="457200"/>
          </a:xfrm>
          <a:prstGeom prst="ellipse">
            <a:avLst/>
          </a:prstGeom>
          <a:solidFill>
            <a:srgbClr val="B3402F"/>
          </a:solidFill>
          <a:ln/>
        </p:spPr>
      </p:sp>
      <p:sp>
        <p:nvSpPr>
          <p:cNvPr id="30" name="Text 28"/>
          <p:cNvSpPr txBox="1"/>
          <p:nvPr/>
        </p:nvSpPr>
        <p:spPr>
          <a:xfrm>
            <a:off x="6489040" y="41970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31" name="Text 29"/>
          <p:cNvSpPr txBox="1"/>
          <p:nvPr/>
        </p:nvSpPr>
        <p:spPr>
          <a:xfrm>
            <a:off x="7074256" y="4178808"/>
            <a:ext cx="4312768" cy="329184"/>
          </a:xfrm>
          <a:prstGeom prst="rect">
            <a:avLst/>
          </a:prstGeom>
          <a:noFill/>
          <a:ln/>
        </p:spPr>
        <p:txBody>
          <a:bodyPr wrap="square" lIns="0" tIns="0" rIns="0" bIns="0" rtlCol="0" anchor="ctr"/>
          <a:lstStyle/>
          <a:p>
            <a:pPr indent="0" marL="0">
              <a:buNone/>
            </a:pPr>
            <a:r>
              <a:rPr lang="en-US" sz="1450" b="1" dirty="0">
                <a:solidFill>
                  <a:srgbClr val="16324F"/>
                </a:solidFill>
                <a:latin typeface="Meiryo" pitchFamily="34" charset="0"/>
                <a:ea typeface="Meiryo" pitchFamily="34" charset="-122"/>
                <a:cs typeface="Meiryo" pitchFamily="34" charset="-120"/>
              </a:rPr>
              <a:t>競合との差別化</a:t>
            </a:r>
            <a:endParaRPr lang="en-US" sz="1450" dirty="0"/>
          </a:p>
        </p:txBody>
      </p:sp>
      <p:sp>
        <p:nvSpPr>
          <p:cNvPr id="32" name="Text 30"/>
          <p:cNvSpPr txBox="1"/>
          <p:nvPr/>
        </p:nvSpPr>
        <p:spPr>
          <a:xfrm>
            <a:off x="6507328" y="4599432"/>
            <a:ext cx="4861408" cy="457200"/>
          </a:xfrm>
          <a:prstGeom prst="rect">
            <a:avLst/>
          </a:prstGeom>
          <a:noFill/>
          <a:ln/>
        </p:spPr>
        <p:txBody>
          <a:bodyPr wrap="square" lIns="0" tIns="0" rIns="0" bIns="0" rtlCol="0" anchor="ctr"/>
          <a:lstStyle/>
          <a:p>
            <a:pPr indent="0" marL="0">
              <a:lnSpc>
                <a:spcPct val="120000"/>
              </a:lnSpc>
              <a:buNone/>
            </a:pPr>
            <a:r>
              <a:rPr lang="en-US" sz="1100" dirty="0">
                <a:solidFill>
                  <a:srgbClr val="B3402F"/>
                </a:solidFill>
                <a:latin typeface="Meiryo" pitchFamily="34" charset="0"/>
                <a:ea typeface="Meiryo" pitchFamily="34" charset="-122"/>
                <a:cs typeface="Meiryo" pitchFamily="34" charset="-120"/>
              </a:rPr>
              <a:t>大手の講習機関がすでに全国でオンライン提供を行っています。</a:t>
            </a:r>
            <a:endParaRPr lang="en-US" sz="1100" dirty="0"/>
          </a:p>
        </p:txBody>
      </p:sp>
      <p:sp>
        <p:nvSpPr>
          <p:cNvPr id="33" name="Shape 31"/>
          <p:cNvSpPr/>
          <p:nvPr/>
        </p:nvSpPr>
        <p:spPr>
          <a:xfrm>
            <a:off x="6507328" y="5074920"/>
            <a:ext cx="4861408" cy="749808"/>
          </a:xfrm>
          <a:prstGeom prst="roundRect">
            <a:avLst>
              <a:gd name="adj" fmla="val 4878"/>
            </a:avLst>
          </a:prstGeom>
          <a:solidFill>
            <a:srgbClr val="F3F5F7"/>
          </a:solidFill>
          <a:ln/>
        </p:spPr>
      </p:sp>
      <p:sp>
        <p:nvSpPr>
          <p:cNvPr id="34" name="Text 32"/>
          <p:cNvSpPr txBox="1"/>
          <p:nvPr/>
        </p:nvSpPr>
        <p:spPr>
          <a:xfrm>
            <a:off x="6644488" y="5074920"/>
            <a:ext cx="4587088" cy="749808"/>
          </a:xfrm>
          <a:prstGeom prst="rect">
            <a:avLst/>
          </a:prstGeom>
          <a:noFill/>
          <a:ln/>
        </p:spPr>
        <p:txBody>
          <a:bodyPr wrap="square" lIns="0" tIns="0" rIns="0" bIns="0" rtlCol="0" anchor="ctr"/>
          <a:lstStyle/>
          <a:p>
            <a:pPr indent="0" marL="0">
              <a:lnSpc>
                <a:spcPct val="120000"/>
              </a:lnSpc>
              <a:buNone/>
            </a:pPr>
            <a:r>
              <a:rPr lang="en-US" sz="1050" b="1" dirty="0">
                <a:solidFill>
                  <a:srgbClr val="2E7D5B"/>
                </a:solidFill>
                <a:latin typeface="Meiryo" pitchFamily="34" charset="0"/>
                <a:ea typeface="Meiryo" pitchFamily="34" charset="-122"/>
                <a:cs typeface="Meiryo" pitchFamily="34" charset="-120"/>
              </a:rPr>
              <a:t>対策　</a:t>
            </a:r>
            <a:pPr indent="0" marL="0">
              <a:lnSpc>
                <a:spcPct val="120000"/>
              </a:lnSpc>
              <a:buNone/>
            </a:pPr>
            <a:r>
              <a:rPr lang="en-US" sz="1050" dirty="0">
                <a:solidFill>
                  <a:srgbClr val="1C2A38"/>
                </a:solidFill>
                <a:latin typeface="Meiryo" pitchFamily="34" charset="0"/>
                <a:ea typeface="Meiryo" pitchFamily="34" charset="-122"/>
                <a:cs typeface="Meiryo" pitchFamily="34" charset="-120"/>
              </a:rPr>
              <a:t>価格競争を避け、「本人確認の厳格さ」「学科から実技までワンストップ」「東海地区の地域密着」の3点で勝負します。</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5F7"/>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indent="0" marL="0">
              <a:buNone/>
            </a:pPr>
            <a:r>
              <a:rPr lang="en-US" sz="1100" b="1" spc="150" kern="0" dirty="0">
                <a:solidFill>
                  <a:srgbClr val="B87400"/>
                </a:solidFill>
                <a:latin typeface="Meiryo" pitchFamily="34" charset="0"/>
                <a:ea typeface="Meiryo" pitchFamily="34" charset="-122"/>
                <a:cs typeface="Meiryo" pitchFamily="34" charset="-120"/>
              </a:rPr>
              <a:t>FUNDING</a:t>
            </a:r>
            <a:endParaRPr lang="en-US" sz="1100" dirty="0"/>
          </a:p>
        </p:txBody>
      </p:sp>
      <p:sp>
        <p:nvSpPr>
          <p:cNvPr id="3" name="Text 1"/>
          <p:cNvSpPr txBox="1"/>
          <p:nvPr/>
        </p:nvSpPr>
        <p:spPr>
          <a:xfrm>
            <a:off x="548640" y="603504"/>
            <a:ext cx="11094415" cy="548640"/>
          </a:xfrm>
          <a:prstGeom prst="rect">
            <a:avLst/>
          </a:prstGeom>
          <a:noFill/>
          <a:ln/>
        </p:spPr>
        <p:txBody>
          <a:bodyPr wrap="square" lIns="0" tIns="0" rIns="0" bIns="0" rtlCol="0" anchor="ctr"/>
          <a:lstStyle/>
          <a:p>
            <a:pPr indent="0" marL="0">
              <a:buNone/>
            </a:pPr>
            <a:r>
              <a:rPr lang="en-US" sz="2700" b="1" dirty="0">
                <a:solidFill>
                  <a:srgbClr val="16324F"/>
                </a:solidFill>
                <a:latin typeface="Meiryo" pitchFamily="34" charset="0"/>
                <a:ea typeface="Meiryo" pitchFamily="34" charset="-122"/>
                <a:cs typeface="Meiryo" pitchFamily="34" charset="-120"/>
              </a:rPr>
              <a:t>補助金の活用可能性</a:t>
            </a:r>
            <a:endParaRPr lang="en-US" sz="2700" dirty="0"/>
          </a:p>
        </p:txBody>
      </p:sp>
      <p:sp>
        <p:nvSpPr>
          <p:cNvPr id="4" name="Text 2"/>
          <p:cNvSpPr txBox="1"/>
          <p:nvPr/>
        </p:nvSpPr>
        <p:spPr>
          <a:xfrm>
            <a:off x="548640" y="1188720"/>
            <a:ext cx="11094415" cy="329184"/>
          </a:xfrm>
          <a:prstGeom prst="rect">
            <a:avLst/>
          </a:prstGeom>
          <a:noFill/>
          <a:ln/>
        </p:spPr>
        <p:txBody>
          <a:bodyPr wrap="square" lIns="0" tIns="0" rIns="0" bIns="0" rtlCol="0" anchor="ctr"/>
          <a:lstStyle/>
          <a:p>
            <a:pPr indent="0" marL="0">
              <a:buNone/>
            </a:pPr>
            <a:r>
              <a:rPr lang="en-US" sz="1250" dirty="0">
                <a:solidFill>
                  <a:srgbClr val="6B7B8A"/>
                </a:solidFill>
                <a:latin typeface="Meiryo" pitchFamily="34" charset="0"/>
                <a:ea typeface="Meiryo" pitchFamily="34" charset="-122"/>
                <a:cs typeface="Meiryo" pitchFamily="34" charset="-120"/>
              </a:rPr>
              <a:t>予算が未定とのことでしたので、初期投資を軽くする選択肢をご提示します。</a:t>
            </a:r>
            <a:endParaRPr lang="en-US" sz="1250" dirty="0"/>
          </a:p>
        </p:txBody>
      </p:sp>
      <p:sp>
        <p:nvSpPr>
          <p:cNvPr id="5" name="Text 3"/>
          <p:cNvSpPr txBox="1"/>
          <p:nvPr/>
        </p:nvSpPr>
        <p:spPr>
          <a:xfrm>
            <a:off x="548640" y="6382512"/>
            <a:ext cx="8686800" cy="256032"/>
          </a:xfrm>
          <a:prstGeom prst="rect">
            <a:avLst/>
          </a:prstGeom>
          <a:noFill/>
          <a:ln/>
        </p:spPr>
        <p:txBody>
          <a:bodyPr wrap="square" lIns="0" tIns="0" rIns="0" bIns="0" rtlCol="0" anchor="ctr"/>
          <a:lstStyle/>
          <a:p>
            <a:pPr indent="0" marL="0">
              <a:buNone/>
            </a:pPr>
            <a:r>
              <a:rPr lang="en-US" sz="900" dirty="0">
                <a:solidFill>
                  <a:srgbClr val="6B7B8A"/>
                </a:solidFill>
                <a:latin typeface="Meiryo" pitchFamily="34" charset="0"/>
                <a:ea typeface="Meiryo" pitchFamily="34" charset="-122"/>
                <a:cs typeface="Meiryo" pitchFamily="34" charset="-120"/>
              </a:rPr>
              <a:t>株式会社聖建 御中 ｜ 建設業 特別教育 オンライン受講プラットフォーム ご提案</a:t>
            </a:r>
            <a:endParaRPr lang="en-US" sz="900" dirty="0"/>
          </a:p>
        </p:txBody>
      </p:sp>
      <p:sp>
        <p:nvSpPr>
          <p:cNvPr id="6" name="Text 4"/>
          <p:cNvSpPr txBox="1"/>
          <p:nvPr/>
        </p:nvSpPr>
        <p:spPr>
          <a:xfrm>
            <a:off x="11002975" y="6382512"/>
            <a:ext cx="640080" cy="256032"/>
          </a:xfrm>
          <a:prstGeom prst="rect">
            <a:avLst/>
          </a:prstGeom>
          <a:noFill/>
          <a:ln/>
        </p:spPr>
        <p:txBody>
          <a:bodyPr wrap="square" lIns="0" tIns="0" rIns="0" bIns="0" rtlCol="0" anchor="ctr"/>
          <a:lstStyle/>
          <a:p>
            <a:pPr algn="r" indent="0" marL="0">
              <a:buNone/>
            </a:pPr>
            <a:r>
              <a:rPr lang="en-US" sz="1000" b="1" dirty="0">
                <a:solidFill>
                  <a:srgbClr val="3E6B8C"/>
                </a:solidFill>
                <a:latin typeface="Meiryo" pitchFamily="34" charset="0"/>
                <a:ea typeface="Meiryo" pitchFamily="34" charset="-122"/>
                <a:cs typeface="Meiryo" pitchFamily="34" charset="-120"/>
              </a:rPr>
              <a:t>19</a:t>
            </a:r>
            <a:endParaRPr lang="en-US" sz="1000" dirty="0"/>
          </a:p>
        </p:txBody>
      </p:sp>
      <p:sp>
        <p:nvSpPr>
          <p:cNvPr id="7" name="Shape 5"/>
          <p:cNvSpPr/>
          <p:nvPr/>
        </p:nvSpPr>
        <p:spPr>
          <a:xfrm>
            <a:off x="548640" y="1691640"/>
            <a:ext cx="3545738" cy="3200400"/>
          </a:xfrm>
          <a:prstGeom prst="roundRect">
            <a:avLst>
              <a:gd name="adj" fmla="val 1429"/>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8" name="Text 6"/>
          <p:cNvSpPr txBox="1"/>
          <p:nvPr/>
        </p:nvSpPr>
        <p:spPr>
          <a:xfrm>
            <a:off x="804672" y="1874520"/>
            <a:ext cx="3033674" cy="777240"/>
          </a:xfrm>
          <a:prstGeom prst="rect">
            <a:avLst/>
          </a:prstGeom>
          <a:noFill/>
          <a:ln/>
        </p:spPr>
        <p:txBody>
          <a:bodyPr wrap="square" lIns="0" tIns="0" rIns="0" bIns="0" rtlCol="0" anchor="ctr"/>
          <a:lstStyle/>
          <a:p>
            <a:pPr indent="0" marL="0">
              <a:lnSpc>
                <a:spcPct val="115000"/>
              </a:lnSpc>
              <a:buNone/>
            </a:pPr>
            <a:r>
              <a:rPr lang="en-US" sz="1450" b="1" dirty="0">
                <a:solidFill>
                  <a:srgbClr val="16324F"/>
                </a:solidFill>
                <a:latin typeface="Meiryo" pitchFamily="34" charset="0"/>
                <a:ea typeface="Meiryo" pitchFamily="34" charset="-122"/>
                <a:cs typeface="Meiryo" pitchFamily="34" charset="-120"/>
              </a:rPr>
              <a:t>新事業進出・ものづくり</a:t>
            </a:r>
            <a:endParaRPr lang="en-US" sz="1450" dirty="0"/>
          </a:p>
          <a:p>
            <a:pPr indent="0" marL="0">
              <a:lnSpc>
                <a:spcPct val="115000"/>
              </a:lnSpc>
              <a:buNone/>
            </a:pPr>
            <a:r>
              <a:rPr lang="en-US" sz="1450" b="1" dirty="0">
                <a:solidFill>
                  <a:srgbClr val="16324F"/>
                </a:solidFill>
                <a:latin typeface="Meiryo" pitchFamily="34" charset="0"/>
                <a:ea typeface="Meiryo" pitchFamily="34" charset="-122"/>
                <a:cs typeface="Meiryo" pitchFamily="34" charset="-120"/>
              </a:rPr>
              <a:t>商業サービス補助金</a:t>
            </a:r>
            <a:endParaRPr lang="en-US" sz="1450" dirty="0"/>
          </a:p>
        </p:txBody>
      </p:sp>
      <p:sp>
        <p:nvSpPr>
          <p:cNvPr id="9" name="Shape 7"/>
          <p:cNvSpPr/>
          <p:nvPr/>
        </p:nvSpPr>
        <p:spPr>
          <a:xfrm>
            <a:off x="804672" y="2724912"/>
            <a:ext cx="3033674" cy="365760"/>
          </a:xfrm>
          <a:prstGeom prst="roundRect">
            <a:avLst>
              <a:gd name="adj" fmla="val 12500"/>
            </a:avLst>
          </a:prstGeom>
          <a:solidFill>
            <a:srgbClr val="2E7D5B"/>
          </a:solidFill>
          <a:ln/>
        </p:spPr>
      </p:sp>
      <p:sp>
        <p:nvSpPr>
          <p:cNvPr id="10" name="Text 8"/>
          <p:cNvSpPr txBox="1"/>
          <p:nvPr/>
        </p:nvSpPr>
        <p:spPr>
          <a:xfrm>
            <a:off x="804672" y="2724912"/>
            <a:ext cx="3033674"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 最も親和性が高い</a:t>
            </a:r>
            <a:endParaRPr lang="en-US" sz="1150" dirty="0"/>
          </a:p>
        </p:txBody>
      </p:sp>
      <p:sp>
        <p:nvSpPr>
          <p:cNvPr id="11" name="Text 9"/>
          <p:cNvSpPr txBox="1"/>
          <p:nvPr/>
        </p:nvSpPr>
        <p:spPr>
          <a:xfrm>
            <a:off x="804672" y="3246120"/>
            <a:ext cx="3033674" cy="1508760"/>
          </a:xfrm>
          <a:prstGeom prst="rect">
            <a:avLst/>
          </a:prstGeom>
          <a:noFill/>
          <a:ln/>
        </p:spPr>
        <p:txBody>
          <a:bodyPr wrap="square" lIns="0" tIns="0" rIns="0" bIns="0" rtlCol="0" anchor="t"/>
          <a:lstStyle/>
          <a:p>
            <a:pPr indent="0" marL="0">
              <a:lnSpc>
                <a:spcPct val="130000"/>
              </a:lnSpc>
              <a:buNone/>
            </a:pPr>
            <a:r>
              <a:rPr lang="en-US" sz="1100" dirty="0">
                <a:solidFill>
                  <a:srgbClr val="1C2A38"/>
                </a:solidFill>
                <a:latin typeface="Meiryo" pitchFamily="34" charset="0"/>
                <a:ea typeface="Meiryo" pitchFamily="34" charset="-122"/>
                <a:cs typeface="Meiryo" pitchFamily="34" charset="-120"/>
              </a:rPr>
              <a:t>新製品・新サービスの開発が対象で、システム構築費が補助対象になります。補助率は40〜60%程度。今回の「講習事業という新規事業の立ち上げ」と最も相性がよい制度です。</a:t>
            </a:r>
            <a:endParaRPr lang="en-US" sz="1100" dirty="0"/>
          </a:p>
        </p:txBody>
      </p:sp>
      <p:sp>
        <p:nvSpPr>
          <p:cNvPr id="12" name="Shape 10"/>
          <p:cNvSpPr/>
          <p:nvPr/>
        </p:nvSpPr>
        <p:spPr>
          <a:xfrm>
            <a:off x="4322978" y="1691640"/>
            <a:ext cx="3545738" cy="3200400"/>
          </a:xfrm>
          <a:prstGeom prst="roundRect">
            <a:avLst>
              <a:gd name="adj" fmla="val 1429"/>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13" name="Text 11"/>
          <p:cNvSpPr txBox="1"/>
          <p:nvPr/>
        </p:nvSpPr>
        <p:spPr>
          <a:xfrm>
            <a:off x="4579010" y="1874520"/>
            <a:ext cx="3033674" cy="777240"/>
          </a:xfrm>
          <a:prstGeom prst="rect">
            <a:avLst/>
          </a:prstGeom>
          <a:noFill/>
          <a:ln/>
        </p:spPr>
        <p:txBody>
          <a:bodyPr wrap="square" lIns="0" tIns="0" rIns="0" bIns="0" rtlCol="0" anchor="ctr"/>
          <a:lstStyle/>
          <a:p>
            <a:pPr indent="0" marL="0">
              <a:lnSpc>
                <a:spcPct val="115000"/>
              </a:lnSpc>
              <a:buNone/>
            </a:pPr>
            <a:r>
              <a:rPr lang="en-US" sz="1450" b="1" dirty="0">
                <a:solidFill>
                  <a:srgbClr val="16324F"/>
                </a:solidFill>
                <a:latin typeface="Meiryo" pitchFamily="34" charset="0"/>
                <a:ea typeface="Meiryo" pitchFamily="34" charset="-122"/>
                <a:cs typeface="Meiryo" pitchFamily="34" charset="-120"/>
              </a:rPr>
              <a:t>小規模事業者</a:t>
            </a:r>
            <a:endParaRPr lang="en-US" sz="1450" dirty="0"/>
          </a:p>
          <a:p>
            <a:pPr indent="0" marL="0">
              <a:lnSpc>
                <a:spcPct val="115000"/>
              </a:lnSpc>
              <a:buNone/>
            </a:pPr>
            <a:r>
              <a:rPr lang="en-US" sz="1450" b="1" dirty="0">
                <a:solidFill>
                  <a:srgbClr val="16324F"/>
                </a:solidFill>
                <a:latin typeface="Meiryo" pitchFamily="34" charset="0"/>
                <a:ea typeface="Meiryo" pitchFamily="34" charset="-122"/>
                <a:cs typeface="Meiryo" pitchFamily="34" charset="-120"/>
              </a:rPr>
              <a:t>持続化補助金</a:t>
            </a:r>
            <a:endParaRPr lang="en-US" sz="1450" dirty="0"/>
          </a:p>
        </p:txBody>
      </p:sp>
      <p:sp>
        <p:nvSpPr>
          <p:cNvPr id="14" name="Shape 12"/>
          <p:cNvSpPr/>
          <p:nvPr/>
        </p:nvSpPr>
        <p:spPr>
          <a:xfrm>
            <a:off x="4579010" y="2724912"/>
            <a:ext cx="3033674" cy="365760"/>
          </a:xfrm>
          <a:prstGeom prst="roundRect">
            <a:avLst>
              <a:gd name="adj" fmla="val 12500"/>
            </a:avLst>
          </a:prstGeom>
          <a:solidFill>
            <a:srgbClr val="3E6B8C"/>
          </a:solidFill>
          <a:ln/>
        </p:spPr>
      </p:sp>
      <p:sp>
        <p:nvSpPr>
          <p:cNvPr id="15" name="Text 13"/>
          <p:cNvSpPr txBox="1"/>
          <p:nvPr/>
        </p:nvSpPr>
        <p:spPr>
          <a:xfrm>
            <a:off x="4579010" y="2724912"/>
            <a:ext cx="3033674"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 併用を検討</a:t>
            </a:r>
            <a:endParaRPr lang="en-US" sz="1150" dirty="0"/>
          </a:p>
        </p:txBody>
      </p:sp>
      <p:sp>
        <p:nvSpPr>
          <p:cNvPr id="16" name="Text 14"/>
          <p:cNvSpPr txBox="1"/>
          <p:nvPr/>
        </p:nvSpPr>
        <p:spPr>
          <a:xfrm>
            <a:off x="4579010" y="3246120"/>
            <a:ext cx="3033674" cy="1508760"/>
          </a:xfrm>
          <a:prstGeom prst="rect">
            <a:avLst/>
          </a:prstGeom>
          <a:noFill/>
          <a:ln/>
        </p:spPr>
        <p:txBody>
          <a:bodyPr wrap="square" lIns="0" tIns="0" rIns="0" bIns="0" rtlCol="0" anchor="t"/>
          <a:lstStyle/>
          <a:p>
            <a:pPr indent="0" marL="0">
              <a:lnSpc>
                <a:spcPct val="130000"/>
              </a:lnSpc>
              <a:buNone/>
            </a:pPr>
            <a:r>
              <a:rPr lang="en-US" sz="1100" dirty="0">
                <a:solidFill>
                  <a:srgbClr val="1C2A38"/>
                </a:solidFill>
                <a:latin typeface="Meiryo" pitchFamily="34" charset="0"/>
                <a:ea typeface="Meiryo" pitchFamily="34" charset="-122"/>
                <a:cs typeface="Meiryo" pitchFamily="34" charset="-120"/>
              </a:rPr>
              <a:t>販路開拓が対象。上限は50万円程度と小さいものの、申請手続きが簡素です。サービスサイトの制作や広告出稿に充てやすい制度です。</a:t>
            </a:r>
            <a:endParaRPr lang="en-US" sz="1100" dirty="0"/>
          </a:p>
        </p:txBody>
      </p:sp>
      <p:sp>
        <p:nvSpPr>
          <p:cNvPr id="17" name="Shape 15"/>
          <p:cNvSpPr/>
          <p:nvPr/>
        </p:nvSpPr>
        <p:spPr>
          <a:xfrm>
            <a:off x="8097317" y="1691640"/>
            <a:ext cx="3545738" cy="3200400"/>
          </a:xfrm>
          <a:prstGeom prst="roundRect">
            <a:avLst>
              <a:gd name="adj" fmla="val 1429"/>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18" name="Text 16"/>
          <p:cNvSpPr txBox="1"/>
          <p:nvPr/>
        </p:nvSpPr>
        <p:spPr>
          <a:xfrm>
            <a:off x="8353349" y="1874520"/>
            <a:ext cx="3033674" cy="777240"/>
          </a:xfrm>
          <a:prstGeom prst="rect">
            <a:avLst/>
          </a:prstGeom>
          <a:noFill/>
          <a:ln/>
        </p:spPr>
        <p:txBody>
          <a:bodyPr wrap="square" lIns="0" tIns="0" rIns="0" bIns="0" rtlCol="0" anchor="ctr"/>
          <a:lstStyle/>
          <a:p>
            <a:pPr indent="0" marL="0">
              <a:lnSpc>
                <a:spcPct val="115000"/>
              </a:lnSpc>
              <a:buNone/>
            </a:pPr>
            <a:r>
              <a:rPr lang="en-US" sz="1450" b="1" dirty="0">
                <a:solidFill>
                  <a:srgbClr val="16324F"/>
                </a:solidFill>
                <a:latin typeface="Meiryo" pitchFamily="34" charset="0"/>
                <a:ea typeface="Meiryo" pitchFamily="34" charset="-122"/>
                <a:cs typeface="Meiryo" pitchFamily="34" charset="-120"/>
              </a:rPr>
              <a:t>デジタル化・AI導入補助金</a:t>
            </a:r>
            <a:endParaRPr lang="en-US" sz="1450" dirty="0"/>
          </a:p>
          <a:p>
            <a:pPr indent="0" marL="0">
              <a:lnSpc>
                <a:spcPct val="115000"/>
              </a:lnSpc>
              <a:buNone/>
            </a:pPr>
            <a:r>
              <a:rPr lang="en-US" sz="1450" b="1" dirty="0">
                <a:solidFill>
                  <a:srgbClr val="16324F"/>
                </a:solidFill>
                <a:latin typeface="Meiryo" pitchFamily="34" charset="0"/>
                <a:ea typeface="Meiryo" pitchFamily="34" charset="-122"/>
                <a:cs typeface="Meiryo" pitchFamily="34" charset="-120"/>
              </a:rPr>
              <a:t>（旧 IT導入補助金）</a:t>
            </a:r>
            <a:endParaRPr lang="en-US" sz="1450" dirty="0"/>
          </a:p>
        </p:txBody>
      </p:sp>
      <p:sp>
        <p:nvSpPr>
          <p:cNvPr id="19" name="Shape 17"/>
          <p:cNvSpPr/>
          <p:nvPr/>
        </p:nvSpPr>
        <p:spPr>
          <a:xfrm>
            <a:off x="8353349" y="2724912"/>
            <a:ext cx="3033674" cy="365760"/>
          </a:xfrm>
          <a:prstGeom prst="roundRect">
            <a:avLst>
              <a:gd name="adj" fmla="val 12500"/>
            </a:avLst>
          </a:prstGeom>
          <a:solidFill>
            <a:srgbClr val="B3402F"/>
          </a:solidFill>
          <a:ln/>
        </p:spPr>
      </p:sp>
      <p:sp>
        <p:nvSpPr>
          <p:cNvPr id="20" name="Text 18"/>
          <p:cNvSpPr txBox="1"/>
          <p:nvPr/>
        </p:nvSpPr>
        <p:spPr>
          <a:xfrm>
            <a:off x="8353349" y="2724912"/>
            <a:ext cx="3033674"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 注意が必要</a:t>
            </a:r>
            <a:endParaRPr lang="en-US" sz="1150" dirty="0"/>
          </a:p>
        </p:txBody>
      </p:sp>
      <p:sp>
        <p:nvSpPr>
          <p:cNvPr id="21" name="Text 19"/>
          <p:cNvSpPr txBox="1"/>
          <p:nvPr/>
        </p:nvSpPr>
        <p:spPr>
          <a:xfrm>
            <a:off x="8353349" y="3246120"/>
            <a:ext cx="3033674" cy="1508760"/>
          </a:xfrm>
          <a:prstGeom prst="rect">
            <a:avLst/>
          </a:prstGeom>
          <a:noFill/>
          <a:ln/>
        </p:spPr>
        <p:txBody>
          <a:bodyPr wrap="square" lIns="0" tIns="0" rIns="0" bIns="0" rtlCol="0" anchor="t"/>
          <a:lstStyle/>
          <a:p>
            <a:pPr indent="0" marL="0">
              <a:lnSpc>
                <a:spcPct val="130000"/>
              </a:lnSpc>
              <a:buNone/>
            </a:pPr>
            <a:r>
              <a:rPr lang="en-US" sz="1100" dirty="0">
                <a:solidFill>
                  <a:srgbClr val="1C2A38"/>
                </a:solidFill>
                <a:latin typeface="Meiryo" pitchFamily="34" charset="0"/>
                <a:ea typeface="Meiryo" pitchFamily="34" charset="-122"/>
                <a:cs typeface="Meiryo" pitchFamily="34" charset="-120"/>
              </a:rPr>
              <a:t>2026年度に名称変更されました。自社利用のITツール導入が主な対象のため、外部へ販売するシステムの開発費には原則として使えません。</a:t>
            </a:r>
            <a:endParaRPr lang="en-US" sz="1100" dirty="0"/>
          </a:p>
        </p:txBody>
      </p:sp>
      <p:sp>
        <p:nvSpPr>
          <p:cNvPr id="22" name="Shape 20"/>
          <p:cNvSpPr/>
          <p:nvPr/>
        </p:nvSpPr>
        <p:spPr>
          <a:xfrm>
            <a:off x="548640" y="5074920"/>
            <a:ext cx="11094415" cy="914400"/>
          </a:xfrm>
          <a:prstGeom prst="roundRect">
            <a:avLst>
              <a:gd name="adj" fmla="val 5000"/>
            </a:avLst>
          </a:prstGeom>
          <a:solidFill>
            <a:srgbClr val="16324F"/>
          </a:solidFill>
          <a:ln/>
        </p:spPr>
      </p:sp>
      <p:sp>
        <p:nvSpPr>
          <p:cNvPr id="23" name="Shape 21"/>
          <p:cNvSpPr/>
          <p:nvPr/>
        </p:nvSpPr>
        <p:spPr>
          <a:xfrm>
            <a:off x="822960" y="5294376"/>
            <a:ext cx="475488" cy="475488"/>
          </a:xfrm>
          <a:prstGeom prst="ellipse">
            <a:avLst/>
          </a:prstGeom>
          <a:solidFill>
            <a:srgbClr val="E8960C"/>
          </a:solidFill>
          <a:ln/>
        </p:spPr>
      </p:sp>
      <p:sp>
        <p:nvSpPr>
          <p:cNvPr id="24" name="Text 22"/>
          <p:cNvSpPr txBox="1"/>
          <p:nvPr/>
        </p:nvSpPr>
        <p:spPr>
          <a:xfrm>
            <a:off x="822960" y="5294376"/>
            <a:ext cx="475488" cy="475488"/>
          </a:xfrm>
          <a:prstGeom prst="rect">
            <a:avLst/>
          </a:prstGeom>
          <a:noFill/>
          <a:ln/>
        </p:spPr>
        <p:txBody>
          <a:bodyPr wrap="square" lIns="0" tIns="0" rIns="0" bIns="0" rtlCol="0" anchor="ctr"/>
          <a:lstStyle/>
          <a:p>
            <a:pPr algn="ctr" indent="0" marL="0">
              <a:buNone/>
            </a:pPr>
            <a:r>
              <a:rPr lang="en-US" sz="1800" b="1" dirty="0">
                <a:solidFill>
                  <a:srgbClr val="0C1D2E"/>
                </a:solidFill>
                <a:latin typeface="Meiryo" pitchFamily="34" charset="0"/>
                <a:ea typeface="Meiryo" pitchFamily="34" charset="-122"/>
                <a:cs typeface="Meiryo" pitchFamily="34" charset="-120"/>
              </a:rPr>
              <a:t>!</a:t>
            </a:r>
            <a:endParaRPr lang="en-US" sz="1800" dirty="0"/>
          </a:p>
        </p:txBody>
      </p:sp>
      <p:sp>
        <p:nvSpPr>
          <p:cNvPr id="25" name="Text 23"/>
          <p:cNvSpPr txBox="1"/>
          <p:nvPr/>
        </p:nvSpPr>
        <p:spPr>
          <a:xfrm>
            <a:off x="1481328" y="5074920"/>
            <a:ext cx="9814255" cy="914400"/>
          </a:xfrm>
          <a:prstGeom prst="rect">
            <a:avLst/>
          </a:prstGeom>
          <a:noFill/>
          <a:ln/>
        </p:spPr>
        <p:txBody>
          <a:bodyPr wrap="square" lIns="0" tIns="0" rIns="0" bIns="0" rtlCol="0" anchor="ctr"/>
          <a:lstStyle/>
          <a:p>
            <a:pPr indent="0" marL="0">
              <a:lnSpc>
                <a:spcPct val="125000"/>
              </a:lnSpc>
              <a:buNone/>
            </a:pPr>
            <a:r>
              <a:rPr lang="en-US" sz="1100" dirty="0">
                <a:solidFill>
                  <a:srgbClr val="D6E2EC"/>
                </a:solidFill>
                <a:latin typeface="Meiryo" pitchFamily="34" charset="0"/>
                <a:ea typeface="Meiryo" pitchFamily="34" charset="-122"/>
                <a:cs typeface="Meiryo" pitchFamily="34" charset="-120"/>
              </a:rPr>
              <a:t>補助金の制度内容・補助率・公募回次は毎年変更されます。本ページは2026年8月時点で公表されている情報に基づく参考情報です。実際に申請される場合は、認定支援機関を交えて個別に要件をご確認ください。</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5F7"/>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indent="0" marL="0">
              <a:buNone/>
            </a:pPr>
            <a:r>
              <a:rPr lang="en-US" sz="1100" b="1" spc="150" kern="0" dirty="0">
                <a:solidFill>
                  <a:srgbClr val="B87400"/>
                </a:solidFill>
                <a:latin typeface="Meiryo" pitchFamily="34" charset="0"/>
                <a:ea typeface="Meiryo" pitchFamily="34" charset="-122"/>
                <a:cs typeface="Meiryo" pitchFamily="34" charset="-120"/>
              </a:rPr>
              <a:t>NEXT</a:t>
            </a:r>
            <a:endParaRPr lang="en-US" sz="1100" dirty="0"/>
          </a:p>
        </p:txBody>
      </p:sp>
      <p:sp>
        <p:nvSpPr>
          <p:cNvPr id="3" name="Text 1"/>
          <p:cNvSpPr txBox="1"/>
          <p:nvPr/>
        </p:nvSpPr>
        <p:spPr>
          <a:xfrm>
            <a:off x="548640" y="603504"/>
            <a:ext cx="11094415" cy="548640"/>
          </a:xfrm>
          <a:prstGeom prst="rect">
            <a:avLst/>
          </a:prstGeom>
          <a:noFill/>
          <a:ln/>
        </p:spPr>
        <p:txBody>
          <a:bodyPr wrap="square" lIns="0" tIns="0" rIns="0" bIns="0" rtlCol="0" anchor="ctr"/>
          <a:lstStyle/>
          <a:p>
            <a:pPr indent="0" marL="0">
              <a:buNone/>
            </a:pPr>
            <a:r>
              <a:rPr lang="en-US" sz="2700" b="1" dirty="0">
                <a:solidFill>
                  <a:srgbClr val="16324F"/>
                </a:solidFill>
                <a:latin typeface="Meiryo" pitchFamily="34" charset="0"/>
                <a:ea typeface="Meiryo" pitchFamily="34" charset="-122"/>
                <a:cs typeface="Meiryo" pitchFamily="34" charset="-120"/>
              </a:rPr>
              <a:t>次のアクションと、当日ご相談したい論点</a:t>
            </a:r>
            <a:endParaRPr lang="en-US" sz="2700" dirty="0"/>
          </a:p>
        </p:txBody>
      </p:sp>
      <p:sp>
        <p:nvSpPr>
          <p:cNvPr id="4" name="Text 2"/>
          <p:cNvSpPr txBox="1"/>
          <p:nvPr/>
        </p:nvSpPr>
        <p:spPr>
          <a:xfrm>
            <a:off x="548640" y="1188720"/>
            <a:ext cx="11094415" cy="329184"/>
          </a:xfrm>
          <a:prstGeom prst="rect">
            <a:avLst/>
          </a:prstGeom>
          <a:noFill/>
          <a:ln/>
        </p:spPr>
        <p:txBody>
          <a:bodyPr wrap="square" lIns="0" tIns="0" rIns="0" bIns="0" rtlCol="0" anchor="ctr"/>
          <a:lstStyle/>
          <a:p>
            <a:pPr indent="0" marL="0">
              <a:buNone/>
            </a:pPr>
            <a:r>
              <a:rPr lang="en-US" sz="1250" dirty="0">
                <a:solidFill>
                  <a:srgbClr val="6B7B8A"/>
                </a:solidFill>
                <a:latin typeface="Meiryo" pitchFamily="34" charset="0"/>
                <a:ea typeface="Meiryo" pitchFamily="34" charset="-122"/>
                <a:cs typeface="Meiryo" pitchFamily="34" charset="-120"/>
              </a:rPr>
              <a:t>「当日ご質問したい」とのことでしたので、想定される論点を先にお出しします。</a:t>
            </a:r>
            <a:endParaRPr lang="en-US" sz="1250" dirty="0"/>
          </a:p>
        </p:txBody>
      </p:sp>
      <p:sp>
        <p:nvSpPr>
          <p:cNvPr id="5" name="Text 3"/>
          <p:cNvSpPr txBox="1"/>
          <p:nvPr/>
        </p:nvSpPr>
        <p:spPr>
          <a:xfrm>
            <a:off x="548640" y="6382512"/>
            <a:ext cx="8686800" cy="256032"/>
          </a:xfrm>
          <a:prstGeom prst="rect">
            <a:avLst/>
          </a:prstGeom>
          <a:noFill/>
          <a:ln/>
        </p:spPr>
        <p:txBody>
          <a:bodyPr wrap="square" lIns="0" tIns="0" rIns="0" bIns="0" rtlCol="0" anchor="ctr"/>
          <a:lstStyle/>
          <a:p>
            <a:pPr indent="0" marL="0">
              <a:buNone/>
            </a:pPr>
            <a:r>
              <a:rPr lang="en-US" sz="900" dirty="0">
                <a:solidFill>
                  <a:srgbClr val="6B7B8A"/>
                </a:solidFill>
                <a:latin typeface="Meiryo" pitchFamily="34" charset="0"/>
                <a:ea typeface="Meiryo" pitchFamily="34" charset="-122"/>
                <a:cs typeface="Meiryo" pitchFamily="34" charset="-120"/>
              </a:rPr>
              <a:t>株式会社聖建 御中 ｜ 建設業 特別教育 オンライン受講プラットフォーム ご提案</a:t>
            </a:r>
            <a:endParaRPr lang="en-US" sz="900" dirty="0"/>
          </a:p>
        </p:txBody>
      </p:sp>
      <p:sp>
        <p:nvSpPr>
          <p:cNvPr id="6" name="Text 4"/>
          <p:cNvSpPr txBox="1"/>
          <p:nvPr/>
        </p:nvSpPr>
        <p:spPr>
          <a:xfrm>
            <a:off x="11002975" y="6382512"/>
            <a:ext cx="640080" cy="256032"/>
          </a:xfrm>
          <a:prstGeom prst="rect">
            <a:avLst/>
          </a:prstGeom>
          <a:noFill/>
          <a:ln/>
        </p:spPr>
        <p:txBody>
          <a:bodyPr wrap="square" lIns="0" tIns="0" rIns="0" bIns="0" rtlCol="0" anchor="ctr"/>
          <a:lstStyle/>
          <a:p>
            <a:pPr algn="r" indent="0" marL="0">
              <a:buNone/>
            </a:pPr>
            <a:r>
              <a:rPr lang="en-US" sz="1000" b="1" dirty="0">
                <a:solidFill>
                  <a:srgbClr val="3E6B8C"/>
                </a:solidFill>
                <a:latin typeface="Meiryo" pitchFamily="34" charset="0"/>
                <a:ea typeface="Meiryo" pitchFamily="34" charset="-122"/>
                <a:cs typeface="Meiryo" pitchFamily="34" charset="-120"/>
              </a:rPr>
              <a:t>20</a:t>
            </a:r>
            <a:endParaRPr lang="en-US" sz="1000" dirty="0"/>
          </a:p>
        </p:txBody>
      </p:sp>
      <p:sp>
        <p:nvSpPr>
          <p:cNvPr id="7" name="Shape 5"/>
          <p:cNvSpPr/>
          <p:nvPr/>
        </p:nvSpPr>
        <p:spPr>
          <a:xfrm>
            <a:off x="548640" y="1691640"/>
            <a:ext cx="5410048" cy="4160520"/>
          </a:xfrm>
          <a:prstGeom prst="roundRect">
            <a:avLst>
              <a:gd name="adj" fmla="val 1099"/>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8" name="Shape 6"/>
          <p:cNvSpPr/>
          <p:nvPr/>
        </p:nvSpPr>
        <p:spPr>
          <a:xfrm>
            <a:off x="548640" y="1691640"/>
            <a:ext cx="5410048" cy="621792"/>
          </a:xfrm>
          <a:prstGeom prst="roundRect">
            <a:avLst>
              <a:gd name="adj" fmla="val 7353"/>
            </a:avLst>
          </a:prstGeom>
          <a:solidFill>
            <a:srgbClr val="3E6B8C"/>
          </a:solidFill>
          <a:ln/>
        </p:spPr>
      </p:sp>
      <p:sp>
        <p:nvSpPr>
          <p:cNvPr id="9" name="Text 7"/>
          <p:cNvSpPr txBox="1"/>
          <p:nvPr/>
        </p:nvSpPr>
        <p:spPr>
          <a:xfrm>
            <a:off x="822960" y="1691640"/>
            <a:ext cx="4861408" cy="621792"/>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弊社が次に行うこと</a:t>
            </a:r>
            <a:endParaRPr lang="en-US" sz="1500" dirty="0"/>
          </a:p>
        </p:txBody>
      </p:sp>
      <p:sp>
        <p:nvSpPr>
          <p:cNvPr id="10" name="Shape 8"/>
          <p:cNvSpPr/>
          <p:nvPr/>
        </p:nvSpPr>
        <p:spPr>
          <a:xfrm>
            <a:off x="822960" y="2569464"/>
            <a:ext cx="420624" cy="420624"/>
          </a:xfrm>
          <a:prstGeom prst="ellipse">
            <a:avLst/>
          </a:prstGeom>
          <a:solidFill>
            <a:srgbClr val="3E6B8C"/>
          </a:solidFill>
          <a:ln/>
        </p:spPr>
      </p:sp>
      <p:sp>
        <p:nvSpPr>
          <p:cNvPr id="11" name="Text 9"/>
          <p:cNvSpPr txBox="1"/>
          <p:nvPr/>
        </p:nvSpPr>
        <p:spPr>
          <a:xfrm>
            <a:off x="822960" y="256946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1</a:t>
            </a:r>
            <a:endParaRPr lang="en-US" sz="1200" dirty="0"/>
          </a:p>
        </p:txBody>
      </p:sp>
      <p:sp>
        <p:nvSpPr>
          <p:cNvPr id="12" name="Text 10"/>
          <p:cNvSpPr txBox="1"/>
          <p:nvPr/>
        </p:nvSpPr>
        <p:spPr>
          <a:xfrm>
            <a:off x="1371600" y="2514600"/>
            <a:ext cx="4312768" cy="310896"/>
          </a:xfrm>
          <a:prstGeom prst="rect">
            <a:avLst/>
          </a:prstGeom>
          <a:noFill/>
          <a:ln/>
        </p:spPr>
        <p:txBody>
          <a:bodyPr wrap="square" lIns="0" tIns="0" rIns="0" bIns="0" rtlCol="0" anchor="ctr"/>
          <a:lstStyle/>
          <a:p>
            <a:pPr indent="0" marL="0">
              <a:buNone/>
            </a:pPr>
            <a:r>
              <a:rPr lang="en-US" sz="1250" b="1" dirty="0">
                <a:solidFill>
                  <a:srgbClr val="16324F"/>
                </a:solidFill>
                <a:latin typeface="Meiryo" pitchFamily="34" charset="0"/>
                <a:ea typeface="Meiryo" pitchFamily="34" charset="-122"/>
                <a:cs typeface="Meiryo" pitchFamily="34" charset="-120"/>
              </a:rPr>
              <a:t>本提案のご説明とご質問への回答</a:t>
            </a:r>
            <a:endParaRPr lang="en-US" sz="1250" dirty="0"/>
          </a:p>
        </p:txBody>
      </p:sp>
      <p:sp>
        <p:nvSpPr>
          <p:cNvPr id="13" name="Text 11"/>
          <p:cNvSpPr txBox="1"/>
          <p:nvPr/>
        </p:nvSpPr>
        <p:spPr>
          <a:xfrm>
            <a:off x="1371600" y="2825496"/>
            <a:ext cx="4312768" cy="365760"/>
          </a:xfrm>
          <a:prstGeom prst="rect">
            <a:avLst/>
          </a:prstGeom>
          <a:noFill/>
          <a:ln/>
        </p:spPr>
        <p:txBody>
          <a:bodyPr wrap="square" lIns="0" tIns="0" rIns="0" bIns="0" rtlCol="0" anchor="ctr"/>
          <a:lstStyle/>
          <a:p>
            <a:pPr indent="0" marL="0">
              <a:lnSpc>
                <a:spcPct val="115000"/>
              </a:lnSpc>
              <a:buNone/>
            </a:pPr>
            <a:r>
              <a:rPr lang="en-US" sz="1050" dirty="0">
                <a:solidFill>
                  <a:srgbClr val="6B7B8A"/>
                </a:solidFill>
                <a:latin typeface="Meiryo" pitchFamily="34" charset="0"/>
                <a:ea typeface="Meiryo" pitchFamily="34" charset="-122"/>
                <a:cs typeface="Meiryo" pitchFamily="34" charset="-120"/>
              </a:rPr>
              <a:t>本日いただくご質問に、その場でお答えします</a:t>
            </a:r>
            <a:endParaRPr lang="en-US" sz="1050" dirty="0"/>
          </a:p>
        </p:txBody>
      </p:sp>
      <p:sp>
        <p:nvSpPr>
          <p:cNvPr id="14" name="Shape 12"/>
          <p:cNvSpPr/>
          <p:nvPr/>
        </p:nvSpPr>
        <p:spPr>
          <a:xfrm>
            <a:off x="822960" y="3410712"/>
            <a:ext cx="420624" cy="420624"/>
          </a:xfrm>
          <a:prstGeom prst="ellipse">
            <a:avLst/>
          </a:prstGeom>
          <a:solidFill>
            <a:srgbClr val="3E6B8C"/>
          </a:solidFill>
          <a:ln/>
        </p:spPr>
      </p:sp>
      <p:sp>
        <p:nvSpPr>
          <p:cNvPr id="15" name="Text 13"/>
          <p:cNvSpPr txBox="1"/>
          <p:nvPr/>
        </p:nvSpPr>
        <p:spPr>
          <a:xfrm>
            <a:off x="822960" y="341071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2</a:t>
            </a:r>
            <a:endParaRPr lang="en-US" sz="1200" dirty="0"/>
          </a:p>
        </p:txBody>
      </p:sp>
      <p:sp>
        <p:nvSpPr>
          <p:cNvPr id="16" name="Text 14"/>
          <p:cNvSpPr txBox="1"/>
          <p:nvPr/>
        </p:nvSpPr>
        <p:spPr>
          <a:xfrm>
            <a:off x="1371600" y="3355848"/>
            <a:ext cx="4312768" cy="310896"/>
          </a:xfrm>
          <a:prstGeom prst="rect">
            <a:avLst/>
          </a:prstGeom>
          <a:noFill/>
          <a:ln/>
        </p:spPr>
        <p:txBody>
          <a:bodyPr wrap="square" lIns="0" tIns="0" rIns="0" bIns="0" rtlCol="0" anchor="ctr"/>
          <a:lstStyle/>
          <a:p>
            <a:pPr indent="0" marL="0">
              <a:buNone/>
            </a:pPr>
            <a:r>
              <a:rPr lang="en-US" sz="1250" b="1" dirty="0">
                <a:solidFill>
                  <a:srgbClr val="16324F"/>
                </a:solidFill>
                <a:latin typeface="Meiryo" pitchFamily="34" charset="0"/>
                <a:ea typeface="Meiryo" pitchFamily="34" charset="-122"/>
                <a:cs typeface="Meiryo" pitchFamily="34" charset="-120"/>
              </a:rPr>
              <a:t>第1弾科目の選定支援</a:t>
            </a:r>
            <a:endParaRPr lang="en-US" sz="1250" dirty="0"/>
          </a:p>
        </p:txBody>
      </p:sp>
      <p:sp>
        <p:nvSpPr>
          <p:cNvPr id="17" name="Text 15"/>
          <p:cNvSpPr txBox="1"/>
          <p:nvPr/>
        </p:nvSpPr>
        <p:spPr>
          <a:xfrm>
            <a:off x="1371600" y="3666744"/>
            <a:ext cx="4312768" cy="365760"/>
          </a:xfrm>
          <a:prstGeom prst="rect">
            <a:avLst/>
          </a:prstGeom>
          <a:noFill/>
          <a:ln/>
        </p:spPr>
        <p:txBody>
          <a:bodyPr wrap="square" lIns="0" tIns="0" rIns="0" bIns="0" rtlCol="0" anchor="ctr"/>
          <a:lstStyle/>
          <a:p>
            <a:pPr indent="0" marL="0">
              <a:lnSpc>
                <a:spcPct val="115000"/>
              </a:lnSpc>
              <a:buNone/>
            </a:pPr>
            <a:r>
              <a:rPr lang="en-US" sz="1050" dirty="0">
                <a:solidFill>
                  <a:srgbClr val="6B7B8A"/>
                </a:solidFill>
                <a:latin typeface="Meiryo" pitchFamily="34" charset="0"/>
                <a:ea typeface="Meiryo" pitchFamily="34" charset="-122"/>
                <a:cs typeface="Meiryo" pitchFamily="34" charset="-120"/>
              </a:rPr>
              <a:t>自社に必要な科目と、外販で売れる科目の両面から整理します</a:t>
            </a:r>
            <a:endParaRPr lang="en-US" sz="1050" dirty="0"/>
          </a:p>
        </p:txBody>
      </p:sp>
      <p:sp>
        <p:nvSpPr>
          <p:cNvPr id="18" name="Shape 16"/>
          <p:cNvSpPr/>
          <p:nvPr/>
        </p:nvSpPr>
        <p:spPr>
          <a:xfrm>
            <a:off x="822960" y="4251960"/>
            <a:ext cx="420624" cy="420624"/>
          </a:xfrm>
          <a:prstGeom prst="ellipse">
            <a:avLst/>
          </a:prstGeom>
          <a:solidFill>
            <a:srgbClr val="3E6B8C"/>
          </a:solidFill>
          <a:ln/>
        </p:spPr>
      </p:sp>
      <p:sp>
        <p:nvSpPr>
          <p:cNvPr id="19" name="Text 17"/>
          <p:cNvSpPr txBox="1"/>
          <p:nvPr/>
        </p:nvSpPr>
        <p:spPr>
          <a:xfrm>
            <a:off x="822960" y="425196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3</a:t>
            </a:r>
            <a:endParaRPr lang="en-US" sz="1200" dirty="0"/>
          </a:p>
        </p:txBody>
      </p:sp>
      <p:sp>
        <p:nvSpPr>
          <p:cNvPr id="20" name="Text 18"/>
          <p:cNvSpPr txBox="1"/>
          <p:nvPr/>
        </p:nvSpPr>
        <p:spPr>
          <a:xfrm>
            <a:off x="1371600" y="4197096"/>
            <a:ext cx="4312768" cy="310896"/>
          </a:xfrm>
          <a:prstGeom prst="rect">
            <a:avLst/>
          </a:prstGeom>
          <a:noFill/>
          <a:ln/>
        </p:spPr>
        <p:txBody>
          <a:bodyPr wrap="square" lIns="0" tIns="0" rIns="0" bIns="0" rtlCol="0" anchor="ctr"/>
          <a:lstStyle/>
          <a:p>
            <a:pPr indent="0" marL="0">
              <a:buNone/>
            </a:pPr>
            <a:r>
              <a:rPr lang="en-US" sz="1250" b="1" dirty="0">
                <a:solidFill>
                  <a:srgbClr val="16324F"/>
                </a:solidFill>
                <a:latin typeface="Meiryo" pitchFamily="34" charset="0"/>
                <a:ea typeface="Meiryo" pitchFamily="34" charset="-122"/>
                <a:cs typeface="Meiryo" pitchFamily="34" charset="-120"/>
              </a:rPr>
              <a:t>フェーズ0（要件定義）のご提案</a:t>
            </a:r>
            <a:endParaRPr lang="en-US" sz="1250" dirty="0"/>
          </a:p>
        </p:txBody>
      </p:sp>
      <p:sp>
        <p:nvSpPr>
          <p:cNvPr id="21" name="Text 19"/>
          <p:cNvSpPr txBox="1"/>
          <p:nvPr/>
        </p:nvSpPr>
        <p:spPr>
          <a:xfrm>
            <a:off x="1371600" y="4507992"/>
            <a:ext cx="4312768" cy="365760"/>
          </a:xfrm>
          <a:prstGeom prst="rect">
            <a:avLst/>
          </a:prstGeom>
          <a:noFill/>
          <a:ln/>
        </p:spPr>
        <p:txBody>
          <a:bodyPr wrap="square" lIns="0" tIns="0" rIns="0" bIns="0" rtlCol="0" anchor="ctr"/>
          <a:lstStyle/>
          <a:p>
            <a:pPr indent="0" marL="0">
              <a:lnSpc>
                <a:spcPct val="115000"/>
              </a:lnSpc>
              <a:buNone/>
            </a:pPr>
            <a:r>
              <a:rPr lang="en-US" sz="1050" dirty="0">
                <a:solidFill>
                  <a:srgbClr val="6B7B8A"/>
                </a:solidFill>
                <a:latin typeface="Meiryo" pitchFamily="34" charset="0"/>
                <a:ea typeface="Meiryo" pitchFamily="34" charset="-122"/>
                <a:cs typeface="Meiryo" pitchFamily="34" charset="-120"/>
              </a:rPr>
              <a:t>業務フローと画面を確定し、正式なお見積りをご提示します</a:t>
            </a:r>
            <a:endParaRPr lang="en-US" sz="1050" dirty="0"/>
          </a:p>
        </p:txBody>
      </p:sp>
      <p:sp>
        <p:nvSpPr>
          <p:cNvPr id="22" name="Shape 20"/>
          <p:cNvSpPr/>
          <p:nvPr/>
        </p:nvSpPr>
        <p:spPr>
          <a:xfrm>
            <a:off x="822960" y="5093208"/>
            <a:ext cx="420624" cy="420624"/>
          </a:xfrm>
          <a:prstGeom prst="ellipse">
            <a:avLst/>
          </a:prstGeom>
          <a:solidFill>
            <a:srgbClr val="3E6B8C"/>
          </a:solidFill>
          <a:ln/>
        </p:spPr>
      </p:sp>
      <p:sp>
        <p:nvSpPr>
          <p:cNvPr id="23" name="Text 21"/>
          <p:cNvSpPr txBox="1"/>
          <p:nvPr/>
        </p:nvSpPr>
        <p:spPr>
          <a:xfrm>
            <a:off x="822960" y="509320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4</a:t>
            </a:r>
            <a:endParaRPr lang="en-US" sz="1200" dirty="0"/>
          </a:p>
        </p:txBody>
      </p:sp>
      <p:sp>
        <p:nvSpPr>
          <p:cNvPr id="24" name="Text 22"/>
          <p:cNvSpPr txBox="1"/>
          <p:nvPr/>
        </p:nvSpPr>
        <p:spPr>
          <a:xfrm>
            <a:off x="1371600" y="5038344"/>
            <a:ext cx="4312768" cy="310896"/>
          </a:xfrm>
          <a:prstGeom prst="rect">
            <a:avLst/>
          </a:prstGeom>
          <a:noFill/>
          <a:ln/>
        </p:spPr>
        <p:txBody>
          <a:bodyPr wrap="square" lIns="0" tIns="0" rIns="0" bIns="0" rtlCol="0" anchor="ctr"/>
          <a:lstStyle/>
          <a:p>
            <a:pPr indent="0" marL="0">
              <a:buNone/>
            </a:pPr>
            <a:r>
              <a:rPr lang="en-US" sz="1250" b="1" dirty="0">
                <a:solidFill>
                  <a:srgbClr val="16324F"/>
                </a:solidFill>
                <a:latin typeface="Meiryo" pitchFamily="34" charset="0"/>
                <a:ea typeface="Meiryo" pitchFamily="34" charset="-122"/>
                <a:cs typeface="Meiryo" pitchFamily="34" charset="-120"/>
              </a:rPr>
              <a:t>補助金活用の可否確認</a:t>
            </a:r>
            <a:endParaRPr lang="en-US" sz="1250" dirty="0"/>
          </a:p>
        </p:txBody>
      </p:sp>
      <p:sp>
        <p:nvSpPr>
          <p:cNvPr id="25" name="Text 23"/>
          <p:cNvSpPr txBox="1"/>
          <p:nvPr/>
        </p:nvSpPr>
        <p:spPr>
          <a:xfrm>
            <a:off x="1371600" y="5349240"/>
            <a:ext cx="4312768" cy="365760"/>
          </a:xfrm>
          <a:prstGeom prst="rect">
            <a:avLst/>
          </a:prstGeom>
          <a:noFill/>
          <a:ln/>
        </p:spPr>
        <p:txBody>
          <a:bodyPr wrap="square" lIns="0" tIns="0" rIns="0" bIns="0" rtlCol="0" anchor="ctr"/>
          <a:lstStyle/>
          <a:p>
            <a:pPr indent="0" marL="0">
              <a:lnSpc>
                <a:spcPct val="115000"/>
              </a:lnSpc>
              <a:buNone/>
            </a:pPr>
            <a:r>
              <a:rPr lang="en-US" sz="1050" dirty="0">
                <a:solidFill>
                  <a:srgbClr val="6B7B8A"/>
                </a:solidFill>
                <a:latin typeface="Meiryo" pitchFamily="34" charset="0"/>
                <a:ea typeface="Meiryo" pitchFamily="34" charset="-122"/>
                <a:cs typeface="Meiryo" pitchFamily="34" charset="-120"/>
              </a:rPr>
              <a:t>認定支援機関と連携し、申請できるかを確認します</a:t>
            </a:r>
            <a:endParaRPr lang="en-US" sz="1050" dirty="0"/>
          </a:p>
        </p:txBody>
      </p:sp>
      <p:sp>
        <p:nvSpPr>
          <p:cNvPr id="26" name="Shape 24"/>
          <p:cNvSpPr/>
          <p:nvPr/>
        </p:nvSpPr>
        <p:spPr>
          <a:xfrm>
            <a:off x="6233008" y="1691640"/>
            <a:ext cx="5410048" cy="4160520"/>
          </a:xfrm>
          <a:prstGeom prst="roundRect">
            <a:avLst>
              <a:gd name="adj" fmla="val 1099"/>
            </a:avLst>
          </a:prstGeom>
          <a:solidFill>
            <a:srgbClr val="FFFFFF"/>
          </a:solidFill>
          <a:ln w="6350">
            <a:solidFill>
              <a:srgbClr val="DCE3E9"/>
            </a:solidFill>
            <a:prstDash val="solid"/>
          </a:ln>
          <a:effectLst>
            <a:outerShdw sx="100000" sy="100000" kx="0" ky="0" algn="bl" rotWithShape="0" blurRad="114300" dist="12700" dir="5400000">
              <a:srgbClr val="8FA3B4">
                <a:alpha val="30000"/>
              </a:srgbClr>
            </a:outerShdw>
          </a:effectLst>
        </p:spPr>
      </p:sp>
      <p:sp>
        <p:nvSpPr>
          <p:cNvPr id="27" name="Shape 25"/>
          <p:cNvSpPr/>
          <p:nvPr/>
        </p:nvSpPr>
        <p:spPr>
          <a:xfrm>
            <a:off x="6233008" y="1691640"/>
            <a:ext cx="5410048" cy="621792"/>
          </a:xfrm>
          <a:prstGeom prst="roundRect">
            <a:avLst>
              <a:gd name="adj" fmla="val 7353"/>
            </a:avLst>
          </a:prstGeom>
          <a:solidFill>
            <a:srgbClr val="B87400"/>
          </a:solidFill>
          <a:ln/>
        </p:spPr>
      </p:sp>
      <p:sp>
        <p:nvSpPr>
          <p:cNvPr id="28" name="Text 26"/>
          <p:cNvSpPr txBox="1"/>
          <p:nvPr/>
        </p:nvSpPr>
        <p:spPr>
          <a:xfrm>
            <a:off x="6507328" y="1691640"/>
            <a:ext cx="4861408" cy="621792"/>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当日ご相談したい論点</a:t>
            </a:r>
            <a:endParaRPr lang="en-US" sz="1500" dirty="0"/>
          </a:p>
        </p:txBody>
      </p:sp>
      <p:sp>
        <p:nvSpPr>
          <p:cNvPr id="29" name="Shape 27"/>
          <p:cNvSpPr/>
          <p:nvPr/>
        </p:nvSpPr>
        <p:spPr>
          <a:xfrm>
            <a:off x="6470752" y="2487168"/>
            <a:ext cx="4934560" cy="566928"/>
          </a:xfrm>
          <a:prstGeom prst="roundRect">
            <a:avLst>
              <a:gd name="adj" fmla="val 6452"/>
            </a:avLst>
          </a:prstGeom>
          <a:solidFill>
            <a:srgbClr val="F3F5F7"/>
          </a:solidFill>
          <a:ln/>
        </p:spPr>
      </p:sp>
      <p:sp>
        <p:nvSpPr>
          <p:cNvPr id="30" name="Shape 28"/>
          <p:cNvSpPr/>
          <p:nvPr/>
        </p:nvSpPr>
        <p:spPr>
          <a:xfrm>
            <a:off x="6617056" y="2711196"/>
            <a:ext cx="118872" cy="118872"/>
          </a:xfrm>
          <a:prstGeom prst="ellipse">
            <a:avLst/>
          </a:prstGeom>
          <a:solidFill>
            <a:srgbClr val="E8960C"/>
          </a:solidFill>
          <a:ln/>
        </p:spPr>
      </p:sp>
      <p:sp>
        <p:nvSpPr>
          <p:cNvPr id="31" name="Text 29"/>
          <p:cNvSpPr txBox="1"/>
          <p:nvPr/>
        </p:nvSpPr>
        <p:spPr>
          <a:xfrm>
            <a:off x="6854800" y="2487168"/>
            <a:ext cx="4495648" cy="566928"/>
          </a:xfrm>
          <a:prstGeom prst="rect">
            <a:avLst/>
          </a:prstGeom>
          <a:noFill/>
          <a:ln/>
        </p:spPr>
        <p:txBody>
          <a:bodyPr wrap="square" lIns="0" tIns="0" rIns="0" bIns="0" rtlCol="0" anchor="ctr"/>
          <a:lstStyle/>
          <a:p>
            <a:pPr indent="0" marL="0">
              <a:lnSpc>
                <a:spcPct val="115000"/>
              </a:lnSpc>
              <a:buNone/>
            </a:pPr>
            <a:r>
              <a:rPr lang="en-US" sz="1050" dirty="0">
                <a:solidFill>
                  <a:srgbClr val="1C2A38"/>
                </a:solidFill>
                <a:latin typeface="Meiryo" pitchFamily="34" charset="0"/>
                <a:ea typeface="Meiryo" pitchFamily="34" charset="-122"/>
                <a:cs typeface="Meiryo" pitchFamily="34" charset="-120"/>
              </a:rPr>
              <a:t>第1弾として提供する科目（推奨：フルハーネス型墜落制止用器具、またはテールゲートリフター）</a:t>
            </a:r>
            <a:endParaRPr lang="en-US" sz="1050" dirty="0"/>
          </a:p>
        </p:txBody>
      </p:sp>
      <p:sp>
        <p:nvSpPr>
          <p:cNvPr id="32" name="Shape 30"/>
          <p:cNvSpPr/>
          <p:nvPr/>
        </p:nvSpPr>
        <p:spPr>
          <a:xfrm>
            <a:off x="6470752" y="3145536"/>
            <a:ext cx="4934560" cy="566928"/>
          </a:xfrm>
          <a:prstGeom prst="roundRect">
            <a:avLst>
              <a:gd name="adj" fmla="val 6452"/>
            </a:avLst>
          </a:prstGeom>
          <a:solidFill>
            <a:srgbClr val="F3F5F7"/>
          </a:solidFill>
          <a:ln/>
        </p:spPr>
      </p:sp>
      <p:sp>
        <p:nvSpPr>
          <p:cNvPr id="33" name="Shape 31"/>
          <p:cNvSpPr/>
          <p:nvPr/>
        </p:nvSpPr>
        <p:spPr>
          <a:xfrm>
            <a:off x="6617056" y="3369564"/>
            <a:ext cx="118872" cy="118872"/>
          </a:xfrm>
          <a:prstGeom prst="ellipse">
            <a:avLst/>
          </a:prstGeom>
          <a:solidFill>
            <a:srgbClr val="E8960C"/>
          </a:solidFill>
          <a:ln/>
        </p:spPr>
      </p:sp>
      <p:sp>
        <p:nvSpPr>
          <p:cNvPr id="34" name="Text 32"/>
          <p:cNvSpPr txBox="1"/>
          <p:nvPr/>
        </p:nvSpPr>
        <p:spPr>
          <a:xfrm>
            <a:off x="6854800" y="3145536"/>
            <a:ext cx="4495648" cy="566928"/>
          </a:xfrm>
          <a:prstGeom prst="rect">
            <a:avLst/>
          </a:prstGeom>
          <a:noFill/>
          <a:ln/>
        </p:spPr>
        <p:txBody>
          <a:bodyPr wrap="square" lIns="0" tIns="0" rIns="0" bIns="0" rtlCol="0" anchor="ctr"/>
          <a:lstStyle/>
          <a:p>
            <a:pPr indent="0" marL="0">
              <a:lnSpc>
                <a:spcPct val="115000"/>
              </a:lnSpc>
              <a:buNone/>
            </a:pPr>
            <a:r>
              <a:rPr lang="en-US" sz="1050" dirty="0">
                <a:solidFill>
                  <a:srgbClr val="1C2A38"/>
                </a:solidFill>
                <a:latin typeface="Meiryo" pitchFamily="34" charset="0"/>
                <a:ea typeface="Meiryo" pitchFamily="34" charset="-122"/>
                <a:cs typeface="Meiryo" pitchFamily="34" charset="-120"/>
              </a:rPr>
              <a:t>実技会場となる半田市の工場のキャパシティと、実技指導者の確保</a:t>
            </a:r>
            <a:endParaRPr lang="en-US" sz="1050" dirty="0"/>
          </a:p>
        </p:txBody>
      </p:sp>
      <p:sp>
        <p:nvSpPr>
          <p:cNvPr id="35" name="Shape 33"/>
          <p:cNvSpPr/>
          <p:nvPr/>
        </p:nvSpPr>
        <p:spPr>
          <a:xfrm>
            <a:off x="6470752" y="3803904"/>
            <a:ext cx="4934560" cy="566928"/>
          </a:xfrm>
          <a:prstGeom prst="roundRect">
            <a:avLst>
              <a:gd name="adj" fmla="val 6452"/>
            </a:avLst>
          </a:prstGeom>
          <a:solidFill>
            <a:srgbClr val="F3F5F7"/>
          </a:solidFill>
          <a:ln/>
        </p:spPr>
      </p:sp>
      <p:sp>
        <p:nvSpPr>
          <p:cNvPr id="36" name="Shape 34"/>
          <p:cNvSpPr/>
          <p:nvPr/>
        </p:nvSpPr>
        <p:spPr>
          <a:xfrm>
            <a:off x="6617056" y="4027932"/>
            <a:ext cx="118872" cy="118872"/>
          </a:xfrm>
          <a:prstGeom prst="ellipse">
            <a:avLst/>
          </a:prstGeom>
          <a:solidFill>
            <a:srgbClr val="E8960C"/>
          </a:solidFill>
          <a:ln/>
        </p:spPr>
      </p:sp>
      <p:sp>
        <p:nvSpPr>
          <p:cNvPr id="37" name="Text 35"/>
          <p:cNvSpPr txBox="1"/>
          <p:nvPr/>
        </p:nvSpPr>
        <p:spPr>
          <a:xfrm>
            <a:off x="6854800" y="3803904"/>
            <a:ext cx="4495648" cy="566928"/>
          </a:xfrm>
          <a:prstGeom prst="rect">
            <a:avLst/>
          </a:prstGeom>
          <a:noFill/>
          <a:ln/>
        </p:spPr>
        <p:txBody>
          <a:bodyPr wrap="square" lIns="0" tIns="0" rIns="0" bIns="0" rtlCol="0" anchor="ctr"/>
          <a:lstStyle/>
          <a:p>
            <a:pPr indent="0" marL="0">
              <a:lnSpc>
                <a:spcPct val="115000"/>
              </a:lnSpc>
              <a:buNone/>
            </a:pPr>
            <a:r>
              <a:rPr lang="en-US" sz="1050" dirty="0">
                <a:solidFill>
                  <a:srgbClr val="1C2A38"/>
                </a:solidFill>
                <a:latin typeface="Meiryo" pitchFamily="34" charset="0"/>
                <a:ea typeface="Meiryo" pitchFamily="34" charset="-122"/>
                <a:cs typeface="Meiryo" pitchFamily="34" charset="-120"/>
              </a:rPr>
              <a:t>既存の取引先・協力会社への先行案内が可能か（初期の受講者確保の見通し）</a:t>
            </a:r>
            <a:endParaRPr lang="en-US" sz="1050" dirty="0"/>
          </a:p>
        </p:txBody>
      </p:sp>
      <p:sp>
        <p:nvSpPr>
          <p:cNvPr id="38" name="Shape 36"/>
          <p:cNvSpPr/>
          <p:nvPr/>
        </p:nvSpPr>
        <p:spPr>
          <a:xfrm>
            <a:off x="6470752" y="4462272"/>
            <a:ext cx="4934560" cy="566928"/>
          </a:xfrm>
          <a:prstGeom prst="roundRect">
            <a:avLst>
              <a:gd name="adj" fmla="val 6452"/>
            </a:avLst>
          </a:prstGeom>
          <a:solidFill>
            <a:srgbClr val="F3F5F7"/>
          </a:solidFill>
          <a:ln/>
        </p:spPr>
      </p:sp>
      <p:sp>
        <p:nvSpPr>
          <p:cNvPr id="39" name="Shape 37"/>
          <p:cNvSpPr/>
          <p:nvPr/>
        </p:nvSpPr>
        <p:spPr>
          <a:xfrm>
            <a:off x="6617056" y="4686300"/>
            <a:ext cx="118872" cy="118872"/>
          </a:xfrm>
          <a:prstGeom prst="ellipse">
            <a:avLst/>
          </a:prstGeom>
          <a:solidFill>
            <a:srgbClr val="E8960C"/>
          </a:solidFill>
          <a:ln/>
        </p:spPr>
      </p:sp>
      <p:sp>
        <p:nvSpPr>
          <p:cNvPr id="40" name="Text 38"/>
          <p:cNvSpPr txBox="1"/>
          <p:nvPr/>
        </p:nvSpPr>
        <p:spPr>
          <a:xfrm>
            <a:off x="6854800" y="4462272"/>
            <a:ext cx="4495648" cy="566928"/>
          </a:xfrm>
          <a:prstGeom prst="rect">
            <a:avLst/>
          </a:prstGeom>
          <a:noFill/>
          <a:ln/>
        </p:spPr>
        <p:txBody>
          <a:bodyPr wrap="square" lIns="0" tIns="0" rIns="0" bIns="0" rtlCol="0" anchor="ctr"/>
          <a:lstStyle/>
          <a:p>
            <a:pPr indent="0" marL="0">
              <a:lnSpc>
                <a:spcPct val="115000"/>
              </a:lnSpc>
              <a:buNone/>
            </a:pPr>
            <a:r>
              <a:rPr lang="en-US" sz="1050" dirty="0">
                <a:solidFill>
                  <a:srgbClr val="1C2A38"/>
                </a:solidFill>
                <a:latin typeface="Meiryo" pitchFamily="34" charset="0"/>
                <a:ea typeface="Meiryo" pitchFamily="34" charset="-122"/>
                <a:cs typeface="Meiryo" pitchFamily="34" charset="-120"/>
              </a:rPr>
              <a:t>サービス名・ブランドの方向性（聖建様の社名を前面に出すか）</a:t>
            </a:r>
            <a:endParaRPr lang="en-US" sz="1050" dirty="0"/>
          </a:p>
        </p:txBody>
      </p:sp>
      <p:sp>
        <p:nvSpPr>
          <p:cNvPr id="41" name="Shape 39"/>
          <p:cNvSpPr/>
          <p:nvPr/>
        </p:nvSpPr>
        <p:spPr>
          <a:xfrm>
            <a:off x="6470752" y="5120640"/>
            <a:ext cx="4934560" cy="566928"/>
          </a:xfrm>
          <a:prstGeom prst="roundRect">
            <a:avLst>
              <a:gd name="adj" fmla="val 6452"/>
            </a:avLst>
          </a:prstGeom>
          <a:solidFill>
            <a:srgbClr val="F3F5F7"/>
          </a:solidFill>
          <a:ln/>
        </p:spPr>
      </p:sp>
      <p:sp>
        <p:nvSpPr>
          <p:cNvPr id="42" name="Shape 40"/>
          <p:cNvSpPr/>
          <p:nvPr/>
        </p:nvSpPr>
        <p:spPr>
          <a:xfrm>
            <a:off x="6617056" y="5344668"/>
            <a:ext cx="118872" cy="118872"/>
          </a:xfrm>
          <a:prstGeom prst="ellipse">
            <a:avLst/>
          </a:prstGeom>
          <a:solidFill>
            <a:srgbClr val="E8960C"/>
          </a:solidFill>
          <a:ln/>
        </p:spPr>
      </p:sp>
      <p:sp>
        <p:nvSpPr>
          <p:cNvPr id="43" name="Text 41"/>
          <p:cNvSpPr txBox="1"/>
          <p:nvPr/>
        </p:nvSpPr>
        <p:spPr>
          <a:xfrm>
            <a:off x="6854800" y="5120640"/>
            <a:ext cx="4495648" cy="566928"/>
          </a:xfrm>
          <a:prstGeom prst="rect">
            <a:avLst/>
          </a:prstGeom>
          <a:noFill/>
          <a:ln/>
        </p:spPr>
        <p:txBody>
          <a:bodyPr wrap="square" lIns="0" tIns="0" rIns="0" bIns="0" rtlCol="0" anchor="ctr"/>
          <a:lstStyle/>
          <a:p>
            <a:pPr indent="0" marL="0">
              <a:lnSpc>
                <a:spcPct val="115000"/>
              </a:lnSpc>
              <a:buNone/>
            </a:pPr>
            <a:r>
              <a:rPr lang="en-US" sz="1050" dirty="0">
                <a:solidFill>
                  <a:srgbClr val="1C2A38"/>
                </a:solidFill>
                <a:latin typeface="Meiryo" pitchFamily="34" charset="0"/>
                <a:ea typeface="Meiryo" pitchFamily="34" charset="-122"/>
                <a:cs typeface="Meiryo" pitchFamily="34" charset="-120"/>
              </a:rPr>
              <a:t>受講記録の保存と日々の運用を、社内のどなたが担当されるか</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1D2E"/>
        </a:solidFill>
      </p:bgPr>
    </p:bg>
    <p:spTree>
      <p:nvGrpSpPr>
        <p:cNvPr id="1" name=""/>
        <p:cNvGrpSpPr/>
        <p:nvPr/>
      </p:nvGrpSpPr>
      <p:grpSpPr>
        <a:xfrm>
          <a:off x="0" y="0"/>
          <a:ext cx="0" cy="0"/>
          <a:chOff x="0" y="0"/>
          <a:chExt cx="0" cy="0"/>
        </a:xfrm>
      </p:grpSpPr>
      <p:sp>
        <p:nvSpPr>
          <p:cNvPr id="2" name="Shape 0"/>
          <p:cNvSpPr/>
          <p:nvPr/>
        </p:nvSpPr>
        <p:spPr>
          <a:xfrm>
            <a:off x="-2651760" y="4846320"/>
            <a:ext cx="3657600" cy="3657600"/>
          </a:xfrm>
          <a:prstGeom prst="ellipse">
            <a:avLst/>
          </a:prstGeom>
          <a:solidFill>
            <a:srgbClr val="16324F"/>
          </a:solidFill>
          <a:ln/>
        </p:spPr>
      </p:sp>
      <p:sp>
        <p:nvSpPr>
          <p:cNvPr id="3" name="Shape 1"/>
          <p:cNvSpPr/>
          <p:nvPr/>
        </p:nvSpPr>
        <p:spPr>
          <a:xfrm>
            <a:off x="10607040" y="-1280160"/>
            <a:ext cx="3108960" cy="3108960"/>
          </a:xfrm>
          <a:prstGeom prst="ellipse">
            <a:avLst/>
          </a:prstGeom>
          <a:solidFill>
            <a:srgbClr val="16324F"/>
          </a:solidFill>
          <a:ln/>
        </p:spPr>
      </p:sp>
      <p:sp>
        <p:nvSpPr>
          <p:cNvPr id="4" name="Text 2"/>
          <p:cNvSpPr txBox="1"/>
          <p:nvPr/>
        </p:nvSpPr>
        <p:spPr>
          <a:xfrm>
            <a:off x="1371600" y="1783080"/>
            <a:ext cx="9601200" cy="566928"/>
          </a:xfrm>
          <a:prstGeom prst="rect">
            <a:avLst/>
          </a:prstGeom>
          <a:noFill/>
          <a:ln/>
        </p:spPr>
        <p:txBody>
          <a:bodyPr wrap="square" lIns="0" tIns="0" rIns="0" bIns="0" rtlCol="0" anchor="ctr"/>
          <a:lstStyle/>
          <a:p>
            <a:pPr indent="0" marL="0">
              <a:buNone/>
            </a:pPr>
            <a:r>
              <a:rPr lang="en-US" sz="2500" b="1" dirty="0">
                <a:solidFill>
                  <a:srgbClr val="FFFFFF"/>
                </a:solidFill>
                <a:latin typeface="Meiryo" pitchFamily="34" charset="0"/>
                <a:ea typeface="Meiryo" pitchFamily="34" charset="-122"/>
                <a:cs typeface="Meiryo" pitchFamily="34" charset="-120"/>
              </a:rPr>
              <a:t>特別教育は、行政の登録がなくても始められます。</a:t>
            </a:r>
            <a:endParaRPr lang="en-US" sz="2500" dirty="0"/>
          </a:p>
        </p:txBody>
      </p:sp>
      <p:sp>
        <p:nvSpPr>
          <p:cNvPr id="5" name="Text 3"/>
          <p:cNvSpPr txBox="1"/>
          <p:nvPr/>
        </p:nvSpPr>
        <p:spPr>
          <a:xfrm>
            <a:off x="1371600" y="2450592"/>
            <a:ext cx="9601200" cy="1188720"/>
          </a:xfrm>
          <a:prstGeom prst="rect">
            <a:avLst/>
          </a:prstGeom>
          <a:noFill/>
          <a:ln/>
        </p:spPr>
        <p:txBody>
          <a:bodyPr wrap="square" lIns="0" tIns="0" rIns="0" bIns="0" rtlCol="0" anchor="t"/>
          <a:lstStyle/>
          <a:p>
            <a:pPr indent="0" marL="0">
              <a:lnSpc>
                <a:spcPct val="125000"/>
              </a:lnSpc>
              <a:buNone/>
            </a:pPr>
            <a:r>
              <a:rPr lang="en-US" sz="2500" b="1" dirty="0">
                <a:solidFill>
                  <a:srgbClr val="E8960C"/>
                </a:solidFill>
                <a:latin typeface="Meiryo" pitchFamily="34" charset="0"/>
                <a:ea typeface="Meiryo" pitchFamily="34" charset="-122"/>
                <a:cs typeface="Meiryo" pitchFamily="34" charset="-120"/>
              </a:rPr>
              <a:t>だからこそ、「きちんと受講したことを証明できる」ことが、</a:t>
            </a:r>
            <a:endParaRPr lang="en-US" sz="2500" dirty="0"/>
          </a:p>
          <a:p>
            <a:pPr indent="0" marL="0">
              <a:lnSpc>
                <a:spcPct val="125000"/>
              </a:lnSpc>
              <a:buNone/>
            </a:pPr>
            <a:r>
              <a:rPr lang="en-US" sz="2500" b="1" dirty="0">
                <a:solidFill>
                  <a:srgbClr val="E8960C"/>
                </a:solidFill>
                <a:latin typeface="Meiryo" pitchFamily="34" charset="0"/>
                <a:ea typeface="Meiryo" pitchFamily="34" charset="-122"/>
                <a:cs typeface="Meiryo" pitchFamily="34" charset="-120"/>
              </a:rPr>
              <a:t>そのまま商品になります。</a:t>
            </a:r>
            <a:endParaRPr lang="en-US" sz="2500" dirty="0"/>
          </a:p>
        </p:txBody>
      </p:sp>
      <p:sp>
        <p:nvSpPr>
          <p:cNvPr id="6" name="Text 4"/>
          <p:cNvSpPr txBox="1"/>
          <p:nvPr/>
        </p:nvSpPr>
        <p:spPr>
          <a:xfrm>
            <a:off x="1371600" y="3794760"/>
            <a:ext cx="9601200" cy="365760"/>
          </a:xfrm>
          <a:prstGeom prst="rect">
            <a:avLst/>
          </a:prstGeom>
          <a:noFill/>
          <a:ln/>
        </p:spPr>
        <p:txBody>
          <a:bodyPr wrap="square" lIns="0" tIns="0" rIns="0" bIns="0" rtlCol="0" anchor="ctr"/>
          <a:lstStyle/>
          <a:p>
            <a:pPr indent="0" marL="0">
              <a:buNone/>
            </a:pPr>
            <a:r>
              <a:rPr lang="en-US" sz="1400" dirty="0">
                <a:solidFill>
                  <a:srgbClr val="C3D2DF"/>
                </a:solidFill>
                <a:latin typeface="Meiryo" pitchFamily="34" charset="0"/>
                <a:ea typeface="Meiryo" pitchFamily="34" charset="-122"/>
                <a:cs typeface="Meiryo" pitchFamily="34" charset="-120"/>
              </a:rPr>
              <a:t>聖建様の現場の知見を、東海地区の建設業全体へ届ける仕組みをご一緒に作らせてください。</a:t>
            </a:r>
            <a:endParaRPr lang="en-US" sz="1400" dirty="0"/>
          </a:p>
        </p:txBody>
      </p:sp>
      <p:sp>
        <p:nvSpPr>
          <p:cNvPr id="7" name="Shape 5"/>
          <p:cNvSpPr/>
          <p:nvPr/>
        </p:nvSpPr>
        <p:spPr>
          <a:xfrm>
            <a:off x="1371600" y="4572000"/>
            <a:ext cx="4206240" cy="1051560"/>
          </a:xfrm>
          <a:prstGeom prst="roundRect">
            <a:avLst>
              <a:gd name="adj" fmla="val 4348"/>
            </a:avLst>
          </a:prstGeom>
          <a:solidFill>
            <a:srgbClr val="16324F"/>
          </a:solidFill>
          <a:ln/>
        </p:spPr>
      </p:sp>
      <p:sp>
        <p:nvSpPr>
          <p:cNvPr id="8" name="Text 6"/>
          <p:cNvSpPr txBox="1"/>
          <p:nvPr/>
        </p:nvSpPr>
        <p:spPr>
          <a:xfrm>
            <a:off x="1645920" y="4718304"/>
            <a:ext cx="3657600" cy="347472"/>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株式会社スペリオル</a:t>
            </a:r>
            <a:endParaRPr lang="en-US" sz="1500" dirty="0"/>
          </a:p>
        </p:txBody>
      </p:sp>
      <p:sp>
        <p:nvSpPr>
          <p:cNvPr id="9" name="Text 7"/>
          <p:cNvSpPr txBox="1"/>
          <p:nvPr/>
        </p:nvSpPr>
        <p:spPr>
          <a:xfrm>
            <a:off x="1645920" y="5084064"/>
            <a:ext cx="3657600" cy="310896"/>
          </a:xfrm>
          <a:prstGeom prst="rect">
            <a:avLst/>
          </a:prstGeom>
          <a:noFill/>
          <a:ln/>
        </p:spPr>
        <p:txBody>
          <a:bodyPr wrap="square" lIns="0" tIns="0" rIns="0" bIns="0" rtlCol="0" anchor="ctr"/>
          <a:lstStyle/>
          <a:p>
            <a:pPr indent="0" marL="0">
              <a:buNone/>
            </a:pPr>
            <a:r>
              <a:rPr lang="en-US" sz="1200" dirty="0">
                <a:solidFill>
                  <a:srgbClr val="AFC3D4"/>
                </a:solidFill>
                <a:latin typeface="Meiryo" pitchFamily="34" charset="0"/>
                <a:ea typeface="Meiryo" pitchFamily="34" charset="-122"/>
                <a:cs typeface="Meiryo" pitchFamily="34" charset="-120"/>
              </a:rPr>
              <a:t>担当：藤原</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株式会社スペリオル</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建設業 特別教育 オンライン受講プラットフォーム構築のご提案</dc:title>
  <dc:subject>PptxGenJS Presentation</dc:subject>
  <dc:creator>株式会社スペリオル</dc:creator>
  <cp:lastModifiedBy>株式会社スペリオル</cp:lastModifiedBy>
  <cp:revision>1</cp:revision>
  <dcterms:created xsi:type="dcterms:W3CDTF">2026-08-30T07:59:00Z</dcterms:created>
  <dcterms:modified xsi:type="dcterms:W3CDTF">2026-08-30T07:59:00Z</dcterms:modified>
</cp:coreProperties>
</file>