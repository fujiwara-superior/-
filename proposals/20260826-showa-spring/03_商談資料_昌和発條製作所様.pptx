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初回商談。冒頭は提案せず、ヒアリングから入る。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0642A"/>
          </a:solidFill>
          <a:ln w="12700">
            <a:solidFill>
              <a:srgbClr val="C064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33856" y="14173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2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株式会社昌和発條製作所 御中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148840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受注入力業務の自動化に関するご提案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546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B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メール・FAXで届く注文を、基幹システムへ自動で起票する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3977640"/>
            <a:ext cx="2011680" cy="18288"/>
          </a:xfrm>
          <a:prstGeom prst="rect">
            <a:avLst/>
          </a:prstGeom>
          <a:solidFill>
            <a:srgbClr val="C064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43159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株式会社スペリオル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6817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9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2026年8月27日　初回お打ち合わせ資料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80644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9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本資料はヒアリング前の仮説に基づくドラフトです。本日確認した内容を反映し、正式提案として確定させていただきます。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本日の進行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60分／前半は、伺うことに時間を使わせてください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27664" cy="932688"/>
          </a:xfrm>
          <a:prstGeom prst="roundRect">
            <a:avLst>
              <a:gd name="adj" fmla="val 3922"/>
            </a:avLst>
          </a:prstGeom>
          <a:solidFill>
            <a:srgbClr val="F7E9DF"/>
          </a:solidFill>
          <a:ln w="12700">
            <a:solidFill>
              <a:srgbClr val="F7E9D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105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 w="12700">
            <a:solidFill>
              <a:srgbClr val="C064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171907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現状のヒアリング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27048" y="207568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業務の流れ、件数の内訳、基幹システムについて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222992" y="184708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64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約20分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651760"/>
            <a:ext cx="11027664" cy="932688"/>
          </a:xfrm>
          <a:prstGeom prst="roundRect">
            <a:avLst>
              <a:gd name="adj" fmla="val 392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77824" y="288950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 w="12700">
            <a:solidFill>
              <a:srgbClr val="C064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527048" y="279806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想定される改善方針のご説明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27048" y="31546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何を自動化し、何を自動化しないか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22992" y="29260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約20分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730752"/>
            <a:ext cx="11027664" cy="932688"/>
          </a:xfrm>
          <a:prstGeom prst="roundRect">
            <a:avLst>
              <a:gd name="adj" fmla="val 392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7824" y="396849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 w="12700">
            <a:solidFill>
              <a:srgbClr val="C064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7824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527048" y="3877056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実現方式・費用・補助金のご相談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27048" y="42336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連携方式の選択肢と概算費用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22992" y="400507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約15分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4809744"/>
            <a:ext cx="11027664" cy="932688"/>
          </a:xfrm>
          <a:prstGeom prst="roundRect">
            <a:avLst>
              <a:gd name="adj" fmla="val 392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77824" y="50474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 w="12700">
            <a:solidFill>
              <a:srgbClr val="C064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7824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527048" y="495604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次のステップの確認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27048" y="531266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無償の読み取り精度検証について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222992" y="508406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約5分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137392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私たちの理解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お申し込みの際にご記入いただいた内容から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53968" cy="1874520"/>
          </a:xfrm>
          <a:prstGeom prst="roundRect">
            <a:avLst>
              <a:gd name="adj" fmla="val 195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956816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手入力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523744"/>
            <a:ext cx="289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メール・FAXで届く見積や注文を、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基幹システムへ人が打ち込んでいる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03776" y="1627632"/>
            <a:ext cx="3553968" cy="1874520"/>
          </a:xfrm>
          <a:prstGeom prst="roundRect">
            <a:avLst>
              <a:gd name="adj" fmla="val 195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32960" y="1956816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月400〜500件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32960" y="2523744"/>
            <a:ext cx="289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1日あたり約20〜25件。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担当者の時間が転記に消費されている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0624" y="1627632"/>
            <a:ext cx="3553968" cy="1874520"/>
          </a:xfrm>
          <a:prstGeom prst="roundRect">
            <a:avLst>
              <a:gd name="adj" fmla="val 1951"/>
            </a:avLst>
          </a:prstGeom>
          <a:solidFill>
            <a:srgbClr val="F7EDD8"/>
          </a:solidFill>
          <a:ln w="12700">
            <a:solidFill>
              <a:srgbClr val="F7EDD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69808" y="1956816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6B1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369808" y="2523744"/>
            <a:ext cx="289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処理・管理の方法が担当者任せで、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共有できていない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767328"/>
            <a:ext cx="11027664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32688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64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ご記入いただいた内容（原文）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4224528"/>
            <a:ext cx="102961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「メールやFAXで届く見積や注文内容を基幹システムの受注データに手入力している。毎月400〜500件ほど。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処理・管理方法が担当者任せで属人化しており、共有化できていない。」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29107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この3点を、本日の議論の起点とさせてください。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37392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現状の業務フロー（弊社の推定）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認識に相違があればご指摘ください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38912" y="1737360"/>
            <a:ext cx="2066544" cy="2121408"/>
          </a:xfrm>
          <a:prstGeom prst="roundRect">
            <a:avLst>
              <a:gd name="adj" fmla="val 177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385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6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3852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32304"/>
            <a:ext cx="1664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FAX（紙）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メール添付・本文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2542032" y="2670048"/>
            <a:ext cx="164592" cy="237744"/>
          </a:xfrm>
          <a:prstGeom prst="triangle">
            <a:avLst/>
          </a:prstGeom>
          <a:solidFill>
            <a:srgbClr val="AEB8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737360"/>
            <a:ext cx="2066544" cy="2121408"/>
          </a:xfrm>
          <a:prstGeom prst="roundRect">
            <a:avLst>
              <a:gd name="adj" fmla="val 177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44368" y="19385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44368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60" dirty="0"/>
          </a:p>
        </p:txBody>
      </p:sp>
      <p:sp>
        <p:nvSpPr>
          <p:cNvPr id="13" name="Text 11"/>
          <p:cNvSpPr txBox="1"/>
          <p:nvPr/>
        </p:nvSpPr>
        <p:spPr>
          <a:xfrm>
            <a:off x="3401568" y="193852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内容の判読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2432304"/>
            <a:ext cx="1664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得意先・品番・数量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納期・注文区分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944368" y="331012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 1〜3分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5400000">
            <a:off x="4846320" y="2670048"/>
            <a:ext cx="164592" cy="237744"/>
          </a:xfrm>
          <a:prstGeom prst="triangle">
            <a:avLst/>
          </a:prstGeom>
          <a:solidFill>
            <a:srgbClr val="AEB8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7488" y="1737360"/>
            <a:ext cx="2066544" cy="2121408"/>
          </a:xfrm>
          <a:prstGeom prst="roundRect">
            <a:avLst>
              <a:gd name="adj" fmla="val 1770"/>
            </a:avLst>
          </a:prstGeom>
          <a:solidFill>
            <a:srgbClr val="F7E9DF"/>
          </a:solidFill>
          <a:ln w="12700">
            <a:solidFill>
              <a:srgbClr val="F7E9D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48656" y="19385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0642A"/>
          </a:solidFill>
          <a:ln w="12700">
            <a:solidFill>
              <a:srgbClr val="C064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48656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60" dirty="0"/>
          </a:p>
        </p:txBody>
      </p:sp>
      <p:sp>
        <p:nvSpPr>
          <p:cNvPr id="20" name="Text 18"/>
          <p:cNvSpPr txBox="1"/>
          <p:nvPr/>
        </p:nvSpPr>
        <p:spPr>
          <a:xfrm>
            <a:off x="5705856" y="193852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特定・照合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248656" y="2432304"/>
            <a:ext cx="1664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得意先コード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品番の特定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248656" y="331012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64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 2〜6分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5400000">
            <a:off x="7150608" y="2670048"/>
            <a:ext cx="164592" cy="237744"/>
          </a:xfrm>
          <a:prstGeom prst="triangle">
            <a:avLst/>
          </a:prstGeom>
          <a:solidFill>
            <a:srgbClr val="AEB8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51776" y="1737360"/>
            <a:ext cx="2066544" cy="2121408"/>
          </a:xfrm>
          <a:prstGeom prst="roundRect">
            <a:avLst>
              <a:gd name="adj" fmla="val 177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52944" y="19385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52944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60" dirty="0"/>
          </a:p>
        </p:txBody>
      </p:sp>
      <p:sp>
        <p:nvSpPr>
          <p:cNvPr id="27" name="Text 25"/>
          <p:cNvSpPr txBox="1"/>
          <p:nvPr/>
        </p:nvSpPr>
        <p:spPr>
          <a:xfrm>
            <a:off x="8010144" y="193852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基幹へ手入力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552944" y="2432304"/>
            <a:ext cx="1664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受注ヘッダ＋明細行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を1件ずつ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552944" y="331012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 2〜5分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rot="5400000">
            <a:off x="9454896" y="2670048"/>
            <a:ext cx="164592" cy="237744"/>
          </a:xfrm>
          <a:prstGeom prst="triangle">
            <a:avLst/>
          </a:prstGeom>
          <a:solidFill>
            <a:srgbClr val="AEB8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56064" y="1737360"/>
            <a:ext cx="2066544" cy="2121408"/>
          </a:xfrm>
          <a:prstGeom prst="roundRect">
            <a:avLst>
              <a:gd name="adj" fmla="val 177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857232" y="19385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57232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60" dirty="0"/>
          </a:p>
        </p:txBody>
      </p:sp>
      <p:sp>
        <p:nvSpPr>
          <p:cNvPr id="34" name="Text 32"/>
          <p:cNvSpPr txBox="1"/>
          <p:nvPr/>
        </p:nvSpPr>
        <p:spPr>
          <a:xfrm>
            <a:off x="10314432" y="193852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確認・返信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9857232" y="2432304"/>
            <a:ext cx="1664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在庫／納期回答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注文請書の返送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857232" y="331012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 1〜2分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6928" y="4078224"/>
            <a:ext cx="11027664" cy="1024128"/>
          </a:xfrm>
          <a:prstGeom prst="roundRect">
            <a:avLst>
              <a:gd name="adj" fmla="val 3571"/>
            </a:avLst>
          </a:prstGeom>
          <a:solidFill>
            <a:srgbClr val="F7EDD8"/>
          </a:solidFill>
          <a:ln w="12700">
            <a:solidFill>
              <a:srgbClr val="F7EDD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950976" y="4224528"/>
            <a:ext cx="10259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全工程が、特定のご担当者の頭の中のルールで運用されている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950976" y="459028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手順書がないため、他の方が代われない。改善すべき点も見えない。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66928" y="629107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所要時間は弊社の推定値です。実際の感覚をお聞かせください。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1137392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課題は4つに整理できます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572768"/>
            <a:ext cx="5404104" cy="1389888"/>
          </a:xfrm>
          <a:prstGeom prst="roundRect">
            <a:avLst>
              <a:gd name="adj" fmla="val 263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1248" y="184708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564" dirty="0"/>
          </a:p>
        </p:txBody>
      </p:sp>
      <p:sp>
        <p:nvSpPr>
          <p:cNvPr id="6" name="Text 4"/>
          <p:cNvSpPr txBox="1"/>
          <p:nvPr/>
        </p:nvSpPr>
        <p:spPr>
          <a:xfrm>
            <a:off x="1426464" y="1810512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入力工数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2212848"/>
            <a:ext cx="4270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受注が増えるほど人を増やさざるを得ない。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増員できなければ受注機会そのものを制限する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0488" y="1572768"/>
            <a:ext cx="5404104" cy="1389888"/>
          </a:xfrm>
          <a:prstGeom prst="roundRect">
            <a:avLst>
              <a:gd name="adj" fmla="val 263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64808" y="184708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4808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1564" dirty="0"/>
          </a:p>
        </p:txBody>
      </p:sp>
      <p:sp>
        <p:nvSpPr>
          <p:cNvPr id="11" name="Text 9"/>
          <p:cNvSpPr txBox="1"/>
          <p:nvPr/>
        </p:nvSpPr>
        <p:spPr>
          <a:xfrm>
            <a:off x="7050024" y="1810512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入力ミス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050024" y="2212848"/>
            <a:ext cx="4270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誤品番・誤数量・誤納期が生産指示まで流れる。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1個から受注されるため、少量でも段取り替えが重い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163824"/>
            <a:ext cx="5404104" cy="1389888"/>
          </a:xfrm>
          <a:prstGeom prst="roundRect">
            <a:avLst>
              <a:gd name="adj" fmla="val 2632"/>
            </a:avLst>
          </a:prstGeom>
          <a:solidFill>
            <a:srgbClr val="F7E9DF"/>
          </a:solidFill>
          <a:ln w="12700">
            <a:solidFill>
              <a:srgbClr val="F7E9D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3438144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C0642A"/>
          </a:solidFill>
          <a:ln w="12700">
            <a:solidFill>
              <a:srgbClr val="C064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en-US" sz="1564" dirty="0"/>
          </a:p>
        </p:txBody>
      </p:sp>
      <p:sp>
        <p:nvSpPr>
          <p:cNvPr id="16" name="Text 14"/>
          <p:cNvSpPr txBox="1"/>
          <p:nvPr/>
        </p:nvSpPr>
        <p:spPr>
          <a:xfrm>
            <a:off x="1426464" y="3401568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26464" y="3803904"/>
            <a:ext cx="4270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ご担当者の不在で受注業務が止まる。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引き継ぎに数ヶ月を要し、改善の議論もできない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90488" y="3163824"/>
            <a:ext cx="5404104" cy="1389888"/>
          </a:xfrm>
          <a:prstGeom prst="roundRect">
            <a:avLst>
              <a:gd name="adj" fmla="val 2632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64808" y="3438144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en-US" sz="1564" dirty="0"/>
          </a:p>
        </p:txBody>
      </p:sp>
      <p:sp>
        <p:nvSpPr>
          <p:cNvPr id="21" name="Text 19"/>
          <p:cNvSpPr txBox="1"/>
          <p:nvPr/>
        </p:nvSpPr>
        <p:spPr>
          <a:xfrm>
            <a:off x="7050024" y="3401568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見えない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50024" y="3803904"/>
            <a:ext cx="4270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どの注文がどこまで進んだか分からない。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納期回答が遅れ、問い合わせが担当者に集中する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828032"/>
            <a:ext cx="11027664" cy="1024128"/>
          </a:xfrm>
          <a:prstGeom prst="roundRect">
            <a:avLst>
              <a:gd name="adj" fmla="val 3571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50976" y="49743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最も重いのは C です。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50976" y="5340096"/>
            <a:ext cx="10259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0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A（工数）は費用の問題ですが、C は事業が止まるかどうかの問題です。ここを解かない提案に意味はないと考えています。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137392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現状のコスト試算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月450件（400〜500件の中央値）を基準とした概算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4114800" cy="2395728"/>
          </a:xfrm>
          <a:prstGeom prst="roundRect">
            <a:avLst>
              <a:gd name="adj" fmla="val 152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18105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年間の入力工数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03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900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2898648" y="2487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64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12724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6D0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正社員1名の年間労働時間の、およそ半分に相当します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627632"/>
          <a:ext cx="6656832" cy="914400"/>
        </p:xfrm>
        <a:graphic>
          <a:graphicData uri="http://schemas.openxmlformats.org/drawingml/2006/table">
            <a:tbl>
              <a:tblPr/>
              <a:tblGrid>
                <a:gridCol w="1730776"/>
                <a:gridCol w="1464503"/>
                <a:gridCol w="1464503"/>
                <a:gridCol w="199705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1件あたり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月間工数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年間工数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年間人件費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6分（保守的）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45.0 時間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540 時間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135〜162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10分（標準）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75.0 時間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900 時間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225〜270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15分（重い）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112.5 時間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1,350 時間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338〜405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937760" y="3529584"/>
            <a:ext cx="6656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計算式：450件 × 1件あたり分数 ÷ 60 ＝ 月間工数 → ×12 ＝ 年間工数 → × 人件費単価（2,500〜3,000円/時）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人件費単価は、法定福利費等を含む企業負担ベースの想定値です。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4224528"/>
            <a:ext cx="11027664" cy="1115568"/>
          </a:xfrm>
          <a:prstGeom prst="roundRect">
            <a:avLst>
              <a:gd name="adj" fmla="val 3279"/>
            </a:avLst>
          </a:prstGeom>
          <a:solidFill>
            <a:srgbClr val="F7EDD8"/>
          </a:solidFill>
          <a:ln w="12700">
            <a:solidFill>
              <a:srgbClr val="F7EDD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50976" y="437083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入力ミスに伴うコスト（参考）　約30万円／年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50976" y="4736592"/>
            <a:ext cx="10259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誤入力率1%（月4.5件）× 1件あたり手戻り2時間 と仮定。特急便の実費、生産計画の乱れ、信用低下は含みません。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29107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実際の誤入力の頻度と、直近1年で実害の出た件数をお聞かせください。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137392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ご提案する仕組みの全体像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人が「確認するだけ」の状態を目指します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1685544" cy="1828800"/>
          </a:xfrm>
          <a:prstGeom prst="roundRect">
            <a:avLst>
              <a:gd name="adj" fmla="val 217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6537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24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86000"/>
            <a:ext cx="1392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651760"/>
            <a:ext cx="13929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FAX・メール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添付形式を自動判定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rot="5400000">
            <a:off x="2270760" y="2505456"/>
            <a:ext cx="146304" cy="219456"/>
          </a:xfrm>
          <a:prstGeom prst="triangle">
            <a:avLst/>
          </a:prstGeom>
          <a:solidFill>
            <a:srgbClr val="AEB8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5352" y="1700784"/>
            <a:ext cx="1685544" cy="1828800"/>
          </a:xfrm>
          <a:prstGeom prst="roundRect">
            <a:avLst>
              <a:gd name="adj" fmla="val 217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99944" y="186537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99944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24" dirty="0"/>
          </a:p>
        </p:txBody>
      </p:sp>
      <p:sp>
        <p:nvSpPr>
          <p:cNvPr id="13" name="Text 11"/>
          <p:cNvSpPr txBox="1"/>
          <p:nvPr/>
        </p:nvSpPr>
        <p:spPr>
          <a:xfrm>
            <a:off x="2581656" y="2286000"/>
            <a:ext cx="1392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読み取り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581656" y="2651760"/>
            <a:ext cx="13929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AI-OCR ＋ 生成AI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Excel/PDFは直接読む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5400000">
            <a:off x="4139184" y="2505456"/>
            <a:ext cx="146304" cy="219456"/>
          </a:xfrm>
          <a:prstGeom prst="triangle">
            <a:avLst/>
          </a:prstGeom>
          <a:solidFill>
            <a:srgbClr val="AEB8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3776" y="1700784"/>
            <a:ext cx="1685544" cy="1828800"/>
          </a:xfrm>
          <a:prstGeom prst="roundRect">
            <a:avLst>
              <a:gd name="adj" fmla="val 2170"/>
            </a:avLst>
          </a:prstGeom>
          <a:solidFill>
            <a:srgbClr val="F7E9DF"/>
          </a:solidFill>
          <a:ln w="12700">
            <a:solidFill>
              <a:srgbClr val="F7E9D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68368" y="186537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0642A"/>
          </a:solidFill>
          <a:ln w="12700">
            <a:solidFill>
              <a:srgbClr val="C064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68368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24" dirty="0"/>
          </a:p>
        </p:txBody>
      </p:sp>
      <p:sp>
        <p:nvSpPr>
          <p:cNvPr id="19" name="Text 17"/>
          <p:cNvSpPr txBox="1"/>
          <p:nvPr/>
        </p:nvSpPr>
        <p:spPr>
          <a:xfrm>
            <a:off x="4450080" y="2286000"/>
            <a:ext cx="1392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マスタ突合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450080" y="2651760"/>
            <a:ext cx="13929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品番・得意先マスタと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照合して自動補正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 rot="5400000">
            <a:off x="6007608" y="2505456"/>
            <a:ext cx="146304" cy="219456"/>
          </a:xfrm>
          <a:prstGeom prst="triangle">
            <a:avLst/>
          </a:prstGeom>
          <a:solidFill>
            <a:srgbClr val="AEB8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700784"/>
            <a:ext cx="1685544" cy="1828800"/>
          </a:xfrm>
          <a:prstGeom prst="roundRect">
            <a:avLst>
              <a:gd name="adj" fmla="val 217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36792" y="186537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36792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24" dirty="0"/>
          </a:p>
        </p:txBody>
      </p:sp>
      <p:sp>
        <p:nvSpPr>
          <p:cNvPr id="25" name="Text 23"/>
          <p:cNvSpPr txBox="1"/>
          <p:nvPr/>
        </p:nvSpPr>
        <p:spPr>
          <a:xfrm>
            <a:off x="6318504" y="2286000"/>
            <a:ext cx="1392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仕分け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318504" y="2651760"/>
            <a:ext cx="13929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確信度により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3レーンに振り分け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rot="5400000">
            <a:off x="7876032" y="2505456"/>
            <a:ext cx="146304" cy="219456"/>
          </a:xfrm>
          <a:prstGeom prst="triangle">
            <a:avLst/>
          </a:prstGeom>
          <a:solidFill>
            <a:srgbClr val="AEB8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0624" y="1700784"/>
            <a:ext cx="1685544" cy="1828800"/>
          </a:xfrm>
          <a:prstGeom prst="roundRect">
            <a:avLst>
              <a:gd name="adj" fmla="val 2170"/>
            </a:avLst>
          </a:prstGeom>
          <a:solidFill>
            <a:srgbClr val="F7E9DF"/>
          </a:solidFill>
          <a:ln w="12700">
            <a:solidFill>
              <a:srgbClr val="F7E9D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05216" y="186537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0642A"/>
          </a:solidFill>
          <a:ln w="12700">
            <a:solidFill>
              <a:srgbClr val="C0642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05216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24" dirty="0"/>
          </a:p>
        </p:txBody>
      </p:sp>
      <p:sp>
        <p:nvSpPr>
          <p:cNvPr id="31" name="Text 29"/>
          <p:cNvSpPr txBox="1"/>
          <p:nvPr/>
        </p:nvSpPr>
        <p:spPr>
          <a:xfrm>
            <a:off x="8186928" y="2286000"/>
            <a:ext cx="1392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確認画面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186928" y="2651760"/>
            <a:ext cx="13929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原本と結果を並べて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人が最終判断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 rot="5400000">
            <a:off x="9744456" y="2505456"/>
            <a:ext cx="146304" cy="219456"/>
          </a:xfrm>
          <a:prstGeom prst="triangle">
            <a:avLst/>
          </a:prstGeom>
          <a:solidFill>
            <a:srgbClr val="AEB8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09048" y="1700784"/>
            <a:ext cx="1685544" cy="1828800"/>
          </a:xfrm>
          <a:prstGeom prst="roundRect">
            <a:avLst>
              <a:gd name="adj" fmla="val 217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073640" y="186537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73640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224" dirty="0"/>
          </a:p>
        </p:txBody>
      </p:sp>
      <p:sp>
        <p:nvSpPr>
          <p:cNvPr id="37" name="Text 35"/>
          <p:cNvSpPr txBox="1"/>
          <p:nvPr/>
        </p:nvSpPr>
        <p:spPr>
          <a:xfrm>
            <a:off x="10055352" y="2286000"/>
            <a:ext cx="1392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基幹へ登録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0055352" y="2651760"/>
            <a:ext cx="13929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CSV / API / RPA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いずれかで連携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6928" y="3712464"/>
            <a:ext cx="11027664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950976" y="3712464"/>
            <a:ext cx="10259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34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全処理の履歴を記録　／　進捗ダッシュボードで状況を可視化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66928" y="4681728"/>
            <a:ext cx="5404104" cy="969264"/>
          </a:xfrm>
          <a:prstGeom prst="roundRect">
            <a:avLst>
              <a:gd name="adj" fmla="val 3774"/>
            </a:avLst>
          </a:prstGeom>
          <a:solidFill>
            <a:srgbClr val="E3EDE7"/>
          </a:solidFill>
          <a:ln w="12700">
            <a:solidFill>
              <a:srgbClr val="E3ED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877824" y="4791456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精度の要は「マスタ突合」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77824" y="5102352"/>
            <a:ext cx="4782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文字認識の誤りを、御社の品番マスタとの照合で機械的に補正します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90488" y="4681728"/>
            <a:ext cx="5404104" cy="969264"/>
          </a:xfrm>
          <a:prstGeom prst="roundRect">
            <a:avLst>
              <a:gd name="adj" fmla="val 3774"/>
            </a:avLst>
          </a:prstGeom>
          <a:solidFill>
            <a:srgbClr val="E3EDE7"/>
          </a:solidFill>
          <a:ln w="12700">
            <a:solidFill>
              <a:srgbClr val="E3ED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6501384" y="4791456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人の確認は必ず残します</a:t>
            </a:r>
            <a:endParaRPr lang="en-US" sz="1350" dirty="0"/>
          </a:p>
        </p:txBody>
      </p:sp>
      <p:sp>
        <p:nvSpPr>
          <p:cNvPr id="46" name="Text 44"/>
          <p:cNvSpPr txBox="1"/>
          <p:nvPr/>
        </p:nvSpPr>
        <p:spPr>
          <a:xfrm>
            <a:off x="6501384" y="5102352"/>
            <a:ext cx="4782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完全自動化はお約束しません。確認工程を残すことが前提の設計です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1137392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精度の要は、OCRではなく「品番マスタ突合」です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本日いちばんお伝えしたい点です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27664" cy="2286000"/>
          </a:xfrm>
          <a:prstGeom prst="roundRect">
            <a:avLst>
              <a:gd name="adj" fmla="val 16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24128" y="18470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OCRの読み取り結果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24128" y="2231136"/>
            <a:ext cx="29260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C064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223113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7A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AP-1</a:t>
            </a:r>
            <a:pPr algn="ctr" indent="0" marL="0">
              <a:buNone/>
            </a:pPr>
            <a:r>
              <a:rPr lang="en-US" sz="2600" b="1" u="sng" dirty="0">
                <a:solidFill>
                  <a:srgbClr val="B42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ctr" indent="0" marL="0">
              <a:buNone/>
            </a:pPr>
            <a:r>
              <a:rPr lang="en-US" sz="2600" b="1" dirty="0">
                <a:solidFill>
                  <a:srgbClr val="6E7A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-25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30540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英字の「O（オー）」と読んでしまった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 rot="5400000">
            <a:off x="4114800" y="2487168"/>
            <a:ext cx="182880" cy="256032"/>
          </a:xfrm>
          <a:prstGeom prst="triangle">
            <a:avLst/>
          </a:prstGeom>
          <a:solidFill>
            <a:srgbClr val="8E9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18470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品番マスタと照合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44568" y="2231136"/>
            <a:ext cx="29260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9A6B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44568" y="223113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6B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該当なし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407408" y="30540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この品番はマスタに存在しない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rot="5400000">
            <a:off x="7635240" y="2487168"/>
            <a:ext cx="182880" cy="256032"/>
          </a:xfrm>
          <a:prstGeom prst="triangle">
            <a:avLst/>
          </a:prstGeom>
          <a:solidFill>
            <a:srgbClr val="8E9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65008" y="18470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自動補正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65008" y="2231136"/>
            <a:ext cx="29260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65008" y="223113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7A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AP-1</a:t>
            </a:r>
            <a:pPr algn="ctr" indent="0" marL="0">
              <a:buNone/>
            </a:pPr>
            <a:r>
              <a:rPr lang="en-US" sz="2600" b="1" u="sng" dirty="0">
                <a:solidFill>
                  <a:srgbClr val="2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ctr" indent="0" marL="0">
              <a:buNone/>
            </a:pPr>
            <a:r>
              <a:rPr lang="en-US" sz="2600" b="1" dirty="0">
                <a:solidFill>
                  <a:srgbClr val="6E7A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927848" y="30540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数字の「0（ゼロ）」へ補正　確信度98%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114800"/>
            <a:ext cx="5669280" cy="1572768"/>
          </a:xfrm>
          <a:prstGeom prst="roundRect">
            <a:avLst>
              <a:gd name="adj" fmla="val 2326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32688" y="4279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御社には「正解リスト」があります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46634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6D0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サンエス標準ばね 約1,717種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6D0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圧縮919 ／ 引張424 ／ フリーサイズ104 ／ ねじり270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55664" y="4114800"/>
            <a:ext cx="5138928" cy="1572768"/>
          </a:xfrm>
          <a:prstGeom prst="roundRect">
            <a:avLst>
              <a:gd name="adj" fmla="val 2326"/>
            </a:avLst>
          </a:prstGeom>
          <a:solidFill>
            <a:srgbClr val="F7E9DF"/>
          </a:solidFill>
          <a:ln w="12700">
            <a:solidFill>
              <a:srgbClr val="F7E9D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21424" y="4279392"/>
            <a:ext cx="4407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読み取り精度を上げるより、存在しない品番を機械的に弾くほうが確実です。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821424" y="4882896"/>
            <a:ext cx="4407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得意先ごとの呼称（先方品番）も、読替表を整備すれば同じ仕組みで吸収できます。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137392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標準品と特注品は、入口で分けます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すべてを自動化するご提案はいたしません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76672" cy="2706624"/>
          </a:xfrm>
          <a:prstGeom prst="roundRect">
            <a:avLst>
              <a:gd name="adj" fmla="val 1351"/>
            </a:avLst>
          </a:prstGeom>
          <a:solidFill>
            <a:srgbClr val="E3EDE7"/>
          </a:solidFill>
          <a:ln w="12700">
            <a:solidFill>
              <a:srgbClr val="E3ED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50976" y="1828800"/>
            <a:ext cx="4608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標準品（サンエス）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50976" y="224942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型番指定・リピート・在庫品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50976" y="2770632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2F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25296" y="2688336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判断の要素が少ない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50976" y="32461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2F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25296" y="3163824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自動化の適性が高い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50976" y="372160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2F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25296" y="3639312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自動起票の対象とする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376672" cy="2706624"/>
          </a:xfrm>
          <a:prstGeom prst="roundRect">
            <a:avLst>
              <a:gd name="adj" fmla="val 1351"/>
            </a:avLst>
          </a:prstGeom>
          <a:solidFill>
            <a:srgbClr val="F7EDD8"/>
          </a:solidFill>
          <a:ln w="12700">
            <a:solidFill>
              <a:srgbClr val="F7EDD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01968" y="1828800"/>
            <a:ext cx="4608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特注品（図面・異形線ばね等）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224942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図面ベース・仕様確認が必要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01968" y="2770632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9A6B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76288" y="2688336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技術的な判断が必須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01968" y="3246120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9A6B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76288" y="3163824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自動化すべきでない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01968" y="372160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9A6B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76288" y="3639312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見積依頼として技術ご担当へ振り分け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4535424"/>
            <a:ext cx="11027664" cy="1188720"/>
          </a:xfrm>
          <a:prstGeom prst="roundRect">
            <a:avLst>
              <a:gd name="adj" fmla="val 307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50976" y="4681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特注品を無理に自動化しません。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50976" y="5065776"/>
            <a:ext cx="1025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0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むしろ「特注品を技術ご担当者へ確実に、早く渡す」ことに価値があります。振り分けの自動化だけでも、見積回答のリードタイムは短縮できます。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137392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属人化は、工数削減とは別に必ず解きます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課題C への打ち手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5404104" cy="1152144"/>
          </a:xfrm>
          <a:prstGeom prst="roundRect">
            <a:avLst>
              <a:gd name="adj" fmla="val 3175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288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28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92224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判断ルールを外に出す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39696"/>
            <a:ext cx="4306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「この得意先のこの表記はこの品番」という頭の中のルールを、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誰でも見て直せるマスタとしてシステム上に置きます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0488" y="1609344"/>
            <a:ext cx="5404104" cy="1152144"/>
          </a:xfrm>
          <a:prstGeom prst="roundRect">
            <a:avLst>
              <a:gd name="adj" fmla="val 3175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18288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480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28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792224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処理履歴をすべて記録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139696"/>
            <a:ext cx="4306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誰が・いつ・何を修正したかを全件記録。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「なぜこう入力したか」を後から追えるようにします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926080"/>
            <a:ext cx="5404104" cy="1152144"/>
          </a:xfrm>
          <a:prstGeom prst="roundRect">
            <a:avLst>
              <a:gd name="adj" fmla="val 3175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1455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28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10896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進捗を一覧で見える化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456432"/>
            <a:ext cx="4306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未処理／確認待ち／起票済を一覧化。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担当者に聞かなくても状況が分かる状態にします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0488" y="2926080"/>
            <a:ext cx="5404104" cy="1152144"/>
          </a:xfrm>
          <a:prstGeom prst="roundRect">
            <a:avLst>
              <a:gd name="adj" fmla="val 3175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31455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64808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28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10896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修正パターンを蓄積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456432"/>
            <a:ext cx="4306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人がAIの結果を直した内容を蓄積し、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繰り返す修正は自動補正のルールへ昇格させます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315968"/>
            <a:ext cx="11027664" cy="1170432"/>
          </a:xfrm>
          <a:prstGeom prst="roundRect">
            <a:avLst>
              <a:gd name="adj" fmla="val 3125"/>
            </a:avLst>
          </a:prstGeom>
          <a:solidFill>
            <a:srgbClr val="E3EDE7"/>
          </a:solidFill>
          <a:ln w="12700">
            <a:solidFill>
              <a:srgbClr val="E3ED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50976" y="44439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結果として得られるもの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" y="4791456"/>
            <a:ext cx="1025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ご担当者が不在でも、他の方が画面を見れば処理を継続できます。引き継ぎ資料ではなく、システムそのものが手順書になります。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1137392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段階的に導入します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一度に全部は作りません。効果が出やすい範囲から始めます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3566160" cy="2395728"/>
          </a:xfrm>
          <a:prstGeom prst="roundRect">
            <a:avLst>
              <a:gd name="adj" fmla="val 1527"/>
            </a:avLst>
          </a:prstGeom>
          <a:solidFill>
            <a:srgbClr val="F7E9DF"/>
          </a:solidFill>
          <a:ln w="12700">
            <a:solidFill>
              <a:srgbClr val="F7E9D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79222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64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17627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2.5〜3.5ヶ月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560320"/>
            <a:ext cx="2944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メール添付＋標準品の自動起票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200400"/>
            <a:ext cx="2944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対象：全体の約35%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完了判定：対象内の自動確定率60%以上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609344"/>
            <a:ext cx="3566160" cy="2395728"/>
          </a:xfrm>
          <a:prstGeom prst="roundRect">
            <a:avLst>
              <a:gd name="adj" fmla="val 152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08576" y="179222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34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17627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2.5〜3.5ヶ月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560320"/>
            <a:ext cx="2944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FAX・非定型帳票・手書きへ拡張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3200400"/>
            <a:ext cx="2944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対象：全体の約80%へ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完了判定：全体の自動確定率70%以上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28432" y="1609344"/>
            <a:ext cx="3566160" cy="2395728"/>
          </a:xfrm>
          <a:prstGeom prst="roundRect">
            <a:avLst>
              <a:gd name="adj" fmla="val 152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39328" y="179222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3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217627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別途ご相談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2560320"/>
            <a:ext cx="2944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見積フロー・可視化・他業務へ展開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3200400"/>
            <a:ext cx="2944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特注品の見積フロー整備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納期回答の半自動化、仕入・請求への展開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187952"/>
            <a:ext cx="11027664" cy="1463040"/>
          </a:xfrm>
          <a:prstGeom prst="roundRect">
            <a:avLst>
              <a:gd name="adj" fmla="val 2500"/>
            </a:avLst>
          </a:prstGeom>
          <a:solidFill>
            <a:srgbClr val="F7EDD8"/>
          </a:solidFill>
          <a:ln w="12700">
            <a:solidFill>
              <a:srgbClr val="F7EDD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50976" y="4334256"/>
            <a:ext cx="1025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正直に申し上げます　—　Phase 1 で最も大変なのは、御社側の作業です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950976" y="4718304"/>
            <a:ext cx="10259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過去の注文書サンプル30〜50件のご提供／品目・得意先マスタのCSV出力／基幹システムの仕様確認／週1回1時間の打合せ／そして運用テスト期間2週間の並行稼働。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ここを軽く見積もると導入は失敗します。繁忙期を避けた日程をご相談させてください。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137392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効果と投資回収　—　都合の悪い数字も含めて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17904"/>
          <a:ext cx="11027664" cy="914400"/>
        </p:xfrm>
        <a:graphic>
          <a:graphicData uri="http://schemas.openxmlformats.org/drawingml/2006/table">
            <a:tbl>
              <a:tblPr/>
              <a:tblGrid>
                <a:gridCol w="3418576"/>
                <a:gridCol w="2536363"/>
                <a:gridCol w="2536363"/>
                <a:gridCol w="2536363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Phase1 のみ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Phase1＋2（保守的）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Phase1＋2（期待値）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累計初期費用（中央値）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125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年間ランニング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年間削減額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59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83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151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年間の純削減額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41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109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回収期間（補助金なし）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6B1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4.3 年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3301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7.3 年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6B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2.8 年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回収期間（補助金1/2適用時）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6B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2.2 年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6B1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3.7 年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6B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 年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66928" y="4443984"/>
            <a:ext cx="11027664" cy="1371600"/>
          </a:xfrm>
          <a:prstGeom prst="roundRect">
            <a:avLst>
              <a:gd name="adj" fmla="val 2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950976" y="4572000"/>
            <a:ext cx="1025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工数削減だけを見れば、補助金なしの投資回収は決して速くありません。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950976" y="4956048"/>
            <a:ext cx="10259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0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「3年で回収できます」と申し上げることはできません。そのうえで、① 補助金の活用で回収期間はおよそ半分になること、② 属人化の解消は工数削減とは別の価値であること、③ 受注が増えたとき人を増やさずに対応できること　を合わせてご判断ください。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29107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前提：月450件、現状1件10分、人件費単価2,750円/時。数値はヒアリング結果により変動します。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37392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概算費用と、活用できる可能性のある補助金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確認事項の確定により変動します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64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概算費用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3664"/>
          <a:ext cx="5394960" cy="914400"/>
        </p:xfrm>
        <a:graphic>
          <a:graphicData uri="http://schemas.openxmlformats.org/drawingml/2006/table">
            <a:tbl>
              <a:tblPr/>
              <a:tblGrid>
                <a:gridCol w="1510589"/>
                <a:gridCol w="2050085"/>
                <a:gridCol w="1834286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初期費用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月額費用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 1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90〜160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2.0〜3.0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 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130〜220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＋1.0〜1.5 万円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 3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別途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別途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360273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変動要因：基幹システムの連携方式（CSV ≦ API &lt; RPA の順に工数増）／取引先別フォーマットの種類数／マスタ整備の要否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272784" y="1517904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64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活用できる可能性のある補助金</a:t>
            </a:r>
            <a:endParaRPr lang="en-US" sz="14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2784" y="1883664"/>
          <a:ext cx="5321808" cy="914400"/>
        </p:xfrm>
        <a:graphic>
          <a:graphicData uri="http://schemas.openxmlformats.org/drawingml/2006/table">
            <a:tbl>
              <a:tblPr/>
              <a:tblGrid>
                <a:gridCol w="2235159"/>
                <a:gridCol w="1490106"/>
                <a:gridCol w="159654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制度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該当性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補助率の目安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IT導入補助金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最有力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1/2〜2/3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省力化投資補助金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可能性あり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1/2 程度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ものづくり補助金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枠により可能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1/2〜2/3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大阪府・松原市の制度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D485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制度による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272784" y="3968496"/>
            <a:ext cx="5321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上記は対象となる可能性を示すもので、採択を保証するものではありません。制度は年度ごとに要件が変わるため、申請前に最新の公募要領での確認が必須です。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66928" y="4370832"/>
            <a:ext cx="11027664" cy="1133856"/>
          </a:xfrm>
          <a:prstGeom prst="roundRect">
            <a:avLst>
              <a:gd name="adj" fmla="val 3226"/>
            </a:avLst>
          </a:prstGeom>
          <a:solidFill>
            <a:srgbClr val="E3EDE7"/>
          </a:solidFill>
          <a:ln w="12700">
            <a:solidFill>
              <a:srgbClr val="E3ED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50976" y="44988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弊社の支援範囲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950976" y="4828032"/>
            <a:ext cx="1025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申請書に添付する見積書・システム構成図・効果算定資料の作成をお手伝いします。申請書本体の作成代行は、制度上の制約により行いません。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1137392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想定されるリスク　—　隠さず申し上げます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463040"/>
            <a:ext cx="11027664" cy="694944"/>
          </a:xfrm>
          <a:prstGeom prst="roundRect">
            <a:avLst>
              <a:gd name="adj" fmla="val 526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77824" y="146304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想定した精度が出ない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146304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FAX画質が極端に悪い／手書きが多い／フォーマットが想定以上に多様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101584" y="1463040"/>
            <a:ext cx="3182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B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契約前にサンプルで検証し、実測値を確認してから判断します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249424"/>
            <a:ext cx="11027664" cy="694944"/>
          </a:xfrm>
          <a:prstGeom prst="roundRect">
            <a:avLst>
              <a:gd name="adj" fmla="val 526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77824" y="2249424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基幹システムに連携口がない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249424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CSV取込・APIともに非対応の場合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101584" y="2249424"/>
            <a:ext cx="3182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B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RPAで代替。ただし保守性が下がるため事前確認が最重要です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035808"/>
            <a:ext cx="11027664" cy="694944"/>
          </a:xfrm>
          <a:prstGeom prst="roundRect">
            <a:avLst>
              <a:gd name="adj" fmla="val 526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77824" y="3035808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並行稼働期間の負荷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303580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繁忙期と重なった場合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101584" y="3035808"/>
            <a:ext cx="3182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B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繁忙期を避けた日程設定。閑散期をお聞かせください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822192"/>
            <a:ext cx="11027664" cy="694944"/>
          </a:xfrm>
          <a:prstGeom prst="roundRect">
            <a:avLst>
              <a:gd name="adj" fmla="val 526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77824" y="3822192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現場で使われない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382219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確認画面が使いにくく、手入力のほうが速い状態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101584" y="3822192"/>
            <a:ext cx="3182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B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実際に入力される方に、設計段階から画面を見ていただきます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608576"/>
            <a:ext cx="11027664" cy="694944"/>
          </a:xfrm>
          <a:prstGeom prst="roundRect">
            <a:avLst>
              <a:gd name="adj" fmla="val 526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77824" y="4608576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マスタが整備されていない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4608576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品目マスタに表記ゆれ・重複がある場合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101584" y="4608576"/>
            <a:ext cx="3182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B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初期にマスタ状態を調査。整備工数が別途必要になる可能性があります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11521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発生条件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01584" y="1152144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弊社の対策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5541264"/>
            <a:ext cx="11027664" cy="658368"/>
          </a:xfrm>
          <a:prstGeom prst="roundRect">
            <a:avLst>
              <a:gd name="adj" fmla="val 5556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50976" y="5541264"/>
            <a:ext cx="10259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サンプル検証で精度が出なければ、その旨を正直にご報告し、ご提案を取り下げます。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137392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3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5836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次のステップのご提案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9844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4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実際の注文書で、何％読めるかを先にお見せします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541776" cy="2011680"/>
          </a:xfrm>
          <a:prstGeom prst="roundRect">
            <a:avLst>
              <a:gd name="adj" fmla="val 1818"/>
            </a:avLst>
          </a:prstGeom>
          <a:solidFill>
            <a:srgbClr val="3A4552"/>
          </a:solidFill>
          <a:ln w="12700">
            <a:solidFill>
              <a:srgbClr val="4A56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2139696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C0642A"/>
          </a:solidFill>
          <a:ln w="12700">
            <a:solidFill>
              <a:srgbClr val="C064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139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64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670048"/>
            <a:ext cx="2919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サンプルのご提供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090672"/>
            <a:ext cx="2919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4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注文書 1〜2枚（10枚程度あれば理想）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4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得意先名・金額は黒塗りで構いません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9872" y="1920240"/>
            <a:ext cx="3541776" cy="2011680"/>
          </a:xfrm>
          <a:prstGeom prst="roundRect">
            <a:avLst>
              <a:gd name="adj" fmla="val 1818"/>
            </a:avLst>
          </a:prstGeom>
          <a:solidFill>
            <a:srgbClr val="3A4552"/>
          </a:solidFill>
          <a:ln w="12700">
            <a:solidFill>
              <a:srgbClr val="4A566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0768" y="2139696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C0642A"/>
          </a:solidFill>
          <a:ln w="12700">
            <a:solidFill>
              <a:srgbClr val="C064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0768" y="2139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64" dirty="0"/>
          </a:p>
        </p:txBody>
      </p:sp>
      <p:sp>
        <p:nvSpPr>
          <p:cNvPr id="12" name="Text 10"/>
          <p:cNvSpPr txBox="1"/>
          <p:nvPr/>
        </p:nvSpPr>
        <p:spPr>
          <a:xfrm>
            <a:off x="4620768" y="2670048"/>
            <a:ext cx="2919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読み取り精度の検証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20768" y="3090672"/>
            <a:ext cx="2919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4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項目別の精度／マスタ突合による補正効果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4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自動化可能率の実測見込み／技術的な課題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52816" y="1920240"/>
            <a:ext cx="3541776" cy="2011680"/>
          </a:xfrm>
          <a:prstGeom prst="roundRect">
            <a:avLst>
              <a:gd name="adj" fmla="val 1818"/>
            </a:avLst>
          </a:prstGeom>
          <a:solidFill>
            <a:srgbClr val="3A4552"/>
          </a:solidFill>
          <a:ln w="12700">
            <a:solidFill>
              <a:srgbClr val="4A566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3712" y="2139696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C0642A"/>
          </a:solidFill>
          <a:ln w="12700">
            <a:solidFill>
              <a:srgbClr val="C064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3712" y="2139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64" dirty="0"/>
          </a:p>
        </p:txBody>
      </p:sp>
      <p:sp>
        <p:nvSpPr>
          <p:cNvPr id="17" name="Text 15"/>
          <p:cNvSpPr txBox="1"/>
          <p:nvPr/>
        </p:nvSpPr>
        <p:spPr>
          <a:xfrm>
            <a:off x="8363712" y="2670048"/>
            <a:ext cx="2919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結果のご報告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63712" y="3090672"/>
            <a:ext cx="2919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4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3営業日以内　・　費用は無償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4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検証後にデータは削除。AIの学習には使用しません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224528"/>
            <a:ext cx="11027664" cy="1060704"/>
          </a:xfrm>
          <a:prstGeom prst="roundRect">
            <a:avLst>
              <a:gd name="adj" fmla="val 3448"/>
            </a:avLst>
          </a:prstGeom>
          <a:solidFill>
            <a:srgbClr val="C064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0976" y="4352544"/>
            <a:ext cx="10259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読み取り精度は、帳票の実物を拝見しないと分かりません。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50976" y="4718304"/>
            <a:ext cx="10259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EB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「高精度です」と申し上げるより、御社の実際の注文書で何％読めたかをお見せするほうが、判断材料として確実だと考えています。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94360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9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株式会社スペリオル　／　受付番号 20260826-091859-64F2027B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本日お伺いしたいこと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分かる範囲で結構です。お答えいただける範囲でお聞かせください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53968" cy="2048256"/>
          </a:xfrm>
          <a:prstGeom prst="roundRect">
            <a:avLst>
              <a:gd name="adj" fmla="val 1786"/>
            </a:avLst>
          </a:prstGeom>
          <a:solidFill>
            <a:srgbClr val="F7E9DF"/>
          </a:solidFill>
          <a:ln w="12700">
            <a:solidFill>
              <a:srgbClr val="F7E9D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59536" y="1737360"/>
            <a:ext cx="2968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64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基幹システム（最重要）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139696"/>
            <a:ext cx="29687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製品名・ベンダー名・導入時期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受注データのCSV取込機能の有無と仕様書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API連携／DB直接アクセスの可否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保守ベンダーとの契約上の制約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03776" y="1572768"/>
            <a:ext cx="3553968" cy="2048256"/>
          </a:xfrm>
          <a:prstGeom prst="roundRect">
            <a:avLst>
              <a:gd name="adj" fmla="val 178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96384" y="1737360"/>
            <a:ext cx="2968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B. 業務の実態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96384" y="2139696"/>
            <a:ext cx="29687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標準品と特注品の比率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FAX と メール の比率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1件あたりの実際の処理時間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1件の注文に入る明細行数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繁忙期・閑散期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0624" y="1572768"/>
            <a:ext cx="3553968" cy="2048256"/>
          </a:xfrm>
          <a:prstGeom prst="roundRect">
            <a:avLst>
              <a:gd name="adj" fmla="val 178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33232" y="1737360"/>
            <a:ext cx="2968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C. 帳票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333232" y="2139696"/>
            <a:ext cx="29687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上位10社の注文書は何パターンか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サンプル現物のご提供可否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手書きが含まれる割合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785616"/>
            <a:ext cx="3553968" cy="1719072"/>
          </a:xfrm>
          <a:prstGeom prst="roundRect">
            <a:avLst>
              <a:gd name="adj" fmla="val 2128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59536" y="3950208"/>
            <a:ext cx="2968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D. 体制と実害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4352544"/>
            <a:ext cx="29687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受注入力の担当者数・専任/兼務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担当者不在時の現在の対応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直近1年の入力ミスによる実害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03776" y="3785616"/>
            <a:ext cx="3553968" cy="1719072"/>
          </a:xfrm>
          <a:prstGeom prst="roundRect">
            <a:avLst>
              <a:gd name="adj" fmla="val 2128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96384" y="3950208"/>
            <a:ext cx="2968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E. マスタ・環境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96384" y="4352544"/>
            <a:ext cx="29687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得意先／品目マスタのCSV出力可否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得意先別の品番読替表の有無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クラウド利用に関する社内規程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0624" y="3785616"/>
            <a:ext cx="3553968" cy="1719072"/>
          </a:xfrm>
          <a:prstGeom prst="roundRect">
            <a:avLst>
              <a:gd name="adj" fmla="val 2128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4AE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33232" y="3950208"/>
            <a:ext cx="2968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A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F. 意思決定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333232" y="4352544"/>
            <a:ext cx="29687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ご予算の目安と決裁プロセス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着手のご希望時期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85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補助金申請のご意向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137392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2026-08-26T06:41:29Z</dcterms:created>
  <dcterms:modified xsi:type="dcterms:W3CDTF">2026-08-26T06:41:29Z</dcterms:modified>
</cp:coreProperties>
</file>